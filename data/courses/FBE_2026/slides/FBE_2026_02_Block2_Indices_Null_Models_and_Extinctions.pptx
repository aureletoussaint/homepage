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5D"/>
                </a:solidFill>
                <a:latin typeface="Arial"/>
              </a:defRPr>
            </a:pPr>
            <a:r>
              <a:rPr sz="1200" b="0" i="0" u="none" strike="noStrike">
                <a:solidFill>
                  <a:srgbClr val="0B3C5D"/>
                </a:solidFill>
                <a:latin typeface="Arial"/>
              </a:rPr>
              <a:t>FRic vs species richness (illustrative)</a:t>
            </a:r>
          </a:p>
        </c:rich>
      </c:tx>
      <c:layout/>
      <c:overlay val="0"/>
    </c:title>
    <c:autoTitleDeleted val="0"/>
    <c:plotArea>
      <c:layout/>
      <c:scatterChart>
        <c:scatterStyle val="lineMarker"/>
        <c:varyColors val="0"/>
        <c:ser>
          <c:idx val="0"/>
          <c:order val="0"/>
          <c:tx>
            <c:strRef>
              <c:f>Sheet1!$B$1</c:f>
              <c:strCache>
                <c:ptCount val="1"/>
                <c:pt idx="0">
                  <c:v>FRic</c:v>
                </c:pt>
              </c:strCache>
            </c:strRef>
          </c:tx>
          <c:spPr>
            <a:solidFill>
              <a:srgbClr val="D9822B"/>
            </a:solidFill>
            <a:ln>
              <a:noFill/>
            </a:ln>
            <a:effectLst/>
          </c:spPr>
          <c:marker>
            <c:symbol val="circle"/>
            <c:size val="9"/>
            <c:spPr>
              <a:solidFill>
                <a:srgbClr val="D9822B"/>
              </a:solidFill>
              <a:ln w="9525" cap="flat">
                <a:solidFill>
                  <a:srgbClr val="D9822B"/>
                </a:solidFill>
                <a:prstDash val="solid"/>
                <a:round/>
              </a:ln>
              <a:effectLst/>
            </c:spPr>
          </c:marker>
          <c:xVal>
            <c:numRef>
              <c:f>Sheet1!$A$2:$A$17</c:f>
              <c:numCache>
                <c:formatCode>General</c:formatCode>
                <c:ptCount val="16"/>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numCache>
            </c:numRef>
          </c:xVal>
          <c:yVal>
            <c:numRef>
              <c:f>Sheet1!$B$2:$B$17</c:f>
              <c:numCache>
                <c:formatCode>General</c:formatCode>
                <c:ptCount val="16"/>
                <c:pt idx="0">
                  <c:v>0.258</c:v>
                </c:pt>
                <c:pt idx="1">
                  <c:v>0.266</c:v>
                </c:pt>
                <c:pt idx="2">
                  <c:v>0.311</c:v>
                </c:pt>
                <c:pt idx="3">
                  <c:v>0.303</c:v>
                </c:pt>
                <c:pt idx="4">
                  <c:v>0.29</c:v>
                </c:pt>
                <c:pt idx="5">
                  <c:v>0.371</c:v>
                </c:pt>
                <c:pt idx="6">
                  <c:v>0.34</c:v>
                </c:pt>
                <c:pt idx="7">
                  <c:v>0.344</c:v>
                </c:pt>
                <c:pt idx="8">
                  <c:v>0.393</c:v>
                </c:pt>
                <c:pt idx="9">
                  <c:v>0.404</c:v>
                </c:pt>
                <c:pt idx="10">
                  <c:v>0.463</c:v>
                </c:pt>
                <c:pt idx="11">
                  <c:v>0.49</c:v>
                </c:pt>
                <c:pt idx="12">
                  <c:v>0.448</c:v>
                </c:pt>
                <c:pt idx="13">
                  <c:v>0.519</c:v>
                </c:pt>
                <c:pt idx="14">
                  <c:v>0.536</c:v>
                </c:pt>
                <c:pt idx="15">
                  <c:v>0.505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b="0" i="0" u="none" strike="noStrike">
                    <a:solidFill>
                      <a:srgbClr val="6B6B6B"/>
                    </a:solidFill>
                    <a:latin typeface="Arial"/>
                  </a:defRPr>
                </a:pPr>
                <a:r>
                  <a:rPr b="0" i="0" u="none" strike="noStrike">
                    <a:solidFill>
                      <a:srgbClr val="6B6B6B"/>
                    </a:solidFill>
                    <a:latin typeface="Arial"/>
                  </a:rPr>
                  <a:t>Species richness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b="0" i="0" u="none" strike="noStrike">
                    <a:solidFill>
                      <a:srgbClr val="6B6B6B"/>
                    </a:solidFill>
                    <a:latin typeface="Arial"/>
                  </a:defRPr>
                </a:pPr>
                <a:r>
                  <a:rPr b="0" i="0" u="none" strike="noStrike">
                    <a:solidFill>
                      <a:srgbClr val="6B6B6B"/>
                    </a:solidFill>
                    <a:latin typeface="Arial"/>
                  </a:rPr>
                  <a:t>FRic</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5D"/>
                </a:solidFill>
                <a:latin typeface="Arial"/>
              </a:defRPr>
            </a:pPr>
            <a:r>
              <a:rPr sz="1200" b="0" i="0" u="none" strike="noStrike">
                <a:solidFill>
                  <a:srgbClr val="0B3C5D"/>
                </a:solidFill>
                <a:latin typeface="Arial"/>
              </a:rPr>
              <a:t>FDis vs species richness (illustrative)</a:t>
            </a:r>
          </a:p>
        </c:rich>
      </c:tx>
      <c:layout/>
      <c:overlay val="0"/>
    </c:title>
    <c:autoTitleDeleted val="0"/>
    <c:plotArea>
      <c:layout/>
      <c:scatterChart>
        <c:scatterStyle val="lineMarker"/>
        <c:varyColors val="0"/>
        <c:ser>
          <c:idx val="0"/>
          <c:order val="0"/>
          <c:tx>
            <c:strRef>
              <c:f>Sheet1!$B$1</c:f>
              <c:strCache>
                <c:ptCount val="1"/>
                <c:pt idx="0">
                  <c:v>FDis</c:v>
                </c:pt>
              </c:strCache>
            </c:strRef>
          </c:tx>
          <c:spPr>
            <a:solidFill>
              <a:srgbClr val="1D6F9E"/>
            </a:solidFill>
            <a:ln>
              <a:noFill/>
            </a:ln>
            <a:effectLst/>
          </c:spPr>
          <c:marker>
            <c:symbol val="circle"/>
            <c:size val="9"/>
            <c:spPr>
              <a:solidFill>
                <a:srgbClr val="1D6F9E"/>
              </a:solidFill>
              <a:ln w="9525" cap="flat">
                <a:solidFill>
                  <a:srgbClr val="1D6F9E"/>
                </a:solidFill>
                <a:prstDash val="solid"/>
                <a:round/>
              </a:ln>
              <a:effectLst/>
            </c:spPr>
          </c:marker>
          <c:xVal>
            <c:numRef>
              <c:f>Sheet1!$A$2:$A$17</c:f>
              <c:numCache>
                <c:formatCode>General</c:formatCode>
                <c:ptCount val="16"/>
                <c:pt idx="0">
                  <c:v>10</c:v>
                </c:pt>
                <c:pt idx="1">
                  <c:v>11</c:v>
                </c:pt>
                <c:pt idx="2">
                  <c:v>12</c:v>
                </c:pt>
                <c:pt idx="3">
                  <c:v>13</c:v>
                </c:pt>
                <c:pt idx="4">
                  <c:v>14</c:v>
                </c:pt>
                <c:pt idx="5">
                  <c:v>15</c:v>
                </c:pt>
                <c:pt idx="6">
                  <c:v>16</c:v>
                </c:pt>
                <c:pt idx="7">
                  <c:v>17</c:v>
                </c:pt>
                <c:pt idx="8">
                  <c:v>18</c:v>
                </c:pt>
                <c:pt idx="9">
                  <c:v>19</c:v>
                </c:pt>
                <c:pt idx="10">
                  <c:v>20</c:v>
                </c:pt>
                <c:pt idx="11">
                  <c:v>21</c:v>
                </c:pt>
                <c:pt idx="12">
                  <c:v>22</c:v>
                </c:pt>
                <c:pt idx="13">
                  <c:v>23</c:v>
                </c:pt>
                <c:pt idx="14">
                  <c:v>24</c:v>
                </c:pt>
                <c:pt idx="15">
                  <c:v>25</c:v>
                </c:pt>
              </c:numCache>
            </c:numRef>
          </c:xVal>
          <c:yVal>
            <c:numRef>
              <c:f>Sheet1!$B$2:$B$17</c:f>
              <c:numCache>
                <c:formatCode>General</c:formatCode>
                <c:ptCount val="16"/>
                <c:pt idx="0">
                  <c:v>0.286</c:v>
                </c:pt>
                <c:pt idx="1">
                  <c:v>0.284</c:v>
                </c:pt>
                <c:pt idx="2">
                  <c:v>0.308</c:v>
                </c:pt>
                <c:pt idx="3">
                  <c:v>0.338</c:v>
                </c:pt>
                <c:pt idx="4">
                  <c:v>0.267</c:v>
                </c:pt>
                <c:pt idx="5">
                  <c:v>0.272</c:v>
                </c:pt>
                <c:pt idx="6">
                  <c:v>0.267</c:v>
                </c:pt>
                <c:pt idx="7">
                  <c:v>0.299</c:v>
                </c:pt>
                <c:pt idx="8">
                  <c:v>0.268</c:v>
                </c:pt>
                <c:pt idx="9">
                  <c:v>0.267</c:v>
                </c:pt>
                <c:pt idx="10">
                  <c:v>0.333</c:v>
                </c:pt>
                <c:pt idx="11">
                  <c:v>0.331</c:v>
                </c:pt>
                <c:pt idx="12">
                  <c:v>0.291</c:v>
                </c:pt>
                <c:pt idx="13">
                  <c:v>0.323</c:v>
                </c:pt>
                <c:pt idx="14">
                  <c:v>0.334</c:v>
                </c:pt>
                <c:pt idx="15">
                  <c:v>0.293</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title>
          <c:tx>
            <c:rich>
              <a:bodyPr/>
              <a:lstStyle/>
              <a:p>
                <a:pPr>
                  <a:defRPr b="0" i="0" u="none" strike="noStrike">
                    <a:solidFill>
                      <a:srgbClr val="6B6B6B"/>
                    </a:solidFill>
                    <a:latin typeface="Arial"/>
                  </a:defRPr>
                </a:pPr>
                <a:r>
                  <a:rPr b="0" i="0" u="none" strike="noStrike">
                    <a:solidFill>
                      <a:srgbClr val="6B6B6B"/>
                    </a:solidFill>
                    <a:latin typeface="Arial"/>
                  </a:rPr>
                  <a:t>Species richness 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0.5"/>
          <c:min val="0"/>
        </c:scaling>
        <c:delete val="0"/>
        <c:axPos val="l"/>
        <c:majorGridlines>
          <c:spPr>
            <a:ln w="6350" cap="flat">
              <a:solidFill>
                <a:srgbClr val="E5E7EB"/>
              </a:solidFill>
              <a:prstDash val="solid"/>
              <a:round/>
            </a:ln>
          </c:spPr>
        </c:majorGridlines>
        <c:title>
          <c:tx>
            <c:rich>
              <a:bodyPr/>
              <a:lstStyle/>
              <a:p>
                <a:pPr>
                  <a:defRPr b="0" i="0" u="none" strike="noStrike">
                    <a:solidFill>
                      <a:srgbClr val="6B6B6B"/>
                    </a:solidFill>
                    <a:latin typeface="Arial"/>
                  </a:defRPr>
                </a:pPr>
                <a:r>
                  <a:rPr b="0" i="0" u="none" strike="noStrike">
                    <a:solidFill>
                      <a:srgbClr val="6B6B6B"/>
                    </a:solidFill>
                    <a:latin typeface="Arial"/>
                  </a:rPr>
                  <a:t>FDis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5D"/>
                </a:solidFill>
                <a:latin typeface="Arial"/>
              </a:defRPr>
            </a:pPr>
            <a:r>
              <a:rPr sz="1200" b="0" i="0" u="none" strike="noStrike">
                <a:solidFill>
                  <a:srgbClr val="0B3C5D"/>
                </a:solidFill>
                <a:latin typeface="Arial"/>
              </a:rPr>
              <a:t>Null distribution of FRic for one site (illustrative)</a:t>
            </a:r>
          </a:p>
        </c:rich>
      </c:tx>
      <c:layout/>
      <c:overlay val="0"/>
    </c:title>
    <c:autoTitleDeleted val="0"/>
    <c:plotArea>
      <c:layout/>
      <c:barChart>
        <c:barDir val="col"/>
        <c:grouping val="clustered"/>
        <c:varyColors val="0"/>
        <c:ser>
          <c:idx val="0"/>
          <c:order val="0"/>
          <c:tx>
            <c:strRef>
              <c:f>Sheet1!$B$1</c:f>
              <c:strCache>
                <c:ptCount val="1"/>
                <c:pt idx="0">
                  <c:v>null values (199 permutations)</c:v>
                </c:pt>
              </c:strCache>
            </c:strRef>
          </c:tx>
          <c:spPr>
            <a:solidFill>
              <a:srgbClr val="B8C4C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0.20</c:v>
                  </c:pt>
                  <c:pt idx="1">
                    <c:v>0.24</c:v>
                  </c:pt>
                  <c:pt idx="2">
                    <c:v>0.28</c:v>
                  </c:pt>
                  <c:pt idx="3">
                    <c:v>0.32</c:v>
                  </c:pt>
                  <c:pt idx="4">
                    <c:v>0.36</c:v>
                  </c:pt>
                  <c:pt idx="5">
                    <c:v>0.40</c:v>
                  </c:pt>
                  <c:pt idx="6">
                    <c:v>0.44</c:v>
                  </c:pt>
                  <c:pt idx="7">
                    <c:v>0.48</c:v>
                  </c:pt>
                  <c:pt idx="8">
                    <c:v>0.52</c:v>
                  </c:pt>
                  <c:pt idx="9">
                    <c:v>0.56</c:v>
                  </c:pt>
                  <c:pt idx="10">
                    <c:v>0.60</c:v>
                  </c:pt>
                </c:lvl>
              </c:multiLvlStrCache>
            </c:multiLvlStrRef>
          </c:cat>
          <c:val>
            <c:numRef>
              <c:f>Sheet1!$B$2:$B$12</c:f>
              <c:numCache>
                <c:formatCode>General</c:formatCode>
                <c:ptCount val="11"/>
                <c:pt idx="0">
                  <c:v>1</c:v>
                </c:pt>
                <c:pt idx="1">
                  <c:v>4</c:v>
                </c:pt>
                <c:pt idx="2">
                  <c:v>12</c:v>
                </c:pt>
                <c:pt idx="3">
                  <c:v>28</c:v>
                </c:pt>
                <c:pt idx="4">
                  <c:v>45</c:v>
                </c:pt>
                <c:pt idx="5">
                  <c:v>50</c:v>
                </c:pt>
                <c:pt idx="6">
                  <c:v>32</c:v>
                </c:pt>
                <c:pt idx="7">
                  <c:v>16</c:v>
                </c:pt>
                <c:pt idx="8">
                  <c:v>7</c:v>
                </c:pt>
                <c:pt idx="9">
                  <c:v>3</c:v>
                </c:pt>
                <c:pt idx="10">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0"/>
        <c:overlap val="0"/>
        <c:axId val="2094734554"/>
        <c:axId val="2094734552"/>
        <c:axId val="2094734556"/>
      </c:barChart>
      <c:catAx>
        <c:axId val="2094734554"/>
        <c:scaling>
          <c:orientation val="minMax"/>
        </c:scaling>
        <c:delete val="0"/>
        <c:axPos val="b"/>
        <c:title>
          <c:tx>
            <c:rich>
              <a:bodyPr/>
              <a:lstStyle/>
              <a:p>
                <a:pPr>
                  <a:defRPr b="0" i="0" u="none" strike="noStrike">
                    <a:solidFill>
                      <a:srgbClr val="6B6B6B"/>
                    </a:solidFill>
                    <a:latin typeface="Arial"/>
                  </a:defRPr>
                </a:pPr>
                <a:r>
                  <a:rPr b="0" i="0" u="none" strike="noStrike">
                    <a:solidFill>
                      <a:srgbClr val="6B6B6B"/>
                    </a:solidFill>
                    <a:latin typeface="Arial"/>
                  </a:rPr>
                  <a:t>FRic under the null model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b="0" i="0" u="none" strike="noStrike">
                    <a:solidFill>
                      <a:srgbClr val="6B6B6B"/>
                    </a:solidFill>
                    <a:latin typeface="Arial"/>
                  </a:defRPr>
                </a:pPr>
                <a:r>
                  <a:rPr b="0" i="0" u="none" strike="noStrike">
                    <a:solidFill>
                      <a:srgbClr val="6B6B6B"/>
                    </a:solidFill>
                    <a:latin typeface="Arial"/>
                  </a:rPr>
                  <a:t>Count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3C5D"/>
                </a:solidFill>
                <a:latin typeface="Arial"/>
              </a:defRPr>
            </a:pPr>
            <a:r>
              <a:rPr sz="1200" b="0" i="0" u="none" strike="noStrike">
                <a:solidFill>
                  <a:srgbClr val="0B3C5D"/>
                </a:solidFill>
                <a:latin typeface="Arial"/>
              </a:rPr>
              <a:t>FRic remaining vs % species removed (illustrative)</a:t>
            </a:r>
          </a:p>
        </c:rich>
      </c:tx>
      <c:layout/>
      <c:overlay val="0"/>
    </c:title>
    <c:autoTitleDeleted val="0"/>
    <c:plotArea>
      <c:layout/>
      <c:lineChart>
        <c:varyColors val="0"/>
        <c:ser>
          <c:idx val="0"/>
          <c:order val="0"/>
          <c:tx>
            <c:strRef>
              <c:f>Sheet1!$B$1</c:f>
              <c:strCache>
                <c:ptCount val="1"/>
                <c:pt idx="0">
                  <c:v>random</c:v>
                </c:pt>
              </c:strCache>
            </c:strRef>
          </c:tx>
          <c:spPr>
            <a:solidFill>
              <a:srgbClr val="8A9BA8"/>
            </a:solidFill>
            <a:ln w="31750" cap="flat">
              <a:solidFill>
                <a:srgbClr val="8A9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BA8"/>
              </a:solidFill>
              <a:ln w="9525" cap="flat">
                <a:solidFill>
                  <a:srgbClr val="8A9BA8"/>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Sheet1!$B$2:$B$12</c:f>
              <c:numCache>
                <c:formatCode>General</c:formatCode>
                <c:ptCount val="11"/>
                <c:pt idx="0">
                  <c:v>1</c:v>
                </c:pt>
                <c:pt idx="1">
                  <c:v>0.97</c:v>
                </c:pt>
                <c:pt idx="2">
                  <c:v>0.94</c:v>
                </c:pt>
                <c:pt idx="3">
                  <c:v>0.9</c:v>
                </c:pt>
                <c:pt idx="4">
                  <c:v>0.85</c:v>
                </c:pt>
                <c:pt idx="5">
                  <c:v>0.79</c:v>
                </c:pt>
                <c:pt idx="6">
                  <c:v>0.72</c:v>
                </c:pt>
                <c:pt idx="7">
                  <c:v>0.62</c:v>
                </c:pt>
                <c:pt idx="8">
                  <c:v>0.5</c:v>
                </c:pt>
                <c:pt idx="9">
                  <c:v>0.32</c:v>
                </c:pt>
                <c:pt idx="10">
                  <c:v>0</c:v>
                </c:pt>
              </c:numCache>
            </c:numRef>
          </c:val>
          <c:smooth val="0"/>
        </c:ser>
        <c:ser>
          <c:idx val="1"/>
          <c:order val="1"/>
          <c:tx>
            <c:strRef>
              <c:f>Sheet1!$C$1</c:f>
              <c:strCache>
                <c:ptCount val="1"/>
                <c:pt idx="0">
                  <c:v>most threatened first</c:v>
                </c:pt>
              </c:strCache>
            </c:strRef>
          </c:tx>
          <c:spPr>
            <a:solidFill>
              <a:srgbClr val="B23A48"/>
            </a:solidFill>
            <a:ln w="31750" cap="flat">
              <a:solidFill>
                <a:srgbClr val="B23A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3A48"/>
              </a:solidFill>
              <a:ln w="9525" cap="flat">
                <a:solidFill>
                  <a:srgbClr val="B23A48"/>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Sheet1!$C$2:$C$12</c:f>
              <c:numCache>
                <c:formatCode>General</c:formatCode>
                <c:ptCount val="11"/>
                <c:pt idx="0">
                  <c:v>1</c:v>
                </c:pt>
                <c:pt idx="1">
                  <c:v>0.82</c:v>
                </c:pt>
                <c:pt idx="2">
                  <c:v>0.7</c:v>
                </c:pt>
                <c:pt idx="3">
                  <c:v>0.6</c:v>
                </c:pt>
                <c:pt idx="4">
                  <c:v>0.53</c:v>
                </c:pt>
                <c:pt idx="5">
                  <c:v>0.47</c:v>
                </c:pt>
                <c:pt idx="6">
                  <c:v>0.42</c:v>
                </c:pt>
                <c:pt idx="7">
                  <c:v>0.36</c:v>
                </c:pt>
                <c:pt idx="8">
                  <c:v>0.28</c:v>
                </c:pt>
                <c:pt idx="9">
                  <c:v>0.17</c:v>
                </c:pt>
                <c:pt idx="10">
                  <c:v>0</c:v>
                </c:pt>
              </c:numCache>
            </c:numRef>
          </c:val>
          <c:smooth val="0"/>
        </c:ser>
        <c:ser>
          <c:idx val="2"/>
          <c:order val="2"/>
          <c:tx>
            <c:strRef>
              <c:f>Sheet1!$D$1</c:f>
              <c:strCache>
                <c:ptCount val="1"/>
                <c:pt idx="0">
                  <c:v>least abundant first</c:v>
                </c:pt>
              </c:strCache>
            </c:strRef>
          </c:tx>
          <c:spPr>
            <a:solidFill>
              <a:srgbClr val="D9822B"/>
            </a:solidFill>
            <a:ln w="31750" cap="flat">
              <a:solidFill>
                <a:srgbClr val="D982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22B"/>
              </a:solidFill>
              <a:ln w="9525" cap="flat">
                <a:solidFill>
                  <a:srgbClr val="D9822B"/>
                </a:solidFill>
                <a:prstDash val="solid"/>
                <a:round/>
              </a:ln>
              <a:effectLst/>
            </c:spPr>
          </c:marker>
          <c:cat>
            <c:multiLvlStrRef>
              <c:f>Sheet1!$A$2:$A$12</c:f>
              <c:multiLvlStrCache>
                <c:ptCount val="11"/>
                <c:lvl>
                  <c:pt idx="0">
                    <c:v>0</c:v>
                  </c:pt>
                  <c:pt idx="1">
                    <c:v>10</c:v>
                  </c:pt>
                  <c:pt idx="2">
                    <c:v>20</c:v>
                  </c:pt>
                  <c:pt idx="3">
                    <c:v>30</c:v>
                  </c:pt>
                  <c:pt idx="4">
                    <c:v>40</c:v>
                  </c:pt>
                  <c:pt idx="5">
                    <c:v>50</c:v>
                  </c:pt>
                  <c:pt idx="6">
                    <c:v>60</c:v>
                  </c:pt>
                  <c:pt idx="7">
                    <c:v>70</c:v>
                  </c:pt>
                  <c:pt idx="8">
                    <c:v>80</c:v>
                  </c:pt>
                  <c:pt idx="9">
                    <c:v>90</c:v>
                  </c:pt>
                  <c:pt idx="10">
                    <c:v>100</c:v>
                  </c:pt>
                </c:lvl>
              </c:multiLvlStrCache>
            </c:multiLvlStrRef>
          </c:cat>
          <c:val>
            <c:numRef>
              <c:f>Sheet1!$D$2:$D$12</c:f>
              <c:numCache>
                <c:formatCode>General</c:formatCode>
                <c:ptCount val="11"/>
                <c:pt idx="0">
                  <c:v>1</c:v>
                </c:pt>
                <c:pt idx="1">
                  <c:v>0.9</c:v>
                </c:pt>
                <c:pt idx="2">
                  <c:v>0.82</c:v>
                </c:pt>
                <c:pt idx="3">
                  <c:v>0.75</c:v>
                </c:pt>
                <c:pt idx="4">
                  <c:v>0.68</c:v>
                </c:pt>
                <c:pt idx="5">
                  <c:v>0.6</c:v>
                </c:pt>
                <c:pt idx="6">
                  <c:v>0.52</c:v>
                </c:pt>
                <c:pt idx="7">
                  <c:v>0.43</c:v>
                </c:pt>
                <c:pt idx="8">
                  <c:v>0.32</c:v>
                </c:pt>
                <c:pt idx="9">
                  <c:v>0.18</c:v>
                </c:pt>
                <c:pt idx="10">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6B6B6B"/>
                    </a:solidFill>
                    <a:latin typeface="Arial"/>
                  </a:defRPr>
                </a:pPr>
                <a:r>
                  <a:rPr b="0" i="0" u="none" strike="noStrike">
                    <a:solidFill>
                      <a:srgbClr val="6B6B6B"/>
                    </a:solidFill>
                    <a:latin typeface="Arial"/>
                  </a:rPr>
                  <a:t>% of species removed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title>
          <c:tx>
            <c:rich>
              <a:bodyPr/>
              <a:lstStyle/>
              <a:p>
                <a:pPr>
                  <a:defRPr b="0" i="0" u="none" strike="noStrike">
                    <a:solidFill>
                      <a:srgbClr val="6B6B6B"/>
                    </a:solidFill>
                    <a:latin typeface="Arial"/>
                  </a:defRPr>
                </a:pPr>
                <a:r>
                  <a:rPr b="0" i="0" u="none" strike="noStrike">
                    <a:solidFill>
                      <a:srgbClr val="6B6B6B"/>
                    </a:solidFill>
                    <a:latin typeface="Arial"/>
                  </a:rPr>
                  <a:t>FRic (fraction of initial)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We now have a functional space in which every species is a point. The second step is to place communities in it. A community, for us, is a row of a sites-by-species matrix — for each river basin, the abundance or presence of each species — and, combined with the species coordinates, it becomes a cloud of points, possibly weighted by abundance. I will summarise this cloud with two kinds of numbers, and I will be brief because the exercise sheets and the background notes contain the details.
The first kind describes the position of the community: its abundance-weighted centre of gravity. On a single trait this is the community-weighted mean, CWM, the sum over species of relative abundance times trait value. It answers "what is the dominant strategy here?" and rests on Grime's mass-ratio hypothesis: ecosystem processes are driven mainly by the traits of the dominant species. CWM body length shifting along a temperature gradient — a Bergmann-like pattern that Group B will test — is the classic fish example.
The second kind describes the dispersion of the community: how much of the space it fills, how regularly, how far from its centre. That is what people call functional diversity, and it captures the other mechanism of the biodiversity–functioning debate: complementarity, the idea that species differing in traits use resources differently. Two communities can have the same CWM body length and be completely different — one with all species around twenty centimetres, one mixing five-centimetre and sixty-centimetre species — and only dispersion indices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family in one table, and I want you to remember the logic rather than the formulas.
Functional richness, FRic, is the volume of the convex hull of the species present, usually divided by the volume of the whole pool so that it lies between zero and one. It ignores abundances, it is extremely sensitive to extreme species — one unusual species can double the volume — and it increases mechanically with species richness. Functional evenness, FEve, is the regularity with which abundance is distributed along the minimum spanning tree linking the species; functional divergence, FDiv, the degree to which abundant species sit at the periphery rather than at the centre. These three are the components proposed by Mason and colleagues in 2005 and made multidimensional by Villéger, Mason and Mouillot in 2008.
Functional dispersion, FDis, from Laliberté and Legendre, is the abundance-weighted mean distance of species to the community centroid; Rao's quadratic entropy is the abundance-weighted mean pairwise distance. Both summarise the spread of the community, both are nearly independent of species richness, both accept any distance matrix and need no hull — which is why FDis is the workhorse of the field.
All of this is computed by one function, dbFD in the FD package: Gower distance, correction, PCoA, a number of axes m that you choose and whose quality you check with qual.FRic, then all indices. The one message: there is no single "functional diversity". Choose the index from the question, before looking at the results — CWM for the dominant strategy, FRic for the range, FDis or Rao for the spread — and test whether your conclusion survives a change of axes, of traits, of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go further, one property of FRic that motivates the rest of the block. Plot FRic against species richness across basins and you obtain a steep positive relationship. This is not an ecological result: more points make a larger hull even if the points are placed at random. So when a paper says "species-rich rivers are also functionally diverse", your first reaction should be "of course they are; are they more functionally diverse than expected for their richness?" FDis, by construction, is much less affected. But for any index the question is the same: is the observed value different from what chance would produce? That is the question of null models, and it is where we go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have communities described by numbers. The last step is inference: is the functional structure we observe the signature of an ecological process, or is it what we would get by drawing species at random? A community with FRic equal to 0.42 tells us nothing by itself. Only the comparison with an expectation gives it a meaning. This is the logic of null models, and it is what I would like you to master by the end of this afternoon, because it is the part that students find most abstract and it is the heart of Group C's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ecology recognises two classes of deterministic processes that leave opposite signatures in trait space.
Environmental filtering: the abiotic conditions of a site — temperature, oxygen, current, salinity — allow only species with a certain range of trait values to persist. The local community is then a subset of the regional pool concentrated in one region of the space: species are more similar to each other than a random draw. The functional signature is clustering: lower FRic or FDis than expected.
Limiting similarity, the idea that goes back to MacArthur and Levins in 1967: species that are too similar compete too strongly and cannot coexist, so the community is made of species that are more different from each other than a random draw. The functional signature is overdispersion: higher FRic or FDis than expected, and more regular spacing.
Weiher and Keddy formalised this in 1995 as the two "assembly rules", and it has been the framework of hundreds of studies. Keep in mind, though, that the mapping between pattern and process is not one-to-one — competition can also produce clustering if the best competitors share the same traits — and that a pattern indistinguishable from random does not mean that nothing is happening; it can mean that filtering and competition act on the same traits in opposite directions and cancel out. A null model detects a departure from randomness; the mechanism is an interpretation you must argue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null model is a procedure that generates communities under a hypothesis of no process, while keeping everything that we do not want to test. The design choice is which properties to keep.
The model you will use on Thursday is the simplest and one of the most common: you keep the community matrix exactly as it is — same sites, same species richness, same abundances — and you shuffle the rows of the trait table, so that each species receives the traits of another species drawn at random from the pool. This breaks the link between species identity and traits while preserving richness and the abundance structure. It tests the hypothesis that "the traits of the species present are a random sample of the traits of the pool". Nine hundred and ninety-nine iterations are standard; one hundred and ninety-nine are enough for a practical.
There are other models. The independent-swap algorithm shuffles the presence matrix while keeping the row sums — richness per site — and the column sums — frequency of each species — fixed; it tests a different hypothesis and is more conservative when some species are very common. Whichever you choose, the null model must be described in one sentence in the methods, because the result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have the null distribution — say one hundred and ninety-nine values of FRic for a given site — you compare the observed value to it with the standardised effect size: SES equals the observed value minus the mean of the null values, divided by their standard deviation. It is a z-score. An SES of minus two point five means that the observed FRic is two and a half standard deviations below what random assemblages produce: strong clustering. Plus two means overdispersion. The conventional thresholds of plus or minus 1.96 correspond to a two-sided test at five per cent under a normal approximation; you can also compute a proper permutation p-value as the fraction of null values as extreme as the observed one, which is what the exercise does.
The great virtue of the SES is that it removes the richness confound: for a given site, the null values are computed with the same number of species as the observation, so the SES tells you whether the community is more or less diverse than a random community of the same richness. This is the answer to the question I have been raising since slide 23.
--- INSTRUCTOR NOTE ---
This is the first interactive moment of Block 2. Show the histogram, ask: "The observed value is here. Is the community clustered or overdispersed?" Then: "If I had shuffled the abundances too, would the null distribution be wider or narrower?" (Wider; the SES would be smaller in absolute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result looks like. Boxplots of SES-FRic for the basins of several realms. In this realm, most basins are below minus 1.96: assemblages are functionally clustered — a signature consistent with environmental filtering, or with a strong dispersal filter that only let certain lineages in. In this one, values scatter around zero: no detectable departure from randomness, which, as I said, does not mean that nothing is happening. And here, a few basins above plus 1.96: overdispersion, consistent with limiting similarity or with the coexistence of lineages of very different origin.
Two further things to check when you read such a figure. First, is the SES itself still correlated with species richness? It should not be; if it is, your null model has not removed the confound. Second, does the pattern depend on the index? FRic is driven by extreme species; FDis by the whole distribution. Group C will compute both SES-FRic and SES-FDis and I expect the two to disagree for some basins — that disagreement is informative: it tells you whether the departure from randomness comes from a few extreme species or from the bulk of the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turn to the question that motivates my own research and, I hope, part of yours: what happens to the functional structure when species disappear?
The starting point is a result by David Mouillot and colleagues in 2013, for three very different systems — coral reef fishes, tropical trees, alpine plants. They grouped species into functional entities — unique combinations of trait categories — and asked which entities are supported by rare species only. The answer was striking: a large fraction of the functional entities, and in particular the most distinct ones, are represented by one or a few rare species. In other words, functional redundancy is concentrated in the centre of the space, among the common generalists, and the periphery — the unusual functions — is held by rare species that are exactly those most likely to be lost.
The consequence is that species loss is not functionally neutral: losing a random species usually removes little functional diversity, but losing the rare, unique species removes a lot. Which brings us back to the two rivers of slide 2, and to the question of what our threatened species actually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operational, Pimiento and colleagues proposed in 2020 the FUSE metric: Functionally Unique, Specialised and Endangered. For each species you combine functional uniqueness — the distance to the nearest neighbour we saw in Block 1 — functional specialisation — the distance to the centre of the space — and the extinction risk from the IUCN Red List category, converted into a probability. Species that score high on all three are those whose loss would remove a unique function and is likely to happen. In their marine megafauna example, the top FUSE species were things like the green sea turtle, the giant manta, the whale shark and the dugong: large, unusual, threatened.
The logic is a prioritisation logic: with limited conservation resources, which species protect the most functional diversity per unit of effort? It is directly transferable to freshwater fishes, and it is one of the analyses I would like you to be able to run after this course: you already have all the ingredients.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way to ask "what will we lose?" is to simulate it. You take a community, you remove species one at a time according to a scenario — at random, or in order of extinction risk, or of rarity — and you recompute the functional indices after each removal. You obtain an extinction curve, and you compare the scenario of interest with the random scenario: if removing the threatened species first erodes FRic faster than removing species at random, the threatened species are functionally non-redundant.
We did this at the global scale for vertebrates in 2021, in Nature Communications, with Carlos Carmona, Meelis Pärtel and colleagues. The result was idiosyncratic — that is the word in the title. For some groups and regions, the loss of threatened species would remove a disproportionate share of functional diversity, because the threatened species are the large, specialised ones at the edge of the space; in other regions, functional diversity would barely change, because the threatened species have functional equivalents among the non-threatened ones. And, importantly, the response differed among facets — richness, dispersion, uniqueness — which is one more reason not to summarise "functional diversity" by a single number. For freshwater fishes, the large-bodied migratory species — the giant catfishes of the Mekong and the Amazon, the sturgeons — are precisely those at the periphery of the space and at the top of the threat categories.
--- INSTRUCTOR NOTE ---
Second interactive moment: ask the room to predict, for the fish of their own region, whether the "most threatened first" curve would drop faster than the random curve, and why.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the block by walking the road map once more, with the decisions attached to each step, because this is what you will have to do on Thursday and in your own projects.
You choose traits from the question and justify each one. You standardise, choose a distance, build a space, choose and report a number of axes, and check its quality. You place communities in it and choose the indices from the question: CWM for the dominant strategy; FRic for the range; FDis or Rao for the spread. You build a null model that keeps what you do not want to test and randomises what you do; you compute SES and check that it is free of the richness confound. You interpret a departure from randomness as consistent with a process, not as proof of it, and you test the sensitivity of the conclusion to the choices above. And, if the question is about conservation, you ask which species hold the unique functions and what happens to the space when they are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observed index has no meaning without an expectation; the null model provides it by randomising the link between species and traits while keeping richness and abundances; the SES tells you how far the observation is from that expectation, free of the richness confound; clustering and overdispersion are consistent with filtering and limiting similarity, respectively, but the mechanism must be argued. And, finally, functional diversity is held disproportionately by rare and threatened species, which is why measuring it — and simulating its loss — matters for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5D"/>
        </a:solidFill>
      </p:bgPr>
    </p:bg>
    <p:spTree>
      <p:nvGrpSpPr>
        <p:cNvPr id="1" name=""/>
        <p:cNvGrpSpPr/>
        <p:nvPr/>
      </p:nvGrpSpPr>
      <p:grpSpPr>
        <a:xfrm>
          <a:off x="0" y="0"/>
          <a:ext cx="0" cy="0"/>
          <a:chOff x="0" y="0"/>
          <a:chExt cx="0" cy="0"/>
        </a:xfrm>
      </p:grpSpPr>
      <p:sp>
        <p:nvSpPr>
          <p:cNvPr id="2" name="Text 0"/>
          <p:cNvSpPr txBox="1"/>
          <p:nvPr/>
        </p:nvSpPr>
        <p:spPr>
          <a:xfrm>
            <a:off x="548640" y="2011680"/>
            <a:ext cx="11091672" cy="146304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Block 2 — Communities in the space: indices, null models and extinctions</a:t>
            </a:r>
            <a:endParaRPr lang="en-US" sz="4000" dirty="0"/>
          </a:p>
        </p:txBody>
      </p:sp>
      <p:sp>
        <p:nvSpPr>
          <p:cNvPr id="3" name="Text 1"/>
          <p:cNvSpPr txBox="1"/>
          <p:nvPr/>
        </p:nvSpPr>
        <p:spPr>
          <a:xfrm>
            <a:off x="548640" y="3566160"/>
            <a:ext cx="11091672" cy="109728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14:45–15:35 · CWM and the FD indices in brief · The richness confound · Filtering vs limiting similarity · Null models and SES · Rare species, FUSE and extinction scenarios</a:t>
            </a:r>
            <a:endParaRPr lang="en-US" sz="2000" dirty="0"/>
          </a:p>
        </p:txBody>
      </p:sp>
      <p:sp>
        <p:nvSpPr>
          <p:cNvPr id="4" name="Text 2"/>
          <p:cNvSpPr txBox="1"/>
          <p:nvPr/>
        </p:nvSpPr>
        <p:spPr>
          <a:xfrm>
            <a:off x="548640" y="6309360"/>
            <a:ext cx="7315200" cy="2743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Block 2 · Communities in the space: indices, null models, extinctions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From species to communities: position and dispersion</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21</a:t>
            </a:r>
            <a:endParaRPr lang="en-US" sz="1000" dirty="0"/>
          </a:p>
        </p:txBody>
      </p:sp>
      <p:sp>
        <p:nvSpPr>
          <p:cNvPr id="5" name="Shape 3"/>
          <p:cNvSpPr/>
          <p:nvPr/>
        </p:nvSpPr>
        <p:spPr>
          <a:xfrm>
            <a:off x="813816" y="1371600"/>
            <a:ext cx="2331720" cy="960120"/>
          </a:xfrm>
          <a:prstGeom prst="roundRect">
            <a:avLst>
              <a:gd name="adj" fmla="val 11429"/>
            </a:avLst>
          </a:prstGeom>
          <a:solidFill>
            <a:srgbClr val="8A9BA8"/>
          </a:solidFill>
          <a:ln w="12700">
            <a:solidFill>
              <a:srgbClr val="8A9BA8"/>
            </a:solidFill>
            <a:prstDash val="solid"/>
          </a:ln>
        </p:spPr>
      </p:sp>
      <p:sp>
        <p:nvSpPr>
          <p:cNvPr id="6" name="Text 4"/>
          <p:cNvSpPr txBox="1"/>
          <p:nvPr/>
        </p:nvSpPr>
        <p:spPr>
          <a:xfrm>
            <a:off x="8138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Species × traits table</a:t>
            </a:r>
            <a:endParaRPr lang="en-US" sz="1300" dirty="0"/>
          </a:p>
        </p:txBody>
      </p:sp>
      <p:sp>
        <p:nvSpPr>
          <p:cNvPr id="7" name="Shape 5"/>
          <p:cNvSpPr/>
          <p:nvPr/>
        </p:nvSpPr>
        <p:spPr>
          <a:xfrm>
            <a:off x="3191256" y="1691640"/>
            <a:ext cx="320040" cy="320040"/>
          </a:xfrm>
          <a:prstGeom prst="rightArrow">
            <a:avLst/>
          </a:prstGeom>
          <a:solidFill>
            <a:srgbClr val="B8C4CE"/>
          </a:solidFill>
          <a:ln w="12700">
            <a:solidFill>
              <a:srgbClr val="B8C4CE"/>
            </a:solidFill>
            <a:prstDash val="solid"/>
          </a:ln>
        </p:spPr>
      </p:sp>
      <p:sp>
        <p:nvSpPr>
          <p:cNvPr id="8" name="Shape 6"/>
          <p:cNvSpPr/>
          <p:nvPr/>
        </p:nvSpPr>
        <p:spPr>
          <a:xfrm>
            <a:off x="3557016" y="1371600"/>
            <a:ext cx="2331720" cy="960120"/>
          </a:xfrm>
          <a:prstGeom prst="roundRect">
            <a:avLst>
              <a:gd name="adj" fmla="val 11429"/>
            </a:avLst>
          </a:prstGeom>
          <a:solidFill>
            <a:srgbClr val="1D6F9E"/>
          </a:solidFill>
          <a:ln w="12700">
            <a:solidFill>
              <a:srgbClr val="1D6F9E"/>
            </a:solidFill>
            <a:prstDash val="solid"/>
          </a:ln>
        </p:spPr>
      </p:sp>
      <p:sp>
        <p:nvSpPr>
          <p:cNvPr id="9" name="Text 7"/>
          <p:cNvSpPr txBox="1"/>
          <p:nvPr/>
        </p:nvSpPr>
        <p:spPr>
          <a:xfrm>
            <a:off x="35570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Functional space</a:t>
            </a:r>
            <a:endParaRPr lang="en-US" sz="1300" dirty="0"/>
          </a:p>
        </p:txBody>
      </p:sp>
      <p:sp>
        <p:nvSpPr>
          <p:cNvPr id="10" name="Shape 8"/>
          <p:cNvSpPr/>
          <p:nvPr/>
        </p:nvSpPr>
        <p:spPr>
          <a:xfrm>
            <a:off x="5934456" y="1691640"/>
            <a:ext cx="320040" cy="320040"/>
          </a:xfrm>
          <a:prstGeom prst="rightArrow">
            <a:avLst/>
          </a:prstGeom>
          <a:solidFill>
            <a:srgbClr val="B8C4CE"/>
          </a:solidFill>
          <a:ln w="12700">
            <a:solidFill>
              <a:srgbClr val="B8C4CE"/>
            </a:solidFill>
            <a:prstDash val="solid"/>
          </a:ln>
        </p:spPr>
      </p:sp>
      <p:sp>
        <p:nvSpPr>
          <p:cNvPr id="11" name="Text 9"/>
          <p:cNvSpPr txBox="1"/>
          <p:nvPr/>
        </p:nvSpPr>
        <p:spPr>
          <a:xfrm>
            <a:off x="3557016" y="242316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1  ·  Group A</a:t>
            </a:r>
            <a:endParaRPr lang="en-US" sz="1200" dirty="0"/>
          </a:p>
        </p:txBody>
      </p:sp>
      <p:sp>
        <p:nvSpPr>
          <p:cNvPr id="12" name="Shape 10"/>
          <p:cNvSpPr/>
          <p:nvPr/>
        </p:nvSpPr>
        <p:spPr>
          <a:xfrm>
            <a:off x="6300216" y="1371600"/>
            <a:ext cx="2331720" cy="960120"/>
          </a:xfrm>
          <a:prstGeom prst="roundRect">
            <a:avLst>
              <a:gd name="adj" fmla="val 11429"/>
            </a:avLst>
          </a:prstGeom>
          <a:solidFill>
            <a:srgbClr val="D9822B"/>
          </a:solidFill>
          <a:ln w="12700">
            <a:solidFill>
              <a:srgbClr val="D9822B"/>
            </a:solidFill>
            <a:prstDash val="solid"/>
          </a:ln>
        </p:spPr>
      </p:sp>
      <p:sp>
        <p:nvSpPr>
          <p:cNvPr id="13" name="Text 11"/>
          <p:cNvSpPr txBox="1"/>
          <p:nvPr/>
        </p:nvSpPr>
        <p:spPr>
          <a:xfrm>
            <a:off x="63002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Community indices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(CWM · FRic · FEve · FDiv · FDis)</a:t>
            </a:r>
            <a:endParaRPr lang="en-US" sz="1300" dirty="0"/>
          </a:p>
        </p:txBody>
      </p:sp>
      <p:sp>
        <p:nvSpPr>
          <p:cNvPr id="14" name="Shape 12"/>
          <p:cNvSpPr/>
          <p:nvPr/>
        </p:nvSpPr>
        <p:spPr>
          <a:xfrm>
            <a:off x="8677656" y="1691640"/>
            <a:ext cx="320040" cy="320040"/>
          </a:xfrm>
          <a:prstGeom prst="rightArrow">
            <a:avLst/>
          </a:prstGeom>
          <a:solidFill>
            <a:srgbClr val="B8C4CE"/>
          </a:solidFill>
          <a:ln w="12700">
            <a:solidFill>
              <a:srgbClr val="B8C4CE"/>
            </a:solidFill>
            <a:prstDash val="solid"/>
          </a:ln>
        </p:spPr>
      </p:sp>
      <p:sp>
        <p:nvSpPr>
          <p:cNvPr id="15" name="Text 13"/>
          <p:cNvSpPr txBox="1"/>
          <p:nvPr/>
        </p:nvSpPr>
        <p:spPr>
          <a:xfrm>
            <a:off x="6300216" y="242316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2  ·  Group B</a:t>
            </a:r>
            <a:endParaRPr lang="en-US" sz="1200" dirty="0"/>
          </a:p>
        </p:txBody>
      </p:sp>
      <p:sp>
        <p:nvSpPr>
          <p:cNvPr id="16" name="Shape 14"/>
          <p:cNvSpPr/>
          <p:nvPr/>
        </p:nvSpPr>
        <p:spPr>
          <a:xfrm>
            <a:off x="9043416" y="1371600"/>
            <a:ext cx="2331720" cy="960120"/>
          </a:xfrm>
          <a:prstGeom prst="roundRect">
            <a:avLst>
              <a:gd name="adj" fmla="val 11429"/>
            </a:avLst>
          </a:prstGeom>
          <a:solidFill>
            <a:srgbClr val="1D6F9E"/>
          </a:solidFill>
          <a:ln w="12700">
            <a:solidFill>
              <a:srgbClr val="1D6F9E"/>
            </a:solidFill>
            <a:prstDash val="solid"/>
          </a:ln>
        </p:spPr>
      </p:sp>
      <p:sp>
        <p:nvSpPr>
          <p:cNvPr id="17" name="Text 15"/>
          <p:cNvSpPr txBox="1"/>
          <p:nvPr/>
        </p:nvSpPr>
        <p:spPr>
          <a:xfrm>
            <a:off x="90434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Null models · assembly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extinction</a:t>
            </a:r>
            <a:endParaRPr lang="en-US" sz="1300" dirty="0"/>
          </a:p>
        </p:txBody>
      </p:sp>
      <p:sp>
        <p:nvSpPr>
          <p:cNvPr id="18" name="Text 16"/>
          <p:cNvSpPr txBox="1"/>
          <p:nvPr/>
        </p:nvSpPr>
        <p:spPr>
          <a:xfrm>
            <a:off x="9043416" y="242316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2  ·  Group C</a:t>
            </a:r>
            <a:endParaRPr lang="en-US" sz="1200" dirty="0"/>
          </a:p>
        </p:txBody>
      </p:sp>
      <p:sp>
        <p:nvSpPr>
          <p:cNvPr id="19" name="Shape 17"/>
          <p:cNvSpPr/>
          <p:nvPr/>
        </p:nvSpPr>
        <p:spPr>
          <a:xfrm>
            <a:off x="548640" y="3017520"/>
            <a:ext cx="4206240" cy="2926080"/>
          </a:xfrm>
          <a:prstGeom prst="rect">
            <a:avLst/>
          </a:prstGeom>
          <a:solidFill>
            <a:srgbClr val="FFFFFF"/>
          </a:solidFill>
          <a:ln w="12700">
            <a:solidFill>
              <a:srgbClr val="BBBBBB"/>
            </a:solidFill>
            <a:prstDash val="solid"/>
          </a:ln>
        </p:spPr>
      </p:sp>
      <p:sp>
        <p:nvSpPr>
          <p:cNvPr id="20" name="Shape 18"/>
          <p:cNvSpPr/>
          <p:nvPr/>
        </p:nvSpPr>
        <p:spPr>
          <a:xfrm>
            <a:off x="1005840" y="3383280"/>
            <a:ext cx="3291840" cy="2194560"/>
          </a:xfrm>
          <a:prstGeom prst="hexagon">
            <a:avLst/>
          </a:prstGeom>
          <a:solidFill>
            <a:srgbClr val="E8F1F7"/>
          </a:solidFill>
          <a:ln w="19050">
            <a:solidFill>
              <a:srgbClr val="1D6F9E"/>
            </a:solidFill>
            <a:prstDash val="solid"/>
          </a:ln>
        </p:spPr>
      </p:sp>
      <p:sp>
        <p:nvSpPr>
          <p:cNvPr id="21" name="Shape 19"/>
          <p:cNvSpPr/>
          <p:nvPr/>
        </p:nvSpPr>
        <p:spPr>
          <a:xfrm>
            <a:off x="1783080" y="3622853"/>
            <a:ext cx="91440" cy="91440"/>
          </a:xfrm>
          <a:prstGeom prst="ellipse">
            <a:avLst/>
          </a:prstGeom>
          <a:solidFill>
            <a:srgbClr val="0B3C5D"/>
          </a:solidFill>
          <a:ln w="12700">
            <a:solidFill>
              <a:srgbClr val="0B3C5D"/>
            </a:solidFill>
            <a:prstDash val="solid"/>
          </a:ln>
        </p:spPr>
      </p:sp>
      <p:sp>
        <p:nvSpPr>
          <p:cNvPr id="22" name="Shape 20"/>
          <p:cNvSpPr/>
          <p:nvPr/>
        </p:nvSpPr>
        <p:spPr>
          <a:xfrm>
            <a:off x="3392424" y="3586277"/>
            <a:ext cx="164592" cy="164592"/>
          </a:xfrm>
          <a:prstGeom prst="ellipse">
            <a:avLst/>
          </a:prstGeom>
          <a:solidFill>
            <a:srgbClr val="0B3C5D"/>
          </a:solidFill>
          <a:ln w="12700">
            <a:solidFill>
              <a:srgbClr val="0B3C5D"/>
            </a:solidFill>
            <a:prstDash val="solid"/>
          </a:ln>
        </p:spPr>
      </p:sp>
      <p:sp>
        <p:nvSpPr>
          <p:cNvPr id="23" name="Shape 21"/>
          <p:cNvSpPr/>
          <p:nvPr/>
        </p:nvSpPr>
        <p:spPr>
          <a:xfrm>
            <a:off x="3849624" y="4361688"/>
            <a:ext cx="237744" cy="237744"/>
          </a:xfrm>
          <a:prstGeom prst="ellipse">
            <a:avLst/>
          </a:prstGeom>
          <a:solidFill>
            <a:srgbClr val="0B3C5D"/>
          </a:solidFill>
          <a:ln w="12700">
            <a:solidFill>
              <a:srgbClr val="0B3C5D"/>
            </a:solidFill>
            <a:prstDash val="solid"/>
          </a:ln>
        </p:spPr>
      </p:sp>
      <p:sp>
        <p:nvSpPr>
          <p:cNvPr id="24" name="Shape 22"/>
          <p:cNvSpPr/>
          <p:nvPr/>
        </p:nvSpPr>
        <p:spPr>
          <a:xfrm>
            <a:off x="3429000" y="5246827"/>
            <a:ext cx="91440" cy="91440"/>
          </a:xfrm>
          <a:prstGeom prst="ellipse">
            <a:avLst/>
          </a:prstGeom>
          <a:solidFill>
            <a:srgbClr val="0B3C5D"/>
          </a:solidFill>
          <a:ln w="12700">
            <a:solidFill>
              <a:srgbClr val="0B3C5D"/>
            </a:solidFill>
            <a:prstDash val="solid"/>
          </a:ln>
        </p:spPr>
      </p:sp>
      <p:sp>
        <p:nvSpPr>
          <p:cNvPr id="25" name="Shape 23"/>
          <p:cNvSpPr/>
          <p:nvPr/>
        </p:nvSpPr>
        <p:spPr>
          <a:xfrm>
            <a:off x="1746504" y="5210251"/>
            <a:ext cx="164592" cy="164592"/>
          </a:xfrm>
          <a:prstGeom prst="ellipse">
            <a:avLst/>
          </a:prstGeom>
          <a:solidFill>
            <a:srgbClr val="0B3C5D"/>
          </a:solidFill>
          <a:ln w="12700">
            <a:solidFill>
              <a:srgbClr val="0B3C5D"/>
            </a:solidFill>
            <a:prstDash val="solid"/>
          </a:ln>
        </p:spPr>
      </p:sp>
      <p:sp>
        <p:nvSpPr>
          <p:cNvPr id="26" name="Shape 24"/>
          <p:cNvSpPr/>
          <p:nvPr/>
        </p:nvSpPr>
        <p:spPr>
          <a:xfrm>
            <a:off x="1216152" y="4361688"/>
            <a:ext cx="237744" cy="237744"/>
          </a:xfrm>
          <a:prstGeom prst="ellipse">
            <a:avLst/>
          </a:prstGeom>
          <a:solidFill>
            <a:srgbClr val="0B3C5D"/>
          </a:solidFill>
          <a:ln w="12700">
            <a:solidFill>
              <a:srgbClr val="0B3C5D"/>
            </a:solidFill>
            <a:prstDash val="solid"/>
          </a:ln>
        </p:spPr>
      </p:sp>
      <p:sp>
        <p:nvSpPr>
          <p:cNvPr id="27" name="Shape 25"/>
          <p:cNvSpPr/>
          <p:nvPr/>
        </p:nvSpPr>
        <p:spPr>
          <a:xfrm>
            <a:off x="2606040" y="4434840"/>
            <a:ext cx="91440" cy="91440"/>
          </a:xfrm>
          <a:prstGeom prst="ellipse">
            <a:avLst/>
          </a:prstGeom>
          <a:solidFill>
            <a:srgbClr val="0B3C5D"/>
          </a:solidFill>
          <a:ln w="12700">
            <a:solidFill>
              <a:srgbClr val="0B3C5D"/>
            </a:solidFill>
            <a:prstDash val="solid"/>
          </a:ln>
        </p:spPr>
      </p:sp>
      <p:sp>
        <p:nvSpPr>
          <p:cNvPr id="28" name="Shape 26"/>
          <p:cNvSpPr/>
          <p:nvPr/>
        </p:nvSpPr>
        <p:spPr>
          <a:xfrm>
            <a:off x="2240280" y="4661611"/>
            <a:ext cx="164592" cy="164592"/>
          </a:xfrm>
          <a:prstGeom prst="ellipse">
            <a:avLst/>
          </a:prstGeom>
          <a:solidFill>
            <a:srgbClr val="0B3C5D"/>
          </a:solidFill>
          <a:ln w="12700">
            <a:solidFill>
              <a:srgbClr val="0B3C5D"/>
            </a:solidFill>
            <a:prstDash val="solid"/>
          </a:ln>
        </p:spPr>
      </p:sp>
      <p:sp>
        <p:nvSpPr>
          <p:cNvPr id="29" name="Shape 27"/>
          <p:cNvSpPr/>
          <p:nvPr/>
        </p:nvSpPr>
        <p:spPr>
          <a:xfrm>
            <a:off x="2862072" y="4098341"/>
            <a:ext cx="237744" cy="237744"/>
          </a:xfrm>
          <a:prstGeom prst="ellipse">
            <a:avLst/>
          </a:prstGeom>
          <a:solidFill>
            <a:srgbClr val="0B3C5D"/>
          </a:solidFill>
          <a:ln w="12700">
            <a:solidFill>
              <a:srgbClr val="0B3C5D"/>
            </a:solidFill>
            <a:prstDash val="solid"/>
          </a:ln>
        </p:spPr>
      </p:sp>
      <p:sp>
        <p:nvSpPr>
          <p:cNvPr id="30" name="Shape 28"/>
          <p:cNvSpPr/>
          <p:nvPr/>
        </p:nvSpPr>
        <p:spPr>
          <a:xfrm>
            <a:off x="2441448" y="4215384"/>
            <a:ext cx="91440" cy="91440"/>
          </a:xfrm>
          <a:prstGeom prst="ellipse">
            <a:avLst/>
          </a:prstGeom>
          <a:solidFill>
            <a:srgbClr val="0B3C5D"/>
          </a:solidFill>
          <a:ln w="12700">
            <a:solidFill>
              <a:srgbClr val="0B3C5D"/>
            </a:solidFill>
            <a:prstDash val="solid"/>
          </a:ln>
        </p:spPr>
      </p:sp>
      <p:sp>
        <p:nvSpPr>
          <p:cNvPr id="31" name="Shape 29"/>
          <p:cNvSpPr/>
          <p:nvPr/>
        </p:nvSpPr>
        <p:spPr>
          <a:xfrm>
            <a:off x="2505456" y="4334256"/>
            <a:ext cx="292608" cy="292608"/>
          </a:xfrm>
          <a:prstGeom prst="ellipse">
            <a:avLst/>
          </a:prstGeom>
          <a:solidFill>
            <a:srgbClr val="D9822B"/>
          </a:solidFill>
          <a:ln w="12700">
            <a:solidFill>
              <a:srgbClr val="D9822B"/>
            </a:solidFill>
            <a:prstDash val="solid"/>
          </a:ln>
        </p:spPr>
      </p:sp>
      <p:sp>
        <p:nvSpPr>
          <p:cNvPr id="32" name="Text 30"/>
          <p:cNvSpPr txBox="1"/>
          <p:nvPr/>
        </p:nvSpPr>
        <p:spPr>
          <a:xfrm>
            <a:off x="548640" y="5989320"/>
            <a:ext cx="4206240" cy="41148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One community: hull (FRic), abundance-weighted centroid (CWM, orange), point size = abundance</a:t>
            </a:r>
            <a:endParaRPr lang="en-US" sz="1000" dirty="0"/>
          </a:p>
        </p:txBody>
      </p:sp>
      <p:sp>
        <p:nvSpPr>
          <p:cNvPr id="33" name="Shape 31"/>
          <p:cNvSpPr/>
          <p:nvPr/>
        </p:nvSpPr>
        <p:spPr>
          <a:xfrm>
            <a:off x="4937760" y="3017520"/>
            <a:ext cx="6702552" cy="1371600"/>
          </a:xfrm>
          <a:prstGeom prst="roundRect">
            <a:avLst>
              <a:gd name="adj" fmla="val 6667"/>
            </a:avLst>
          </a:prstGeom>
          <a:solidFill>
            <a:srgbClr val="E8F1F7"/>
          </a:solidFill>
          <a:ln w="12700">
            <a:solidFill>
              <a:srgbClr val="E8F1F7"/>
            </a:solidFill>
            <a:prstDash val="solid"/>
          </a:ln>
        </p:spPr>
      </p:sp>
      <p:sp>
        <p:nvSpPr>
          <p:cNvPr id="34" name="Text 32"/>
          <p:cNvSpPr txBox="1"/>
          <p:nvPr/>
        </p:nvSpPr>
        <p:spPr>
          <a:xfrm>
            <a:off x="5120640" y="3090672"/>
            <a:ext cx="6336792" cy="36576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Position — “What is the dominant strategy?”</a:t>
            </a:r>
            <a:endParaRPr lang="en-US" sz="1500" dirty="0"/>
          </a:p>
        </p:txBody>
      </p:sp>
      <p:sp>
        <p:nvSpPr>
          <p:cNvPr id="35" name="Text 33"/>
          <p:cNvSpPr txBox="1"/>
          <p:nvPr/>
        </p:nvSpPr>
        <p:spPr>
          <a:xfrm>
            <a:off x="5120640" y="3456432"/>
            <a:ext cx="6336792" cy="91440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CWM = Σ pᵢ · tᵢ — the abundance-weighted mean of a trait. Mass-ratio hypothesis (Grime 1998): functioning is driven by the dominants. Fish example: CWM body length along temperature (Group B).</a:t>
            </a:r>
            <a:endParaRPr lang="en-US" sz="1200" dirty="0"/>
          </a:p>
        </p:txBody>
      </p:sp>
      <p:sp>
        <p:nvSpPr>
          <p:cNvPr id="36" name="Shape 34"/>
          <p:cNvSpPr/>
          <p:nvPr/>
        </p:nvSpPr>
        <p:spPr>
          <a:xfrm>
            <a:off x="4937760" y="4526280"/>
            <a:ext cx="6702552" cy="1371600"/>
          </a:xfrm>
          <a:prstGeom prst="roundRect">
            <a:avLst>
              <a:gd name="adj" fmla="val 6667"/>
            </a:avLst>
          </a:prstGeom>
          <a:solidFill>
            <a:srgbClr val="E8F1F7"/>
          </a:solidFill>
          <a:ln w="12700">
            <a:solidFill>
              <a:srgbClr val="E8F1F7"/>
            </a:solidFill>
            <a:prstDash val="solid"/>
          </a:ln>
        </p:spPr>
      </p:sp>
      <p:sp>
        <p:nvSpPr>
          <p:cNvPr id="37" name="Text 35"/>
          <p:cNvSpPr txBox="1"/>
          <p:nvPr/>
        </p:nvSpPr>
        <p:spPr>
          <a:xfrm>
            <a:off x="5120640" y="4599432"/>
            <a:ext cx="6336792" cy="365760"/>
          </a:xfrm>
          <a:prstGeom prst="rect">
            <a:avLst/>
          </a:prstGeom>
          <a:noFill/>
          <a:ln/>
        </p:spPr>
        <p:txBody>
          <a:bodyPr wrap="square" lIns="0" tIns="0" rIns="0" bIns="0" rtlCol="0" anchor="ctr"/>
          <a:lstStyle/>
          <a:p>
            <a:pPr indent="0" marL="0">
              <a:buNone/>
            </a:pPr>
            <a:r>
              <a:rPr lang="en-US" sz="1500" b="1" dirty="0">
                <a:solidFill>
                  <a:srgbClr val="0B3C5D"/>
                </a:solidFill>
                <a:latin typeface="Calibri" pitchFamily="34" charset="0"/>
                <a:ea typeface="Calibri" pitchFamily="34" charset="-122"/>
                <a:cs typeface="Calibri" pitchFamily="34" charset="-120"/>
              </a:rPr>
              <a:t>Dispersion — “How functionally diverse is it?”</a:t>
            </a:r>
            <a:endParaRPr lang="en-US" sz="1500" dirty="0"/>
          </a:p>
        </p:txBody>
      </p:sp>
      <p:sp>
        <p:nvSpPr>
          <p:cNvPr id="38" name="Text 36"/>
          <p:cNvSpPr txBox="1"/>
          <p:nvPr/>
        </p:nvSpPr>
        <p:spPr>
          <a:xfrm>
            <a:off x="5120640" y="4965192"/>
            <a:ext cx="6336792" cy="91440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How much of the space, how regularly, how far from the centre. Captures complementarity. Two communities with the same CWM body length can be completely different.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The functional diversity indices in one table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22</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554480"/>
                <a:gridCol w="3657600"/>
                <a:gridCol w="1188720"/>
                <a:gridCol w="1371600"/>
                <a:gridCol w="3319272"/>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Index</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measures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Abundances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Depends on 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Typical question</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50292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CWM</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Abundance-weighted mean trait (position)</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Dominant strategy; shift along a gradient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FRic</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Convex-hull volume (0–1 relative to the pool)</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strongly ↑</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Range of strategies; loss of a region of the space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FEve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Regularity of abundance along the minimum spanning tree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weakly</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Is abundance evenly spread across strategies?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FDiv</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Abundance concentrated at the periphery vs the centre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weakly</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Are the dominants functionally extreme?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0292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FDis / Rao’s Q</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Weighted mean distance to the centroid / mean pairwise distance</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weakly</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Spread of the composition; more or less than expected?</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617720"/>
            <a:ext cx="11091672" cy="685800"/>
          </a:xfrm>
          <a:prstGeom prst="roundRect">
            <a:avLst>
              <a:gd name="adj" fmla="val 8000"/>
            </a:avLst>
          </a:prstGeom>
          <a:solidFill>
            <a:srgbClr val="F3F3F3"/>
          </a:solidFill>
          <a:ln w="12700">
            <a:solidFill>
              <a:srgbClr val="DDDDDD"/>
            </a:solidFill>
            <a:prstDash val="solid"/>
          </a:ln>
        </p:spPr>
      </p:sp>
      <p:sp>
        <p:nvSpPr>
          <p:cNvPr id="7" name="Text 4"/>
          <p:cNvSpPr txBox="1"/>
          <p:nvPr/>
        </p:nvSpPr>
        <p:spPr>
          <a:xfrm>
            <a:off x="731520" y="4663440"/>
            <a:ext cx="10725912" cy="594360"/>
          </a:xfrm>
          <a:prstGeom prst="rect">
            <a:avLst/>
          </a:prstGeom>
          <a:noFill/>
          <a:ln/>
        </p:spPr>
        <p:txBody>
          <a:bodyPr wrap="square" lIns="0" tIns="0" rIns="0" bIns="0" rtlCol="0" anchor="ctr"/>
          <a:lstStyle/>
          <a:p>
            <a:pPr indent="0" marL="0">
              <a:buNone/>
            </a:pPr>
            <a:r>
              <a:rPr lang="en-US" sz="1200" dirty="0">
                <a:solidFill>
                  <a:srgbClr val="222222"/>
                </a:solidFill>
                <a:latin typeface="Courier New" pitchFamily="34" charset="0"/>
                <a:ea typeface="Courier New" pitchFamily="34" charset="-122"/>
                <a:cs typeface="Courier New" pitchFamily="34" charset="-120"/>
              </a:rPr>
              <a:t>fd &lt;- dbFD(x = traits, a = abundances, m = 3, stand.FRic = TRUE, calc.CWM = TRUE)   # FD package: Gower → PCoA → m axes → indices; check fd$qual.FRic</a:t>
            </a:r>
            <a:endParaRPr lang="en-US" sz="1200" dirty="0"/>
          </a:p>
        </p:txBody>
      </p:sp>
      <p:sp>
        <p:nvSpPr>
          <p:cNvPr id="8" name="Shape 5"/>
          <p:cNvSpPr/>
          <p:nvPr/>
        </p:nvSpPr>
        <p:spPr>
          <a:xfrm>
            <a:off x="548640" y="5440680"/>
            <a:ext cx="11091672" cy="777240"/>
          </a:xfrm>
          <a:prstGeom prst="roundRect">
            <a:avLst>
              <a:gd name="adj" fmla="val 9412"/>
            </a:avLst>
          </a:prstGeom>
          <a:solidFill>
            <a:srgbClr val="E8F1F7"/>
          </a:solidFill>
          <a:ln w="12700">
            <a:solidFill>
              <a:srgbClr val="E8F1F7"/>
            </a:solidFill>
            <a:prstDash val="solid"/>
          </a:ln>
        </p:spPr>
      </p:sp>
      <p:sp>
        <p:nvSpPr>
          <p:cNvPr id="9" name="Text 6"/>
          <p:cNvSpPr txBox="1"/>
          <p:nvPr/>
        </p:nvSpPr>
        <p:spPr>
          <a:xfrm>
            <a:off x="685800" y="5440680"/>
            <a:ext cx="10817352" cy="777240"/>
          </a:xfrm>
          <a:prstGeom prst="rect">
            <a:avLst/>
          </a:prstGeom>
          <a:noFill/>
          <a:ln/>
        </p:spPr>
        <p:txBody>
          <a:bodyPr wrap="square" lIns="50800" tIns="50800" rIns="50800" bIns="50800" rtlCol="0" anchor="ctr"/>
          <a:lstStyle/>
          <a:p>
            <a:pPr indent="0" marL="0">
              <a:buNone/>
            </a:pPr>
            <a:r>
              <a:rPr lang="en-US" sz="1300" dirty="0">
                <a:solidFill>
                  <a:srgbClr val="0B3C5D"/>
                </a:solidFill>
                <a:latin typeface="Calibri" pitchFamily="34" charset="0"/>
                <a:ea typeface="Calibri" pitchFamily="34" charset="-122"/>
                <a:cs typeface="Calibri" pitchFamily="34" charset="-120"/>
              </a:rPr>
              <a:t>No single “functional diversity”: choose the index from the question before looking at the results (Mason et al. 2005; Villéger et al. 2008; Laliberté &amp; Legendre 2010). Details: FBE_basics_FD.pdf and the Group B sheet.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The richness confound</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23</a:t>
            </a:r>
            <a:endParaRPr lang="en-US" sz="1000" dirty="0"/>
          </a:p>
        </p:txBody>
      </p:sp>
      <p:graphicFrame>
        <p:nvGraphicFramePr>
          <p:cNvPr id="5" name="Chart 0" descr=""/>
          <p:cNvGraphicFramePr/>
          <p:nvPr/>
        </p:nvGraphicFramePr>
        <p:xfrm>
          <a:off x="548640" y="1371600"/>
          <a:ext cx="53949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17920" y="137160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5669280"/>
            <a:ext cx="11091672" cy="685800"/>
          </a:xfrm>
          <a:prstGeom prst="roundRect">
            <a:avLst>
              <a:gd name="adj" fmla="val 10667"/>
            </a:avLst>
          </a:prstGeom>
          <a:solidFill>
            <a:srgbClr val="E8F1F7"/>
          </a:solidFill>
          <a:ln w="12700">
            <a:solidFill>
              <a:srgbClr val="E8F1F7"/>
            </a:solidFill>
            <a:prstDash val="solid"/>
          </a:ln>
        </p:spPr>
      </p:sp>
      <p:sp>
        <p:nvSpPr>
          <p:cNvPr id="8" name="Text 4"/>
          <p:cNvSpPr txBox="1"/>
          <p:nvPr/>
        </p:nvSpPr>
        <p:spPr>
          <a:xfrm>
            <a:off x="685800" y="5669280"/>
            <a:ext cx="10817352" cy="685800"/>
          </a:xfrm>
          <a:prstGeom prst="rect">
            <a:avLst/>
          </a:prstGeom>
          <a:noFill/>
          <a:ln/>
        </p:spPr>
        <p:txBody>
          <a:bodyPr wrap="square" lIns="50800" tIns="50800" rIns="50800" bIns="50800" rtlCol="0" anchor="ctr"/>
          <a:lstStyle/>
          <a:p>
            <a:pPr indent="0" marL="0">
              <a:buNone/>
            </a:pPr>
            <a:r>
              <a:rPr lang="en-US" sz="1400" dirty="0">
                <a:solidFill>
                  <a:srgbClr val="0B3C5D"/>
                </a:solidFill>
                <a:latin typeface="Calibri" pitchFamily="34" charset="0"/>
                <a:ea typeface="Calibri" pitchFamily="34" charset="-122"/>
                <a:cs typeface="Calibri" pitchFamily="34" charset="-120"/>
              </a:rPr>
              <a:t>More points → larger hull, even at random. “Species-rich rivers are also functionally diverse” → of course; are they more diverse than expected for their richness? That is the question of null models.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The question: is this different from chance?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24</a:t>
            </a:r>
            <a:endParaRPr lang="en-US" sz="1000" dirty="0"/>
          </a:p>
        </p:txBody>
      </p:sp>
      <p:sp>
        <p:nvSpPr>
          <p:cNvPr id="5" name="Shape 3"/>
          <p:cNvSpPr/>
          <p:nvPr/>
        </p:nvSpPr>
        <p:spPr>
          <a:xfrm>
            <a:off x="813816" y="1463040"/>
            <a:ext cx="2331720" cy="960120"/>
          </a:xfrm>
          <a:prstGeom prst="roundRect">
            <a:avLst>
              <a:gd name="adj" fmla="val 11429"/>
            </a:avLst>
          </a:prstGeom>
          <a:solidFill>
            <a:srgbClr val="8A9BA8"/>
          </a:solidFill>
          <a:ln w="12700">
            <a:solidFill>
              <a:srgbClr val="8A9BA8"/>
            </a:solidFill>
            <a:prstDash val="solid"/>
          </a:ln>
        </p:spPr>
      </p:sp>
      <p:sp>
        <p:nvSpPr>
          <p:cNvPr id="6" name="Text 4"/>
          <p:cNvSpPr txBox="1"/>
          <p:nvPr/>
        </p:nvSpPr>
        <p:spPr>
          <a:xfrm>
            <a:off x="813816" y="146304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Species × traits table</a:t>
            </a:r>
            <a:endParaRPr lang="en-US" sz="1300" dirty="0"/>
          </a:p>
        </p:txBody>
      </p:sp>
      <p:sp>
        <p:nvSpPr>
          <p:cNvPr id="7" name="Shape 5"/>
          <p:cNvSpPr/>
          <p:nvPr/>
        </p:nvSpPr>
        <p:spPr>
          <a:xfrm>
            <a:off x="3191256" y="1783080"/>
            <a:ext cx="320040" cy="320040"/>
          </a:xfrm>
          <a:prstGeom prst="rightArrow">
            <a:avLst/>
          </a:prstGeom>
          <a:solidFill>
            <a:srgbClr val="B8C4CE"/>
          </a:solidFill>
          <a:ln w="12700">
            <a:solidFill>
              <a:srgbClr val="B8C4CE"/>
            </a:solidFill>
            <a:prstDash val="solid"/>
          </a:ln>
        </p:spPr>
      </p:sp>
      <p:sp>
        <p:nvSpPr>
          <p:cNvPr id="8" name="Shape 6"/>
          <p:cNvSpPr/>
          <p:nvPr/>
        </p:nvSpPr>
        <p:spPr>
          <a:xfrm>
            <a:off x="3557016" y="1463040"/>
            <a:ext cx="2331720" cy="960120"/>
          </a:xfrm>
          <a:prstGeom prst="roundRect">
            <a:avLst>
              <a:gd name="adj" fmla="val 11429"/>
            </a:avLst>
          </a:prstGeom>
          <a:solidFill>
            <a:srgbClr val="1D6F9E"/>
          </a:solidFill>
          <a:ln w="12700">
            <a:solidFill>
              <a:srgbClr val="1D6F9E"/>
            </a:solidFill>
            <a:prstDash val="solid"/>
          </a:ln>
        </p:spPr>
      </p:sp>
      <p:sp>
        <p:nvSpPr>
          <p:cNvPr id="9" name="Text 7"/>
          <p:cNvSpPr txBox="1"/>
          <p:nvPr/>
        </p:nvSpPr>
        <p:spPr>
          <a:xfrm>
            <a:off x="3557016" y="146304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Functional space</a:t>
            </a:r>
            <a:endParaRPr lang="en-US" sz="1300" dirty="0"/>
          </a:p>
        </p:txBody>
      </p:sp>
      <p:sp>
        <p:nvSpPr>
          <p:cNvPr id="10" name="Shape 8"/>
          <p:cNvSpPr/>
          <p:nvPr/>
        </p:nvSpPr>
        <p:spPr>
          <a:xfrm>
            <a:off x="5934456" y="1783080"/>
            <a:ext cx="320040" cy="320040"/>
          </a:xfrm>
          <a:prstGeom prst="rightArrow">
            <a:avLst/>
          </a:prstGeom>
          <a:solidFill>
            <a:srgbClr val="B8C4CE"/>
          </a:solidFill>
          <a:ln w="12700">
            <a:solidFill>
              <a:srgbClr val="B8C4CE"/>
            </a:solidFill>
            <a:prstDash val="solid"/>
          </a:ln>
        </p:spPr>
      </p:sp>
      <p:sp>
        <p:nvSpPr>
          <p:cNvPr id="11" name="Text 9"/>
          <p:cNvSpPr txBox="1"/>
          <p:nvPr/>
        </p:nvSpPr>
        <p:spPr>
          <a:xfrm>
            <a:off x="3557016" y="251460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1  ·  Group A</a:t>
            </a:r>
            <a:endParaRPr lang="en-US" sz="1200" dirty="0"/>
          </a:p>
        </p:txBody>
      </p:sp>
      <p:sp>
        <p:nvSpPr>
          <p:cNvPr id="12" name="Shape 10"/>
          <p:cNvSpPr/>
          <p:nvPr/>
        </p:nvSpPr>
        <p:spPr>
          <a:xfrm>
            <a:off x="6300216" y="1463040"/>
            <a:ext cx="2331720" cy="960120"/>
          </a:xfrm>
          <a:prstGeom prst="roundRect">
            <a:avLst>
              <a:gd name="adj" fmla="val 11429"/>
            </a:avLst>
          </a:prstGeom>
          <a:solidFill>
            <a:srgbClr val="D9822B"/>
          </a:solidFill>
          <a:ln w="12700">
            <a:solidFill>
              <a:srgbClr val="D9822B"/>
            </a:solidFill>
            <a:prstDash val="solid"/>
          </a:ln>
        </p:spPr>
      </p:sp>
      <p:sp>
        <p:nvSpPr>
          <p:cNvPr id="13" name="Text 11"/>
          <p:cNvSpPr txBox="1"/>
          <p:nvPr/>
        </p:nvSpPr>
        <p:spPr>
          <a:xfrm>
            <a:off x="6300216" y="146304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Community indices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(CWM · FRic · FEve · FDiv · FDis)</a:t>
            </a:r>
            <a:endParaRPr lang="en-US" sz="1300" dirty="0"/>
          </a:p>
        </p:txBody>
      </p:sp>
      <p:sp>
        <p:nvSpPr>
          <p:cNvPr id="14" name="Shape 12"/>
          <p:cNvSpPr/>
          <p:nvPr/>
        </p:nvSpPr>
        <p:spPr>
          <a:xfrm>
            <a:off x="8677656" y="1783080"/>
            <a:ext cx="320040" cy="320040"/>
          </a:xfrm>
          <a:prstGeom prst="rightArrow">
            <a:avLst/>
          </a:prstGeom>
          <a:solidFill>
            <a:srgbClr val="B8C4CE"/>
          </a:solidFill>
          <a:ln w="12700">
            <a:solidFill>
              <a:srgbClr val="B8C4CE"/>
            </a:solidFill>
            <a:prstDash val="solid"/>
          </a:ln>
        </p:spPr>
      </p:sp>
      <p:sp>
        <p:nvSpPr>
          <p:cNvPr id="15" name="Text 13"/>
          <p:cNvSpPr txBox="1"/>
          <p:nvPr/>
        </p:nvSpPr>
        <p:spPr>
          <a:xfrm>
            <a:off x="6300216" y="251460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2  ·  Group B</a:t>
            </a:r>
            <a:endParaRPr lang="en-US" sz="1200" dirty="0"/>
          </a:p>
        </p:txBody>
      </p:sp>
      <p:sp>
        <p:nvSpPr>
          <p:cNvPr id="16" name="Shape 14"/>
          <p:cNvSpPr/>
          <p:nvPr/>
        </p:nvSpPr>
        <p:spPr>
          <a:xfrm>
            <a:off x="9043416" y="1463040"/>
            <a:ext cx="2331720" cy="960120"/>
          </a:xfrm>
          <a:prstGeom prst="roundRect">
            <a:avLst>
              <a:gd name="adj" fmla="val 11429"/>
            </a:avLst>
          </a:prstGeom>
          <a:solidFill>
            <a:srgbClr val="1D6F9E"/>
          </a:solidFill>
          <a:ln w="12700">
            <a:solidFill>
              <a:srgbClr val="1D6F9E"/>
            </a:solidFill>
            <a:prstDash val="solid"/>
          </a:ln>
        </p:spPr>
      </p:sp>
      <p:sp>
        <p:nvSpPr>
          <p:cNvPr id="17" name="Text 15"/>
          <p:cNvSpPr txBox="1"/>
          <p:nvPr/>
        </p:nvSpPr>
        <p:spPr>
          <a:xfrm>
            <a:off x="9043416" y="146304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Null models · assembly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extinction</a:t>
            </a:r>
            <a:endParaRPr lang="en-US" sz="1300" dirty="0"/>
          </a:p>
        </p:txBody>
      </p:sp>
      <p:sp>
        <p:nvSpPr>
          <p:cNvPr id="18" name="Text 16"/>
          <p:cNvSpPr txBox="1"/>
          <p:nvPr/>
        </p:nvSpPr>
        <p:spPr>
          <a:xfrm>
            <a:off x="9043416" y="2514600"/>
            <a:ext cx="2331720" cy="320040"/>
          </a:xfrm>
          <a:prstGeom prst="rect">
            <a:avLst/>
          </a:prstGeom>
          <a:noFill/>
          <a:ln/>
        </p:spPr>
        <p:txBody>
          <a:bodyPr wrap="square" lIns="0" tIns="0" rIns="0" bIns="0" rtlCol="0" anchor="ctr"/>
          <a:lstStyle/>
          <a:p>
            <a:pPr algn="ctr" indent="0" marL="0">
              <a:buNone/>
            </a:pPr>
            <a:r>
              <a:rPr lang="en-US" sz="1200" dirty="0">
                <a:solidFill>
                  <a:srgbClr val="6B6B6B"/>
                </a:solidFill>
                <a:latin typeface="Calibri" pitchFamily="34" charset="0"/>
                <a:ea typeface="Calibri" pitchFamily="34" charset="-122"/>
                <a:cs typeface="Calibri" pitchFamily="34" charset="-120"/>
              </a:rPr>
              <a:t>Block 2  ·  Group C</a:t>
            </a:r>
            <a:endParaRPr lang="en-US" sz="1200" dirty="0"/>
          </a:p>
        </p:txBody>
      </p:sp>
      <p:sp>
        <p:nvSpPr>
          <p:cNvPr id="19" name="Text 17"/>
          <p:cNvSpPr txBox="1"/>
          <p:nvPr/>
        </p:nvSpPr>
        <p:spPr>
          <a:xfrm>
            <a:off x="548640" y="3291840"/>
            <a:ext cx="11091672" cy="914400"/>
          </a:xfrm>
          <a:prstGeom prst="rect">
            <a:avLst/>
          </a:prstGeom>
          <a:noFill/>
          <a:ln/>
        </p:spPr>
        <p:txBody>
          <a:bodyPr wrap="square" lIns="0" tIns="0" rIns="0" bIns="0" rtlCol="0" anchor="ctr"/>
          <a:lstStyle/>
          <a:p>
            <a:pPr algn="ctr" indent="0" marL="0">
              <a:buNone/>
            </a:pPr>
            <a:r>
              <a:rPr lang="en-US" sz="3600" b="1" dirty="0">
                <a:solidFill>
                  <a:srgbClr val="0B3C5D"/>
                </a:solidFill>
                <a:latin typeface="Cambria" pitchFamily="34" charset="0"/>
                <a:ea typeface="Cambria" pitchFamily="34" charset="-122"/>
                <a:cs typeface="Cambria" pitchFamily="34" charset="-120"/>
              </a:rPr>
              <a:t>Observed FRic = 0.42.   So what?</a:t>
            </a:r>
            <a:endParaRPr lang="en-US" sz="3600" dirty="0"/>
          </a:p>
        </p:txBody>
      </p:sp>
      <p:sp>
        <p:nvSpPr>
          <p:cNvPr id="20" name="Shape 18"/>
          <p:cNvSpPr/>
          <p:nvPr/>
        </p:nvSpPr>
        <p:spPr>
          <a:xfrm>
            <a:off x="548640" y="4480560"/>
            <a:ext cx="11091672" cy="914400"/>
          </a:xfrm>
          <a:prstGeom prst="roundRect">
            <a:avLst>
              <a:gd name="adj" fmla="val 8000"/>
            </a:avLst>
          </a:prstGeom>
          <a:solidFill>
            <a:srgbClr val="E8F1F7"/>
          </a:solidFill>
          <a:ln w="12700">
            <a:solidFill>
              <a:srgbClr val="E8F1F7"/>
            </a:solidFill>
            <a:prstDash val="solid"/>
          </a:ln>
        </p:spPr>
      </p:sp>
      <p:sp>
        <p:nvSpPr>
          <p:cNvPr id="21" name="Text 19"/>
          <p:cNvSpPr txBox="1"/>
          <p:nvPr/>
        </p:nvSpPr>
        <p:spPr>
          <a:xfrm>
            <a:off x="685800" y="4480560"/>
            <a:ext cx="10817352" cy="91440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A value has no meaning by itself. Only the comparison with an expectation gives it one: this is the logic of null models — and the heart of Group C’s exercise.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Assembly processes and their expected signatures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25</a:t>
            </a:r>
            <a:endParaRPr lang="en-US" sz="1000" dirty="0"/>
          </a:p>
        </p:txBody>
      </p:sp>
      <p:sp>
        <p:nvSpPr>
          <p:cNvPr id="5" name="Shape 3"/>
          <p:cNvSpPr/>
          <p:nvPr/>
        </p:nvSpPr>
        <p:spPr>
          <a:xfrm>
            <a:off x="548640" y="1737360"/>
            <a:ext cx="5120640" cy="2926080"/>
          </a:xfrm>
          <a:prstGeom prst="rect">
            <a:avLst/>
          </a:prstGeom>
          <a:solidFill>
            <a:srgbClr val="FFFFFF"/>
          </a:solidFill>
          <a:ln w="12700">
            <a:solidFill>
              <a:srgbClr val="BBBBBB"/>
            </a:solidFill>
            <a:prstDash val="solid"/>
          </a:ln>
        </p:spPr>
      </p:sp>
      <p:sp>
        <p:nvSpPr>
          <p:cNvPr id="6" name="Shape 4"/>
          <p:cNvSpPr/>
          <p:nvPr/>
        </p:nvSpPr>
        <p:spPr>
          <a:xfrm>
            <a:off x="1024597" y="2541195"/>
            <a:ext cx="100584" cy="100584"/>
          </a:xfrm>
          <a:prstGeom prst="ellipse">
            <a:avLst/>
          </a:prstGeom>
          <a:solidFill>
            <a:srgbClr val="C9D1D9"/>
          </a:solidFill>
          <a:ln w="12700">
            <a:solidFill>
              <a:srgbClr val="C9D1D9"/>
            </a:solidFill>
            <a:prstDash val="solid"/>
          </a:ln>
        </p:spPr>
      </p:sp>
      <p:sp>
        <p:nvSpPr>
          <p:cNvPr id="7" name="Shape 5"/>
          <p:cNvSpPr/>
          <p:nvPr/>
        </p:nvSpPr>
        <p:spPr>
          <a:xfrm>
            <a:off x="1945108" y="2517508"/>
            <a:ext cx="100584" cy="100584"/>
          </a:xfrm>
          <a:prstGeom prst="ellipse">
            <a:avLst/>
          </a:prstGeom>
          <a:solidFill>
            <a:srgbClr val="C9D1D9"/>
          </a:solidFill>
          <a:ln w="12700">
            <a:solidFill>
              <a:srgbClr val="C9D1D9"/>
            </a:solidFill>
            <a:prstDash val="solid"/>
          </a:ln>
        </p:spPr>
      </p:sp>
      <p:sp>
        <p:nvSpPr>
          <p:cNvPr id="8" name="Shape 6"/>
          <p:cNvSpPr/>
          <p:nvPr/>
        </p:nvSpPr>
        <p:spPr>
          <a:xfrm>
            <a:off x="3917984" y="2872645"/>
            <a:ext cx="100584" cy="100584"/>
          </a:xfrm>
          <a:prstGeom prst="ellipse">
            <a:avLst/>
          </a:prstGeom>
          <a:solidFill>
            <a:srgbClr val="C9D1D9"/>
          </a:solidFill>
          <a:ln w="12700">
            <a:solidFill>
              <a:srgbClr val="C9D1D9"/>
            </a:solidFill>
            <a:prstDash val="solid"/>
          </a:ln>
        </p:spPr>
      </p:sp>
      <p:sp>
        <p:nvSpPr>
          <p:cNvPr id="9" name="Shape 7"/>
          <p:cNvSpPr/>
          <p:nvPr/>
        </p:nvSpPr>
        <p:spPr>
          <a:xfrm>
            <a:off x="2993378" y="4305977"/>
            <a:ext cx="100584" cy="100584"/>
          </a:xfrm>
          <a:prstGeom prst="ellipse">
            <a:avLst/>
          </a:prstGeom>
          <a:solidFill>
            <a:srgbClr val="C9D1D9"/>
          </a:solidFill>
          <a:ln w="12700">
            <a:solidFill>
              <a:srgbClr val="C9D1D9"/>
            </a:solidFill>
            <a:prstDash val="solid"/>
          </a:ln>
        </p:spPr>
      </p:sp>
      <p:sp>
        <p:nvSpPr>
          <p:cNvPr id="10" name="Shape 8"/>
          <p:cNvSpPr/>
          <p:nvPr/>
        </p:nvSpPr>
        <p:spPr>
          <a:xfrm>
            <a:off x="4567560" y="2271603"/>
            <a:ext cx="100584" cy="100584"/>
          </a:xfrm>
          <a:prstGeom prst="ellipse">
            <a:avLst/>
          </a:prstGeom>
          <a:solidFill>
            <a:srgbClr val="C9D1D9"/>
          </a:solidFill>
          <a:ln w="12700">
            <a:solidFill>
              <a:srgbClr val="C9D1D9"/>
            </a:solidFill>
            <a:prstDash val="solid"/>
          </a:ln>
        </p:spPr>
      </p:sp>
      <p:sp>
        <p:nvSpPr>
          <p:cNvPr id="11" name="Shape 9"/>
          <p:cNvSpPr/>
          <p:nvPr/>
        </p:nvSpPr>
        <p:spPr>
          <a:xfrm>
            <a:off x="2854840" y="4430795"/>
            <a:ext cx="100584" cy="100584"/>
          </a:xfrm>
          <a:prstGeom prst="ellipse">
            <a:avLst/>
          </a:prstGeom>
          <a:solidFill>
            <a:srgbClr val="C9D1D9"/>
          </a:solidFill>
          <a:ln w="12700">
            <a:solidFill>
              <a:srgbClr val="C9D1D9"/>
            </a:solidFill>
            <a:prstDash val="solid"/>
          </a:ln>
        </p:spPr>
      </p:sp>
      <p:sp>
        <p:nvSpPr>
          <p:cNvPr id="12" name="Shape 10"/>
          <p:cNvSpPr/>
          <p:nvPr/>
        </p:nvSpPr>
        <p:spPr>
          <a:xfrm>
            <a:off x="3919065" y="3471966"/>
            <a:ext cx="100584" cy="100584"/>
          </a:xfrm>
          <a:prstGeom prst="ellipse">
            <a:avLst/>
          </a:prstGeom>
          <a:solidFill>
            <a:srgbClr val="C9D1D9"/>
          </a:solidFill>
          <a:ln w="12700">
            <a:solidFill>
              <a:srgbClr val="C9D1D9"/>
            </a:solidFill>
            <a:prstDash val="solid"/>
          </a:ln>
        </p:spPr>
      </p:sp>
      <p:sp>
        <p:nvSpPr>
          <p:cNvPr id="13" name="Shape 11"/>
          <p:cNvSpPr/>
          <p:nvPr/>
        </p:nvSpPr>
        <p:spPr>
          <a:xfrm>
            <a:off x="2141441" y="3146278"/>
            <a:ext cx="100584" cy="100584"/>
          </a:xfrm>
          <a:prstGeom prst="ellipse">
            <a:avLst/>
          </a:prstGeom>
          <a:solidFill>
            <a:srgbClr val="C9D1D9"/>
          </a:solidFill>
          <a:ln w="12700">
            <a:solidFill>
              <a:srgbClr val="C9D1D9"/>
            </a:solidFill>
            <a:prstDash val="solid"/>
          </a:ln>
        </p:spPr>
      </p:sp>
      <p:sp>
        <p:nvSpPr>
          <p:cNvPr id="14" name="Shape 12"/>
          <p:cNvSpPr/>
          <p:nvPr/>
        </p:nvSpPr>
        <p:spPr>
          <a:xfrm>
            <a:off x="4754081" y="2245730"/>
            <a:ext cx="100584" cy="100584"/>
          </a:xfrm>
          <a:prstGeom prst="ellipse">
            <a:avLst/>
          </a:prstGeom>
          <a:solidFill>
            <a:srgbClr val="C9D1D9"/>
          </a:solidFill>
          <a:ln w="12700">
            <a:solidFill>
              <a:srgbClr val="C9D1D9"/>
            </a:solidFill>
            <a:prstDash val="solid"/>
          </a:ln>
        </p:spPr>
      </p:sp>
      <p:sp>
        <p:nvSpPr>
          <p:cNvPr id="15" name="Shape 13"/>
          <p:cNvSpPr/>
          <p:nvPr/>
        </p:nvSpPr>
        <p:spPr>
          <a:xfrm>
            <a:off x="5303714" y="3472429"/>
            <a:ext cx="100584" cy="100584"/>
          </a:xfrm>
          <a:prstGeom prst="ellipse">
            <a:avLst/>
          </a:prstGeom>
          <a:solidFill>
            <a:srgbClr val="C9D1D9"/>
          </a:solidFill>
          <a:ln w="12700">
            <a:solidFill>
              <a:srgbClr val="C9D1D9"/>
            </a:solidFill>
            <a:prstDash val="solid"/>
          </a:ln>
        </p:spPr>
      </p:sp>
      <p:sp>
        <p:nvSpPr>
          <p:cNvPr id="16" name="Shape 14"/>
          <p:cNvSpPr/>
          <p:nvPr/>
        </p:nvSpPr>
        <p:spPr>
          <a:xfrm>
            <a:off x="5181131" y="3424900"/>
            <a:ext cx="100584" cy="100584"/>
          </a:xfrm>
          <a:prstGeom prst="ellipse">
            <a:avLst/>
          </a:prstGeom>
          <a:solidFill>
            <a:srgbClr val="C9D1D9"/>
          </a:solidFill>
          <a:ln w="12700">
            <a:solidFill>
              <a:srgbClr val="C9D1D9"/>
            </a:solidFill>
            <a:prstDash val="solid"/>
          </a:ln>
        </p:spPr>
      </p:sp>
      <p:sp>
        <p:nvSpPr>
          <p:cNvPr id="17" name="Shape 15"/>
          <p:cNvSpPr/>
          <p:nvPr/>
        </p:nvSpPr>
        <p:spPr>
          <a:xfrm>
            <a:off x="2105435" y="2325667"/>
            <a:ext cx="100584" cy="100584"/>
          </a:xfrm>
          <a:prstGeom prst="ellipse">
            <a:avLst/>
          </a:prstGeom>
          <a:solidFill>
            <a:srgbClr val="C9D1D9"/>
          </a:solidFill>
          <a:ln w="12700">
            <a:solidFill>
              <a:srgbClr val="C9D1D9"/>
            </a:solidFill>
            <a:prstDash val="solid"/>
          </a:ln>
        </p:spPr>
      </p:sp>
      <p:sp>
        <p:nvSpPr>
          <p:cNvPr id="18" name="Shape 16"/>
          <p:cNvSpPr/>
          <p:nvPr/>
        </p:nvSpPr>
        <p:spPr>
          <a:xfrm>
            <a:off x="4143215" y="2590734"/>
            <a:ext cx="100584" cy="100584"/>
          </a:xfrm>
          <a:prstGeom prst="ellipse">
            <a:avLst/>
          </a:prstGeom>
          <a:solidFill>
            <a:srgbClr val="C9D1D9"/>
          </a:solidFill>
          <a:ln w="12700">
            <a:solidFill>
              <a:srgbClr val="C9D1D9"/>
            </a:solidFill>
            <a:prstDash val="solid"/>
          </a:ln>
        </p:spPr>
      </p:sp>
      <p:sp>
        <p:nvSpPr>
          <p:cNvPr id="19" name="Shape 17"/>
          <p:cNvSpPr/>
          <p:nvPr/>
        </p:nvSpPr>
        <p:spPr>
          <a:xfrm>
            <a:off x="1670195" y="3965785"/>
            <a:ext cx="100584" cy="100584"/>
          </a:xfrm>
          <a:prstGeom prst="ellipse">
            <a:avLst/>
          </a:prstGeom>
          <a:solidFill>
            <a:srgbClr val="C9D1D9"/>
          </a:solidFill>
          <a:ln w="12700">
            <a:solidFill>
              <a:srgbClr val="C9D1D9"/>
            </a:solidFill>
            <a:prstDash val="solid"/>
          </a:ln>
        </p:spPr>
      </p:sp>
      <p:sp>
        <p:nvSpPr>
          <p:cNvPr id="20" name="Shape 18"/>
          <p:cNvSpPr/>
          <p:nvPr/>
        </p:nvSpPr>
        <p:spPr>
          <a:xfrm>
            <a:off x="917120" y="2953973"/>
            <a:ext cx="100584" cy="100584"/>
          </a:xfrm>
          <a:prstGeom prst="ellipse">
            <a:avLst/>
          </a:prstGeom>
          <a:solidFill>
            <a:srgbClr val="C9D1D9"/>
          </a:solidFill>
          <a:ln w="12700">
            <a:solidFill>
              <a:srgbClr val="C9D1D9"/>
            </a:solidFill>
            <a:prstDash val="solid"/>
          </a:ln>
        </p:spPr>
      </p:sp>
      <p:sp>
        <p:nvSpPr>
          <p:cNvPr id="21" name="Shape 19"/>
          <p:cNvSpPr/>
          <p:nvPr/>
        </p:nvSpPr>
        <p:spPr>
          <a:xfrm>
            <a:off x="1939622" y="4260147"/>
            <a:ext cx="100584" cy="100584"/>
          </a:xfrm>
          <a:prstGeom prst="ellipse">
            <a:avLst/>
          </a:prstGeom>
          <a:solidFill>
            <a:srgbClr val="C9D1D9"/>
          </a:solidFill>
          <a:ln w="12700">
            <a:solidFill>
              <a:srgbClr val="C9D1D9"/>
            </a:solidFill>
            <a:prstDash val="solid"/>
          </a:ln>
        </p:spPr>
      </p:sp>
      <p:sp>
        <p:nvSpPr>
          <p:cNvPr id="22" name="Shape 20"/>
          <p:cNvSpPr/>
          <p:nvPr/>
        </p:nvSpPr>
        <p:spPr>
          <a:xfrm>
            <a:off x="2123013" y="3052300"/>
            <a:ext cx="100584" cy="100584"/>
          </a:xfrm>
          <a:prstGeom prst="ellipse">
            <a:avLst/>
          </a:prstGeom>
          <a:solidFill>
            <a:srgbClr val="C9D1D9"/>
          </a:solidFill>
          <a:ln w="12700">
            <a:solidFill>
              <a:srgbClr val="C9D1D9"/>
            </a:solidFill>
            <a:prstDash val="solid"/>
          </a:ln>
        </p:spPr>
      </p:sp>
      <p:sp>
        <p:nvSpPr>
          <p:cNvPr id="23" name="Shape 21"/>
          <p:cNvSpPr/>
          <p:nvPr/>
        </p:nvSpPr>
        <p:spPr>
          <a:xfrm>
            <a:off x="2691190" y="2414015"/>
            <a:ext cx="100584" cy="100584"/>
          </a:xfrm>
          <a:prstGeom prst="ellipse">
            <a:avLst/>
          </a:prstGeom>
          <a:solidFill>
            <a:srgbClr val="C9D1D9"/>
          </a:solidFill>
          <a:ln w="12700">
            <a:solidFill>
              <a:srgbClr val="C9D1D9"/>
            </a:solidFill>
            <a:prstDash val="solid"/>
          </a:ln>
        </p:spPr>
      </p:sp>
      <p:sp>
        <p:nvSpPr>
          <p:cNvPr id="24" name="Shape 22"/>
          <p:cNvSpPr/>
          <p:nvPr/>
        </p:nvSpPr>
        <p:spPr>
          <a:xfrm>
            <a:off x="4701154" y="4189084"/>
            <a:ext cx="100584" cy="100584"/>
          </a:xfrm>
          <a:prstGeom prst="ellipse">
            <a:avLst/>
          </a:prstGeom>
          <a:solidFill>
            <a:srgbClr val="C9D1D9"/>
          </a:solidFill>
          <a:ln w="12700">
            <a:solidFill>
              <a:srgbClr val="C9D1D9"/>
            </a:solidFill>
            <a:prstDash val="solid"/>
          </a:ln>
        </p:spPr>
      </p:sp>
      <p:sp>
        <p:nvSpPr>
          <p:cNvPr id="25" name="Shape 23"/>
          <p:cNvSpPr/>
          <p:nvPr/>
        </p:nvSpPr>
        <p:spPr>
          <a:xfrm>
            <a:off x="3535478" y="4117712"/>
            <a:ext cx="100584" cy="100584"/>
          </a:xfrm>
          <a:prstGeom prst="ellipse">
            <a:avLst/>
          </a:prstGeom>
          <a:solidFill>
            <a:srgbClr val="C9D1D9"/>
          </a:solidFill>
          <a:ln w="12700">
            <a:solidFill>
              <a:srgbClr val="C9D1D9"/>
            </a:solidFill>
            <a:prstDash val="solid"/>
          </a:ln>
        </p:spPr>
      </p:sp>
      <p:sp>
        <p:nvSpPr>
          <p:cNvPr id="26" name="Shape 24"/>
          <p:cNvSpPr/>
          <p:nvPr/>
        </p:nvSpPr>
        <p:spPr>
          <a:xfrm>
            <a:off x="4423536" y="4139060"/>
            <a:ext cx="100584" cy="100584"/>
          </a:xfrm>
          <a:prstGeom prst="ellipse">
            <a:avLst/>
          </a:prstGeom>
          <a:solidFill>
            <a:srgbClr val="C9D1D9"/>
          </a:solidFill>
          <a:ln w="12700">
            <a:solidFill>
              <a:srgbClr val="C9D1D9"/>
            </a:solidFill>
            <a:prstDash val="solid"/>
          </a:ln>
        </p:spPr>
      </p:sp>
      <p:sp>
        <p:nvSpPr>
          <p:cNvPr id="27" name="Shape 25"/>
          <p:cNvSpPr/>
          <p:nvPr/>
        </p:nvSpPr>
        <p:spPr>
          <a:xfrm>
            <a:off x="4917538" y="3235862"/>
            <a:ext cx="100584" cy="100584"/>
          </a:xfrm>
          <a:prstGeom prst="ellipse">
            <a:avLst/>
          </a:prstGeom>
          <a:solidFill>
            <a:srgbClr val="C9D1D9"/>
          </a:solidFill>
          <a:ln w="12700">
            <a:solidFill>
              <a:srgbClr val="C9D1D9"/>
            </a:solidFill>
            <a:prstDash val="solid"/>
          </a:ln>
        </p:spPr>
      </p:sp>
      <p:sp>
        <p:nvSpPr>
          <p:cNvPr id="28" name="Shape 26"/>
          <p:cNvSpPr/>
          <p:nvPr/>
        </p:nvSpPr>
        <p:spPr>
          <a:xfrm>
            <a:off x="2903479" y="2870438"/>
            <a:ext cx="100584" cy="100584"/>
          </a:xfrm>
          <a:prstGeom prst="ellipse">
            <a:avLst/>
          </a:prstGeom>
          <a:solidFill>
            <a:srgbClr val="C9D1D9"/>
          </a:solidFill>
          <a:ln w="12700">
            <a:solidFill>
              <a:srgbClr val="C9D1D9"/>
            </a:solidFill>
            <a:prstDash val="solid"/>
          </a:ln>
        </p:spPr>
      </p:sp>
      <p:sp>
        <p:nvSpPr>
          <p:cNvPr id="29" name="Shape 27"/>
          <p:cNvSpPr/>
          <p:nvPr/>
        </p:nvSpPr>
        <p:spPr>
          <a:xfrm>
            <a:off x="3110050" y="3837523"/>
            <a:ext cx="100584" cy="100584"/>
          </a:xfrm>
          <a:prstGeom prst="ellipse">
            <a:avLst/>
          </a:prstGeom>
          <a:solidFill>
            <a:srgbClr val="C9D1D9"/>
          </a:solidFill>
          <a:ln w="12700">
            <a:solidFill>
              <a:srgbClr val="C9D1D9"/>
            </a:solidFill>
            <a:prstDash val="solid"/>
          </a:ln>
        </p:spPr>
      </p:sp>
      <p:sp>
        <p:nvSpPr>
          <p:cNvPr id="30" name="Shape 28"/>
          <p:cNvSpPr/>
          <p:nvPr/>
        </p:nvSpPr>
        <p:spPr>
          <a:xfrm>
            <a:off x="4090828" y="2258799"/>
            <a:ext cx="100584" cy="100584"/>
          </a:xfrm>
          <a:prstGeom prst="ellipse">
            <a:avLst/>
          </a:prstGeom>
          <a:solidFill>
            <a:srgbClr val="C9D1D9"/>
          </a:solidFill>
          <a:ln w="12700">
            <a:solidFill>
              <a:srgbClr val="C9D1D9"/>
            </a:solidFill>
            <a:prstDash val="solid"/>
          </a:ln>
        </p:spPr>
      </p:sp>
      <p:sp>
        <p:nvSpPr>
          <p:cNvPr id="31" name="Shape 29"/>
          <p:cNvSpPr/>
          <p:nvPr/>
        </p:nvSpPr>
        <p:spPr>
          <a:xfrm>
            <a:off x="1729072" y="2743743"/>
            <a:ext cx="100584" cy="100584"/>
          </a:xfrm>
          <a:prstGeom prst="ellipse">
            <a:avLst/>
          </a:prstGeom>
          <a:solidFill>
            <a:srgbClr val="C9D1D9"/>
          </a:solidFill>
          <a:ln w="12700">
            <a:solidFill>
              <a:srgbClr val="C9D1D9"/>
            </a:solidFill>
            <a:prstDash val="solid"/>
          </a:ln>
        </p:spPr>
      </p:sp>
      <p:sp>
        <p:nvSpPr>
          <p:cNvPr id="32" name="Shape 30"/>
          <p:cNvSpPr/>
          <p:nvPr/>
        </p:nvSpPr>
        <p:spPr>
          <a:xfrm>
            <a:off x="4758949" y="2367722"/>
            <a:ext cx="100584" cy="100584"/>
          </a:xfrm>
          <a:prstGeom prst="ellipse">
            <a:avLst/>
          </a:prstGeom>
          <a:solidFill>
            <a:srgbClr val="C9D1D9"/>
          </a:solidFill>
          <a:ln w="12700">
            <a:solidFill>
              <a:srgbClr val="C9D1D9"/>
            </a:solidFill>
            <a:prstDash val="solid"/>
          </a:ln>
        </p:spPr>
      </p:sp>
      <p:sp>
        <p:nvSpPr>
          <p:cNvPr id="33" name="Shape 31"/>
          <p:cNvSpPr/>
          <p:nvPr/>
        </p:nvSpPr>
        <p:spPr>
          <a:xfrm>
            <a:off x="3723080" y="2116209"/>
            <a:ext cx="100584" cy="100584"/>
          </a:xfrm>
          <a:prstGeom prst="ellipse">
            <a:avLst/>
          </a:prstGeom>
          <a:solidFill>
            <a:srgbClr val="C9D1D9"/>
          </a:solidFill>
          <a:ln w="12700">
            <a:solidFill>
              <a:srgbClr val="C9D1D9"/>
            </a:solidFill>
            <a:prstDash val="solid"/>
          </a:ln>
        </p:spPr>
      </p:sp>
      <p:sp>
        <p:nvSpPr>
          <p:cNvPr id="34" name="Shape 32"/>
          <p:cNvSpPr/>
          <p:nvPr/>
        </p:nvSpPr>
        <p:spPr>
          <a:xfrm>
            <a:off x="1514310" y="2020995"/>
            <a:ext cx="100584" cy="100584"/>
          </a:xfrm>
          <a:prstGeom prst="ellipse">
            <a:avLst/>
          </a:prstGeom>
          <a:solidFill>
            <a:srgbClr val="C9D1D9"/>
          </a:solidFill>
          <a:ln w="12700">
            <a:solidFill>
              <a:srgbClr val="C9D1D9"/>
            </a:solidFill>
            <a:prstDash val="solid"/>
          </a:ln>
        </p:spPr>
      </p:sp>
      <p:sp>
        <p:nvSpPr>
          <p:cNvPr id="35" name="Shape 33"/>
          <p:cNvSpPr/>
          <p:nvPr/>
        </p:nvSpPr>
        <p:spPr>
          <a:xfrm>
            <a:off x="1859961" y="3162923"/>
            <a:ext cx="100584" cy="100584"/>
          </a:xfrm>
          <a:prstGeom prst="ellipse">
            <a:avLst/>
          </a:prstGeom>
          <a:solidFill>
            <a:srgbClr val="C9D1D9"/>
          </a:solidFill>
          <a:ln w="12700">
            <a:solidFill>
              <a:srgbClr val="C9D1D9"/>
            </a:solidFill>
            <a:prstDash val="solid"/>
          </a:ln>
        </p:spPr>
      </p:sp>
      <p:sp>
        <p:nvSpPr>
          <p:cNvPr id="36" name="Shape 34"/>
          <p:cNvSpPr/>
          <p:nvPr/>
        </p:nvSpPr>
        <p:spPr>
          <a:xfrm>
            <a:off x="3316267" y="2887209"/>
            <a:ext cx="100584" cy="100584"/>
          </a:xfrm>
          <a:prstGeom prst="ellipse">
            <a:avLst/>
          </a:prstGeom>
          <a:solidFill>
            <a:srgbClr val="D9822B"/>
          </a:solidFill>
          <a:ln w="12700">
            <a:solidFill>
              <a:srgbClr val="D9822B"/>
            </a:solidFill>
            <a:prstDash val="solid"/>
          </a:ln>
        </p:spPr>
      </p:sp>
      <p:sp>
        <p:nvSpPr>
          <p:cNvPr id="37" name="Shape 35"/>
          <p:cNvSpPr/>
          <p:nvPr/>
        </p:nvSpPr>
        <p:spPr>
          <a:xfrm>
            <a:off x="4322312" y="3047112"/>
            <a:ext cx="100584" cy="100584"/>
          </a:xfrm>
          <a:prstGeom prst="ellipse">
            <a:avLst/>
          </a:prstGeom>
          <a:solidFill>
            <a:srgbClr val="D9822B"/>
          </a:solidFill>
          <a:ln w="12700">
            <a:solidFill>
              <a:srgbClr val="D9822B"/>
            </a:solidFill>
            <a:prstDash val="solid"/>
          </a:ln>
        </p:spPr>
      </p:sp>
      <p:sp>
        <p:nvSpPr>
          <p:cNvPr id="38" name="Shape 36"/>
          <p:cNvSpPr/>
          <p:nvPr/>
        </p:nvSpPr>
        <p:spPr>
          <a:xfrm>
            <a:off x="4719886" y="2295776"/>
            <a:ext cx="100584" cy="100584"/>
          </a:xfrm>
          <a:prstGeom prst="ellipse">
            <a:avLst/>
          </a:prstGeom>
          <a:solidFill>
            <a:srgbClr val="D9822B"/>
          </a:solidFill>
          <a:ln w="12700">
            <a:solidFill>
              <a:srgbClr val="D9822B"/>
            </a:solidFill>
            <a:prstDash val="solid"/>
          </a:ln>
        </p:spPr>
      </p:sp>
      <p:sp>
        <p:nvSpPr>
          <p:cNvPr id="39" name="Shape 37"/>
          <p:cNvSpPr/>
          <p:nvPr/>
        </p:nvSpPr>
        <p:spPr>
          <a:xfrm>
            <a:off x="3503827" y="2529735"/>
            <a:ext cx="100584" cy="100584"/>
          </a:xfrm>
          <a:prstGeom prst="ellipse">
            <a:avLst/>
          </a:prstGeom>
          <a:solidFill>
            <a:srgbClr val="D9822B"/>
          </a:solidFill>
          <a:ln w="12700">
            <a:solidFill>
              <a:srgbClr val="D9822B"/>
            </a:solidFill>
            <a:prstDash val="solid"/>
          </a:ln>
        </p:spPr>
      </p:sp>
      <p:sp>
        <p:nvSpPr>
          <p:cNvPr id="40" name="Shape 38"/>
          <p:cNvSpPr/>
          <p:nvPr/>
        </p:nvSpPr>
        <p:spPr>
          <a:xfrm>
            <a:off x="3367210" y="2394321"/>
            <a:ext cx="100584" cy="100584"/>
          </a:xfrm>
          <a:prstGeom prst="ellipse">
            <a:avLst/>
          </a:prstGeom>
          <a:solidFill>
            <a:srgbClr val="D9822B"/>
          </a:solidFill>
          <a:ln w="12700">
            <a:solidFill>
              <a:srgbClr val="D9822B"/>
            </a:solidFill>
            <a:prstDash val="solid"/>
          </a:ln>
        </p:spPr>
      </p:sp>
      <p:sp>
        <p:nvSpPr>
          <p:cNvPr id="41" name="Shape 39"/>
          <p:cNvSpPr/>
          <p:nvPr/>
        </p:nvSpPr>
        <p:spPr>
          <a:xfrm>
            <a:off x="3703147" y="2355540"/>
            <a:ext cx="100584" cy="100584"/>
          </a:xfrm>
          <a:prstGeom prst="ellipse">
            <a:avLst/>
          </a:prstGeom>
          <a:solidFill>
            <a:srgbClr val="D9822B"/>
          </a:solidFill>
          <a:ln w="12700">
            <a:solidFill>
              <a:srgbClr val="D9822B"/>
            </a:solidFill>
            <a:prstDash val="solid"/>
          </a:ln>
        </p:spPr>
      </p:sp>
      <p:sp>
        <p:nvSpPr>
          <p:cNvPr id="42" name="Shape 40"/>
          <p:cNvSpPr/>
          <p:nvPr/>
        </p:nvSpPr>
        <p:spPr>
          <a:xfrm>
            <a:off x="3847850" y="2456741"/>
            <a:ext cx="100584" cy="100584"/>
          </a:xfrm>
          <a:prstGeom prst="ellipse">
            <a:avLst/>
          </a:prstGeom>
          <a:solidFill>
            <a:srgbClr val="D9822B"/>
          </a:solidFill>
          <a:ln w="12700">
            <a:solidFill>
              <a:srgbClr val="D9822B"/>
            </a:solidFill>
            <a:prstDash val="solid"/>
          </a:ln>
        </p:spPr>
      </p:sp>
      <p:sp>
        <p:nvSpPr>
          <p:cNvPr id="43" name="Shape 41"/>
          <p:cNvSpPr/>
          <p:nvPr/>
        </p:nvSpPr>
        <p:spPr>
          <a:xfrm>
            <a:off x="4275452" y="2416153"/>
            <a:ext cx="100584" cy="100584"/>
          </a:xfrm>
          <a:prstGeom prst="ellipse">
            <a:avLst/>
          </a:prstGeom>
          <a:solidFill>
            <a:srgbClr val="D9822B"/>
          </a:solidFill>
          <a:ln w="12700">
            <a:solidFill>
              <a:srgbClr val="D9822B"/>
            </a:solidFill>
            <a:prstDash val="solid"/>
          </a:ln>
        </p:spPr>
      </p:sp>
      <p:sp>
        <p:nvSpPr>
          <p:cNvPr id="44" name="Shape 42"/>
          <p:cNvSpPr/>
          <p:nvPr/>
        </p:nvSpPr>
        <p:spPr>
          <a:xfrm>
            <a:off x="6492240" y="1737360"/>
            <a:ext cx="5120640" cy="2926080"/>
          </a:xfrm>
          <a:prstGeom prst="rect">
            <a:avLst/>
          </a:prstGeom>
          <a:solidFill>
            <a:srgbClr val="FFFFFF"/>
          </a:solidFill>
          <a:ln w="12700">
            <a:solidFill>
              <a:srgbClr val="BBBBBB"/>
            </a:solidFill>
            <a:prstDash val="solid"/>
          </a:ln>
        </p:spPr>
      </p:sp>
      <p:sp>
        <p:nvSpPr>
          <p:cNvPr id="45" name="Shape 43"/>
          <p:cNvSpPr/>
          <p:nvPr/>
        </p:nvSpPr>
        <p:spPr>
          <a:xfrm>
            <a:off x="6968197" y="2541195"/>
            <a:ext cx="100584" cy="100584"/>
          </a:xfrm>
          <a:prstGeom prst="ellipse">
            <a:avLst/>
          </a:prstGeom>
          <a:solidFill>
            <a:srgbClr val="C9D1D9"/>
          </a:solidFill>
          <a:ln w="12700">
            <a:solidFill>
              <a:srgbClr val="C9D1D9"/>
            </a:solidFill>
            <a:prstDash val="solid"/>
          </a:ln>
        </p:spPr>
      </p:sp>
      <p:sp>
        <p:nvSpPr>
          <p:cNvPr id="46" name="Shape 44"/>
          <p:cNvSpPr/>
          <p:nvPr/>
        </p:nvSpPr>
        <p:spPr>
          <a:xfrm>
            <a:off x="7888708" y="2517508"/>
            <a:ext cx="100584" cy="100584"/>
          </a:xfrm>
          <a:prstGeom prst="ellipse">
            <a:avLst/>
          </a:prstGeom>
          <a:solidFill>
            <a:srgbClr val="C9D1D9"/>
          </a:solidFill>
          <a:ln w="12700">
            <a:solidFill>
              <a:srgbClr val="C9D1D9"/>
            </a:solidFill>
            <a:prstDash val="solid"/>
          </a:ln>
        </p:spPr>
      </p:sp>
      <p:sp>
        <p:nvSpPr>
          <p:cNvPr id="47" name="Shape 45"/>
          <p:cNvSpPr/>
          <p:nvPr/>
        </p:nvSpPr>
        <p:spPr>
          <a:xfrm>
            <a:off x="9861584" y="2872645"/>
            <a:ext cx="100584" cy="100584"/>
          </a:xfrm>
          <a:prstGeom prst="ellipse">
            <a:avLst/>
          </a:prstGeom>
          <a:solidFill>
            <a:srgbClr val="C9D1D9"/>
          </a:solidFill>
          <a:ln w="12700">
            <a:solidFill>
              <a:srgbClr val="C9D1D9"/>
            </a:solidFill>
            <a:prstDash val="solid"/>
          </a:ln>
        </p:spPr>
      </p:sp>
      <p:sp>
        <p:nvSpPr>
          <p:cNvPr id="48" name="Shape 46"/>
          <p:cNvSpPr/>
          <p:nvPr/>
        </p:nvSpPr>
        <p:spPr>
          <a:xfrm>
            <a:off x="8936978" y="4305977"/>
            <a:ext cx="100584" cy="100584"/>
          </a:xfrm>
          <a:prstGeom prst="ellipse">
            <a:avLst/>
          </a:prstGeom>
          <a:solidFill>
            <a:srgbClr val="C9D1D9"/>
          </a:solidFill>
          <a:ln w="12700">
            <a:solidFill>
              <a:srgbClr val="C9D1D9"/>
            </a:solidFill>
            <a:prstDash val="solid"/>
          </a:ln>
        </p:spPr>
      </p:sp>
      <p:sp>
        <p:nvSpPr>
          <p:cNvPr id="49" name="Shape 47"/>
          <p:cNvSpPr/>
          <p:nvPr/>
        </p:nvSpPr>
        <p:spPr>
          <a:xfrm>
            <a:off x="10511160" y="2271603"/>
            <a:ext cx="100584" cy="100584"/>
          </a:xfrm>
          <a:prstGeom prst="ellipse">
            <a:avLst/>
          </a:prstGeom>
          <a:solidFill>
            <a:srgbClr val="C9D1D9"/>
          </a:solidFill>
          <a:ln w="12700">
            <a:solidFill>
              <a:srgbClr val="C9D1D9"/>
            </a:solidFill>
            <a:prstDash val="solid"/>
          </a:ln>
        </p:spPr>
      </p:sp>
      <p:sp>
        <p:nvSpPr>
          <p:cNvPr id="50" name="Shape 48"/>
          <p:cNvSpPr/>
          <p:nvPr/>
        </p:nvSpPr>
        <p:spPr>
          <a:xfrm>
            <a:off x="8798440" y="4430795"/>
            <a:ext cx="100584" cy="100584"/>
          </a:xfrm>
          <a:prstGeom prst="ellipse">
            <a:avLst/>
          </a:prstGeom>
          <a:solidFill>
            <a:srgbClr val="C9D1D9"/>
          </a:solidFill>
          <a:ln w="12700">
            <a:solidFill>
              <a:srgbClr val="C9D1D9"/>
            </a:solidFill>
            <a:prstDash val="solid"/>
          </a:ln>
        </p:spPr>
      </p:sp>
      <p:sp>
        <p:nvSpPr>
          <p:cNvPr id="51" name="Shape 49"/>
          <p:cNvSpPr/>
          <p:nvPr/>
        </p:nvSpPr>
        <p:spPr>
          <a:xfrm>
            <a:off x="9862665" y="3471966"/>
            <a:ext cx="100584" cy="100584"/>
          </a:xfrm>
          <a:prstGeom prst="ellipse">
            <a:avLst/>
          </a:prstGeom>
          <a:solidFill>
            <a:srgbClr val="C9D1D9"/>
          </a:solidFill>
          <a:ln w="12700">
            <a:solidFill>
              <a:srgbClr val="C9D1D9"/>
            </a:solidFill>
            <a:prstDash val="solid"/>
          </a:ln>
        </p:spPr>
      </p:sp>
      <p:sp>
        <p:nvSpPr>
          <p:cNvPr id="52" name="Shape 50"/>
          <p:cNvSpPr/>
          <p:nvPr/>
        </p:nvSpPr>
        <p:spPr>
          <a:xfrm>
            <a:off x="8085041" y="3146278"/>
            <a:ext cx="100584" cy="100584"/>
          </a:xfrm>
          <a:prstGeom prst="ellipse">
            <a:avLst/>
          </a:prstGeom>
          <a:solidFill>
            <a:srgbClr val="C9D1D9"/>
          </a:solidFill>
          <a:ln w="12700">
            <a:solidFill>
              <a:srgbClr val="C9D1D9"/>
            </a:solidFill>
            <a:prstDash val="solid"/>
          </a:ln>
        </p:spPr>
      </p:sp>
      <p:sp>
        <p:nvSpPr>
          <p:cNvPr id="53" name="Shape 51"/>
          <p:cNvSpPr/>
          <p:nvPr/>
        </p:nvSpPr>
        <p:spPr>
          <a:xfrm>
            <a:off x="10697681" y="2245730"/>
            <a:ext cx="100584" cy="100584"/>
          </a:xfrm>
          <a:prstGeom prst="ellipse">
            <a:avLst/>
          </a:prstGeom>
          <a:solidFill>
            <a:srgbClr val="C9D1D9"/>
          </a:solidFill>
          <a:ln w="12700">
            <a:solidFill>
              <a:srgbClr val="C9D1D9"/>
            </a:solidFill>
            <a:prstDash val="solid"/>
          </a:ln>
        </p:spPr>
      </p:sp>
      <p:sp>
        <p:nvSpPr>
          <p:cNvPr id="54" name="Shape 52"/>
          <p:cNvSpPr/>
          <p:nvPr/>
        </p:nvSpPr>
        <p:spPr>
          <a:xfrm>
            <a:off x="11247314" y="3472429"/>
            <a:ext cx="100584" cy="100584"/>
          </a:xfrm>
          <a:prstGeom prst="ellipse">
            <a:avLst/>
          </a:prstGeom>
          <a:solidFill>
            <a:srgbClr val="C9D1D9"/>
          </a:solidFill>
          <a:ln w="12700">
            <a:solidFill>
              <a:srgbClr val="C9D1D9"/>
            </a:solidFill>
            <a:prstDash val="solid"/>
          </a:ln>
        </p:spPr>
      </p:sp>
      <p:sp>
        <p:nvSpPr>
          <p:cNvPr id="55" name="Shape 53"/>
          <p:cNvSpPr/>
          <p:nvPr/>
        </p:nvSpPr>
        <p:spPr>
          <a:xfrm>
            <a:off x="11124731" y="3424900"/>
            <a:ext cx="100584" cy="100584"/>
          </a:xfrm>
          <a:prstGeom prst="ellipse">
            <a:avLst/>
          </a:prstGeom>
          <a:solidFill>
            <a:srgbClr val="C9D1D9"/>
          </a:solidFill>
          <a:ln w="12700">
            <a:solidFill>
              <a:srgbClr val="C9D1D9"/>
            </a:solidFill>
            <a:prstDash val="solid"/>
          </a:ln>
        </p:spPr>
      </p:sp>
      <p:sp>
        <p:nvSpPr>
          <p:cNvPr id="56" name="Shape 54"/>
          <p:cNvSpPr/>
          <p:nvPr/>
        </p:nvSpPr>
        <p:spPr>
          <a:xfrm>
            <a:off x="8049035" y="2325667"/>
            <a:ext cx="100584" cy="100584"/>
          </a:xfrm>
          <a:prstGeom prst="ellipse">
            <a:avLst/>
          </a:prstGeom>
          <a:solidFill>
            <a:srgbClr val="C9D1D9"/>
          </a:solidFill>
          <a:ln w="12700">
            <a:solidFill>
              <a:srgbClr val="C9D1D9"/>
            </a:solidFill>
            <a:prstDash val="solid"/>
          </a:ln>
        </p:spPr>
      </p:sp>
      <p:sp>
        <p:nvSpPr>
          <p:cNvPr id="57" name="Shape 55"/>
          <p:cNvSpPr/>
          <p:nvPr/>
        </p:nvSpPr>
        <p:spPr>
          <a:xfrm>
            <a:off x="10086815" y="2590734"/>
            <a:ext cx="100584" cy="100584"/>
          </a:xfrm>
          <a:prstGeom prst="ellipse">
            <a:avLst/>
          </a:prstGeom>
          <a:solidFill>
            <a:srgbClr val="C9D1D9"/>
          </a:solidFill>
          <a:ln w="12700">
            <a:solidFill>
              <a:srgbClr val="C9D1D9"/>
            </a:solidFill>
            <a:prstDash val="solid"/>
          </a:ln>
        </p:spPr>
      </p:sp>
      <p:sp>
        <p:nvSpPr>
          <p:cNvPr id="58" name="Shape 56"/>
          <p:cNvSpPr/>
          <p:nvPr/>
        </p:nvSpPr>
        <p:spPr>
          <a:xfrm>
            <a:off x="7613795" y="3965785"/>
            <a:ext cx="100584" cy="100584"/>
          </a:xfrm>
          <a:prstGeom prst="ellipse">
            <a:avLst/>
          </a:prstGeom>
          <a:solidFill>
            <a:srgbClr val="C9D1D9"/>
          </a:solidFill>
          <a:ln w="12700">
            <a:solidFill>
              <a:srgbClr val="C9D1D9"/>
            </a:solidFill>
            <a:prstDash val="solid"/>
          </a:ln>
        </p:spPr>
      </p:sp>
      <p:sp>
        <p:nvSpPr>
          <p:cNvPr id="59" name="Shape 57"/>
          <p:cNvSpPr/>
          <p:nvPr/>
        </p:nvSpPr>
        <p:spPr>
          <a:xfrm>
            <a:off x="6860720" y="2953973"/>
            <a:ext cx="100584" cy="100584"/>
          </a:xfrm>
          <a:prstGeom prst="ellipse">
            <a:avLst/>
          </a:prstGeom>
          <a:solidFill>
            <a:srgbClr val="C9D1D9"/>
          </a:solidFill>
          <a:ln w="12700">
            <a:solidFill>
              <a:srgbClr val="C9D1D9"/>
            </a:solidFill>
            <a:prstDash val="solid"/>
          </a:ln>
        </p:spPr>
      </p:sp>
      <p:sp>
        <p:nvSpPr>
          <p:cNvPr id="60" name="Shape 58"/>
          <p:cNvSpPr/>
          <p:nvPr/>
        </p:nvSpPr>
        <p:spPr>
          <a:xfrm>
            <a:off x="7883222" y="4260147"/>
            <a:ext cx="100584" cy="100584"/>
          </a:xfrm>
          <a:prstGeom prst="ellipse">
            <a:avLst/>
          </a:prstGeom>
          <a:solidFill>
            <a:srgbClr val="C9D1D9"/>
          </a:solidFill>
          <a:ln w="12700">
            <a:solidFill>
              <a:srgbClr val="C9D1D9"/>
            </a:solidFill>
            <a:prstDash val="solid"/>
          </a:ln>
        </p:spPr>
      </p:sp>
      <p:sp>
        <p:nvSpPr>
          <p:cNvPr id="61" name="Shape 59"/>
          <p:cNvSpPr/>
          <p:nvPr/>
        </p:nvSpPr>
        <p:spPr>
          <a:xfrm>
            <a:off x="8066613" y="3052300"/>
            <a:ext cx="100584" cy="100584"/>
          </a:xfrm>
          <a:prstGeom prst="ellipse">
            <a:avLst/>
          </a:prstGeom>
          <a:solidFill>
            <a:srgbClr val="C9D1D9"/>
          </a:solidFill>
          <a:ln w="12700">
            <a:solidFill>
              <a:srgbClr val="C9D1D9"/>
            </a:solidFill>
            <a:prstDash val="solid"/>
          </a:ln>
        </p:spPr>
      </p:sp>
      <p:sp>
        <p:nvSpPr>
          <p:cNvPr id="62" name="Shape 60"/>
          <p:cNvSpPr/>
          <p:nvPr/>
        </p:nvSpPr>
        <p:spPr>
          <a:xfrm>
            <a:off x="8634790" y="2414015"/>
            <a:ext cx="100584" cy="100584"/>
          </a:xfrm>
          <a:prstGeom prst="ellipse">
            <a:avLst/>
          </a:prstGeom>
          <a:solidFill>
            <a:srgbClr val="C9D1D9"/>
          </a:solidFill>
          <a:ln w="12700">
            <a:solidFill>
              <a:srgbClr val="C9D1D9"/>
            </a:solidFill>
            <a:prstDash val="solid"/>
          </a:ln>
        </p:spPr>
      </p:sp>
      <p:sp>
        <p:nvSpPr>
          <p:cNvPr id="63" name="Shape 61"/>
          <p:cNvSpPr/>
          <p:nvPr/>
        </p:nvSpPr>
        <p:spPr>
          <a:xfrm>
            <a:off x="10644754" y="4189084"/>
            <a:ext cx="100584" cy="100584"/>
          </a:xfrm>
          <a:prstGeom prst="ellipse">
            <a:avLst/>
          </a:prstGeom>
          <a:solidFill>
            <a:srgbClr val="C9D1D9"/>
          </a:solidFill>
          <a:ln w="12700">
            <a:solidFill>
              <a:srgbClr val="C9D1D9"/>
            </a:solidFill>
            <a:prstDash val="solid"/>
          </a:ln>
        </p:spPr>
      </p:sp>
      <p:sp>
        <p:nvSpPr>
          <p:cNvPr id="64" name="Shape 62"/>
          <p:cNvSpPr/>
          <p:nvPr/>
        </p:nvSpPr>
        <p:spPr>
          <a:xfrm>
            <a:off x="9479078" y="4117712"/>
            <a:ext cx="100584" cy="100584"/>
          </a:xfrm>
          <a:prstGeom prst="ellipse">
            <a:avLst/>
          </a:prstGeom>
          <a:solidFill>
            <a:srgbClr val="C9D1D9"/>
          </a:solidFill>
          <a:ln w="12700">
            <a:solidFill>
              <a:srgbClr val="C9D1D9"/>
            </a:solidFill>
            <a:prstDash val="solid"/>
          </a:ln>
        </p:spPr>
      </p:sp>
      <p:sp>
        <p:nvSpPr>
          <p:cNvPr id="65" name="Shape 63"/>
          <p:cNvSpPr/>
          <p:nvPr/>
        </p:nvSpPr>
        <p:spPr>
          <a:xfrm>
            <a:off x="10367136" y="4139060"/>
            <a:ext cx="100584" cy="100584"/>
          </a:xfrm>
          <a:prstGeom prst="ellipse">
            <a:avLst/>
          </a:prstGeom>
          <a:solidFill>
            <a:srgbClr val="C9D1D9"/>
          </a:solidFill>
          <a:ln w="12700">
            <a:solidFill>
              <a:srgbClr val="C9D1D9"/>
            </a:solidFill>
            <a:prstDash val="solid"/>
          </a:ln>
        </p:spPr>
      </p:sp>
      <p:sp>
        <p:nvSpPr>
          <p:cNvPr id="66" name="Shape 64"/>
          <p:cNvSpPr/>
          <p:nvPr/>
        </p:nvSpPr>
        <p:spPr>
          <a:xfrm>
            <a:off x="10861138" y="3235862"/>
            <a:ext cx="100584" cy="100584"/>
          </a:xfrm>
          <a:prstGeom prst="ellipse">
            <a:avLst/>
          </a:prstGeom>
          <a:solidFill>
            <a:srgbClr val="C9D1D9"/>
          </a:solidFill>
          <a:ln w="12700">
            <a:solidFill>
              <a:srgbClr val="C9D1D9"/>
            </a:solidFill>
            <a:prstDash val="solid"/>
          </a:ln>
        </p:spPr>
      </p:sp>
      <p:sp>
        <p:nvSpPr>
          <p:cNvPr id="67" name="Shape 65"/>
          <p:cNvSpPr/>
          <p:nvPr/>
        </p:nvSpPr>
        <p:spPr>
          <a:xfrm>
            <a:off x="8847079" y="2870438"/>
            <a:ext cx="100584" cy="100584"/>
          </a:xfrm>
          <a:prstGeom prst="ellipse">
            <a:avLst/>
          </a:prstGeom>
          <a:solidFill>
            <a:srgbClr val="C9D1D9"/>
          </a:solidFill>
          <a:ln w="12700">
            <a:solidFill>
              <a:srgbClr val="C9D1D9"/>
            </a:solidFill>
            <a:prstDash val="solid"/>
          </a:ln>
        </p:spPr>
      </p:sp>
      <p:sp>
        <p:nvSpPr>
          <p:cNvPr id="68" name="Shape 66"/>
          <p:cNvSpPr/>
          <p:nvPr/>
        </p:nvSpPr>
        <p:spPr>
          <a:xfrm>
            <a:off x="9053650" y="3837523"/>
            <a:ext cx="100584" cy="100584"/>
          </a:xfrm>
          <a:prstGeom prst="ellipse">
            <a:avLst/>
          </a:prstGeom>
          <a:solidFill>
            <a:srgbClr val="C9D1D9"/>
          </a:solidFill>
          <a:ln w="12700">
            <a:solidFill>
              <a:srgbClr val="C9D1D9"/>
            </a:solidFill>
            <a:prstDash val="solid"/>
          </a:ln>
        </p:spPr>
      </p:sp>
      <p:sp>
        <p:nvSpPr>
          <p:cNvPr id="69" name="Shape 67"/>
          <p:cNvSpPr/>
          <p:nvPr/>
        </p:nvSpPr>
        <p:spPr>
          <a:xfrm>
            <a:off x="10034428" y="2258799"/>
            <a:ext cx="100584" cy="100584"/>
          </a:xfrm>
          <a:prstGeom prst="ellipse">
            <a:avLst/>
          </a:prstGeom>
          <a:solidFill>
            <a:srgbClr val="C9D1D9"/>
          </a:solidFill>
          <a:ln w="12700">
            <a:solidFill>
              <a:srgbClr val="C9D1D9"/>
            </a:solidFill>
            <a:prstDash val="solid"/>
          </a:ln>
        </p:spPr>
      </p:sp>
      <p:sp>
        <p:nvSpPr>
          <p:cNvPr id="70" name="Shape 68"/>
          <p:cNvSpPr/>
          <p:nvPr/>
        </p:nvSpPr>
        <p:spPr>
          <a:xfrm>
            <a:off x="7672672" y="2743743"/>
            <a:ext cx="100584" cy="100584"/>
          </a:xfrm>
          <a:prstGeom prst="ellipse">
            <a:avLst/>
          </a:prstGeom>
          <a:solidFill>
            <a:srgbClr val="C9D1D9"/>
          </a:solidFill>
          <a:ln w="12700">
            <a:solidFill>
              <a:srgbClr val="C9D1D9"/>
            </a:solidFill>
            <a:prstDash val="solid"/>
          </a:ln>
        </p:spPr>
      </p:sp>
      <p:sp>
        <p:nvSpPr>
          <p:cNvPr id="71" name="Shape 69"/>
          <p:cNvSpPr/>
          <p:nvPr/>
        </p:nvSpPr>
        <p:spPr>
          <a:xfrm>
            <a:off x="10702549" y="2367722"/>
            <a:ext cx="100584" cy="100584"/>
          </a:xfrm>
          <a:prstGeom prst="ellipse">
            <a:avLst/>
          </a:prstGeom>
          <a:solidFill>
            <a:srgbClr val="C9D1D9"/>
          </a:solidFill>
          <a:ln w="12700">
            <a:solidFill>
              <a:srgbClr val="C9D1D9"/>
            </a:solidFill>
            <a:prstDash val="solid"/>
          </a:ln>
        </p:spPr>
      </p:sp>
      <p:sp>
        <p:nvSpPr>
          <p:cNvPr id="72" name="Shape 70"/>
          <p:cNvSpPr/>
          <p:nvPr/>
        </p:nvSpPr>
        <p:spPr>
          <a:xfrm>
            <a:off x="9666680" y="2116209"/>
            <a:ext cx="100584" cy="100584"/>
          </a:xfrm>
          <a:prstGeom prst="ellipse">
            <a:avLst/>
          </a:prstGeom>
          <a:solidFill>
            <a:srgbClr val="C9D1D9"/>
          </a:solidFill>
          <a:ln w="12700">
            <a:solidFill>
              <a:srgbClr val="C9D1D9"/>
            </a:solidFill>
            <a:prstDash val="solid"/>
          </a:ln>
        </p:spPr>
      </p:sp>
      <p:sp>
        <p:nvSpPr>
          <p:cNvPr id="73" name="Shape 71"/>
          <p:cNvSpPr/>
          <p:nvPr/>
        </p:nvSpPr>
        <p:spPr>
          <a:xfrm>
            <a:off x="7457910" y="2020995"/>
            <a:ext cx="100584" cy="100584"/>
          </a:xfrm>
          <a:prstGeom prst="ellipse">
            <a:avLst/>
          </a:prstGeom>
          <a:solidFill>
            <a:srgbClr val="C9D1D9"/>
          </a:solidFill>
          <a:ln w="12700">
            <a:solidFill>
              <a:srgbClr val="C9D1D9"/>
            </a:solidFill>
            <a:prstDash val="solid"/>
          </a:ln>
        </p:spPr>
      </p:sp>
      <p:sp>
        <p:nvSpPr>
          <p:cNvPr id="74" name="Shape 72"/>
          <p:cNvSpPr/>
          <p:nvPr/>
        </p:nvSpPr>
        <p:spPr>
          <a:xfrm>
            <a:off x="7803561" y="3162923"/>
            <a:ext cx="100584" cy="100584"/>
          </a:xfrm>
          <a:prstGeom prst="ellipse">
            <a:avLst/>
          </a:prstGeom>
          <a:solidFill>
            <a:srgbClr val="C9D1D9"/>
          </a:solidFill>
          <a:ln w="12700">
            <a:solidFill>
              <a:srgbClr val="C9D1D9"/>
            </a:solidFill>
            <a:prstDash val="solid"/>
          </a:ln>
        </p:spPr>
      </p:sp>
      <p:sp>
        <p:nvSpPr>
          <p:cNvPr id="75" name="Shape 73"/>
          <p:cNvSpPr/>
          <p:nvPr/>
        </p:nvSpPr>
        <p:spPr>
          <a:xfrm>
            <a:off x="7056425" y="2125980"/>
            <a:ext cx="100584" cy="100584"/>
          </a:xfrm>
          <a:prstGeom prst="ellipse">
            <a:avLst/>
          </a:prstGeom>
          <a:solidFill>
            <a:srgbClr val="3A7D44"/>
          </a:solidFill>
          <a:ln w="12700">
            <a:solidFill>
              <a:srgbClr val="3A7D44"/>
            </a:solidFill>
            <a:prstDash val="solid"/>
          </a:ln>
        </p:spPr>
      </p:sp>
      <p:sp>
        <p:nvSpPr>
          <p:cNvPr id="76" name="Shape 74"/>
          <p:cNvSpPr/>
          <p:nvPr/>
        </p:nvSpPr>
        <p:spPr>
          <a:xfrm>
            <a:off x="10794492" y="2038198"/>
            <a:ext cx="100584" cy="100584"/>
          </a:xfrm>
          <a:prstGeom prst="ellipse">
            <a:avLst/>
          </a:prstGeom>
          <a:solidFill>
            <a:srgbClr val="3A7D44"/>
          </a:solidFill>
          <a:ln w="12700">
            <a:solidFill>
              <a:srgbClr val="3A7D44"/>
            </a:solidFill>
            <a:prstDash val="solid"/>
          </a:ln>
        </p:spPr>
      </p:sp>
      <p:sp>
        <p:nvSpPr>
          <p:cNvPr id="77" name="Shape 75"/>
          <p:cNvSpPr/>
          <p:nvPr/>
        </p:nvSpPr>
        <p:spPr>
          <a:xfrm>
            <a:off x="9002268" y="3150108"/>
            <a:ext cx="100584" cy="100584"/>
          </a:xfrm>
          <a:prstGeom prst="ellipse">
            <a:avLst/>
          </a:prstGeom>
          <a:solidFill>
            <a:srgbClr val="3A7D44"/>
          </a:solidFill>
          <a:ln w="12700">
            <a:solidFill>
              <a:srgbClr val="3A7D44"/>
            </a:solidFill>
            <a:prstDash val="solid"/>
          </a:ln>
        </p:spPr>
      </p:sp>
      <p:sp>
        <p:nvSpPr>
          <p:cNvPr id="78" name="Shape 76"/>
          <p:cNvSpPr/>
          <p:nvPr/>
        </p:nvSpPr>
        <p:spPr>
          <a:xfrm>
            <a:off x="7210044" y="4174236"/>
            <a:ext cx="100584" cy="100584"/>
          </a:xfrm>
          <a:prstGeom prst="ellipse">
            <a:avLst/>
          </a:prstGeom>
          <a:solidFill>
            <a:srgbClr val="3A7D44"/>
          </a:solidFill>
          <a:ln w="12700">
            <a:solidFill>
              <a:srgbClr val="3A7D44"/>
            </a:solidFill>
            <a:prstDash val="solid"/>
          </a:ln>
        </p:spPr>
      </p:sp>
      <p:sp>
        <p:nvSpPr>
          <p:cNvPr id="79" name="Shape 77"/>
          <p:cNvSpPr/>
          <p:nvPr/>
        </p:nvSpPr>
        <p:spPr>
          <a:xfrm>
            <a:off x="10794492" y="4174236"/>
            <a:ext cx="100584" cy="100584"/>
          </a:xfrm>
          <a:prstGeom prst="ellipse">
            <a:avLst/>
          </a:prstGeom>
          <a:solidFill>
            <a:srgbClr val="3A7D44"/>
          </a:solidFill>
          <a:ln w="12700">
            <a:solidFill>
              <a:srgbClr val="3A7D44"/>
            </a:solidFill>
            <a:prstDash val="solid"/>
          </a:ln>
        </p:spPr>
      </p:sp>
      <p:sp>
        <p:nvSpPr>
          <p:cNvPr id="80" name="Shape 78"/>
          <p:cNvSpPr/>
          <p:nvPr/>
        </p:nvSpPr>
        <p:spPr>
          <a:xfrm>
            <a:off x="9002268" y="1979676"/>
            <a:ext cx="100584" cy="100584"/>
          </a:xfrm>
          <a:prstGeom prst="ellipse">
            <a:avLst/>
          </a:prstGeom>
          <a:solidFill>
            <a:srgbClr val="3A7D44"/>
          </a:solidFill>
          <a:ln w="12700">
            <a:solidFill>
              <a:srgbClr val="3A7D44"/>
            </a:solidFill>
            <a:prstDash val="solid"/>
          </a:ln>
        </p:spPr>
      </p:sp>
      <p:sp>
        <p:nvSpPr>
          <p:cNvPr id="81" name="Shape 79"/>
          <p:cNvSpPr/>
          <p:nvPr/>
        </p:nvSpPr>
        <p:spPr>
          <a:xfrm>
            <a:off x="6954012" y="3150108"/>
            <a:ext cx="100584" cy="100584"/>
          </a:xfrm>
          <a:prstGeom prst="ellipse">
            <a:avLst/>
          </a:prstGeom>
          <a:solidFill>
            <a:srgbClr val="3A7D44"/>
          </a:solidFill>
          <a:ln w="12700">
            <a:solidFill>
              <a:srgbClr val="3A7D44"/>
            </a:solidFill>
            <a:prstDash val="solid"/>
          </a:ln>
        </p:spPr>
      </p:sp>
      <p:sp>
        <p:nvSpPr>
          <p:cNvPr id="82" name="Shape 80"/>
          <p:cNvSpPr/>
          <p:nvPr/>
        </p:nvSpPr>
        <p:spPr>
          <a:xfrm>
            <a:off x="11050524" y="3150108"/>
            <a:ext cx="100584" cy="100584"/>
          </a:xfrm>
          <a:prstGeom prst="ellipse">
            <a:avLst/>
          </a:prstGeom>
          <a:solidFill>
            <a:srgbClr val="3A7D44"/>
          </a:solidFill>
          <a:ln w="12700">
            <a:solidFill>
              <a:srgbClr val="3A7D44"/>
            </a:solidFill>
            <a:prstDash val="solid"/>
          </a:ln>
        </p:spPr>
      </p:sp>
      <p:sp>
        <p:nvSpPr>
          <p:cNvPr id="83" name="Text 81"/>
          <p:cNvSpPr txBox="1"/>
          <p:nvPr/>
        </p:nvSpPr>
        <p:spPr>
          <a:xfrm>
            <a:off x="548640" y="1371600"/>
            <a:ext cx="5120640" cy="365760"/>
          </a:xfrm>
          <a:prstGeom prst="rect">
            <a:avLst/>
          </a:prstGeom>
          <a:noFill/>
          <a:ln/>
        </p:spPr>
        <p:txBody>
          <a:bodyPr wrap="square" lIns="0" tIns="0" rIns="0" bIns="0" rtlCol="0" anchor="ctr"/>
          <a:lstStyle/>
          <a:p>
            <a:pPr indent="0" marL="0">
              <a:buNone/>
            </a:pPr>
            <a:r>
              <a:rPr lang="en-US" sz="1800" b="1" dirty="0">
                <a:solidFill>
                  <a:srgbClr val="D9822B"/>
                </a:solidFill>
                <a:latin typeface="Calibri" pitchFamily="34" charset="0"/>
                <a:ea typeface="Calibri" pitchFamily="34" charset="-122"/>
                <a:cs typeface="Calibri" pitchFamily="34" charset="-120"/>
              </a:rPr>
              <a:t>Environmental filtering → clustering</a:t>
            </a:r>
            <a:endParaRPr lang="en-US" sz="1800" dirty="0"/>
          </a:p>
        </p:txBody>
      </p:sp>
      <p:sp>
        <p:nvSpPr>
          <p:cNvPr id="84" name="Text 82"/>
          <p:cNvSpPr txBox="1"/>
          <p:nvPr/>
        </p:nvSpPr>
        <p:spPr>
          <a:xfrm>
            <a:off x="6492240" y="1371600"/>
            <a:ext cx="5120640" cy="365760"/>
          </a:xfrm>
          <a:prstGeom prst="rect">
            <a:avLst/>
          </a:prstGeom>
          <a:noFill/>
          <a:ln/>
        </p:spPr>
        <p:txBody>
          <a:bodyPr wrap="square" lIns="0" tIns="0" rIns="0" bIns="0" rtlCol="0" anchor="ctr"/>
          <a:lstStyle/>
          <a:p>
            <a:pPr indent="0" marL="0">
              <a:buNone/>
            </a:pPr>
            <a:r>
              <a:rPr lang="en-US" sz="1800" b="1" dirty="0">
                <a:solidFill>
                  <a:srgbClr val="3A7D44"/>
                </a:solidFill>
                <a:latin typeface="Calibri" pitchFamily="34" charset="0"/>
                <a:ea typeface="Calibri" pitchFamily="34" charset="-122"/>
                <a:cs typeface="Calibri" pitchFamily="34" charset="-120"/>
              </a:rPr>
              <a:t>Limiting similarity → overdispersion</a:t>
            </a:r>
            <a:endParaRPr lang="en-US" sz="1800" dirty="0"/>
          </a:p>
        </p:txBody>
      </p:sp>
      <p:sp>
        <p:nvSpPr>
          <p:cNvPr id="85" name="Text 83"/>
          <p:cNvSpPr txBox="1"/>
          <p:nvPr/>
        </p:nvSpPr>
        <p:spPr>
          <a:xfrm>
            <a:off x="548640" y="4754880"/>
            <a:ext cx="5120640" cy="10972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Abiotic conditions allow only a range of trait values: the community is a subset of the pool concentrated in one region — species more similar than a random draw; FRic / FDis lower than expected.</a:t>
            </a:r>
            <a:endParaRPr lang="en-US" sz="1300" dirty="0"/>
          </a:p>
        </p:txBody>
      </p:sp>
      <p:sp>
        <p:nvSpPr>
          <p:cNvPr id="86" name="Text 84"/>
          <p:cNvSpPr txBox="1"/>
          <p:nvPr/>
        </p:nvSpPr>
        <p:spPr>
          <a:xfrm>
            <a:off x="6492240" y="4754880"/>
            <a:ext cx="5120640" cy="10972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Too-similar species compete too strongly (MacArthur &amp; Levins 1967): species more different than a random draw, regularly spaced; FRic / FDis higher than expected.</a:t>
            </a:r>
            <a:endParaRPr lang="en-US" sz="1300" dirty="0"/>
          </a:p>
        </p:txBody>
      </p:sp>
      <p:sp>
        <p:nvSpPr>
          <p:cNvPr id="87" name="Shape 85"/>
          <p:cNvSpPr/>
          <p:nvPr/>
        </p:nvSpPr>
        <p:spPr>
          <a:xfrm>
            <a:off x="548640" y="5806440"/>
            <a:ext cx="11091672" cy="640080"/>
          </a:xfrm>
          <a:prstGeom prst="roundRect">
            <a:avLst>
              <a:gd name="adj" fmla="val 11429"/>
            </a:avLst>
          </a:prstGeom>
          <a:solidFill>
            <a:srgbClr val="E8F1F7"/>
          </a:solidFill>
          <a:ln w="12700">
            <a:solidFill>
              <a:srgbClr val="E8F1F7"/>
            </a:solidFill>
            <a:prstDash val="solid"/>
          </a:ln>
        </p:spPr>
      </p:sp>
      <p:sp>
        <p:nvSpPr>
          <p:cNvPr id="88" name="Text 86"/>
          <p:cNvSpPr txBox="1"/>
          <p:nvPr/>
        </p:nvSpPr>
        <p:spPr>
          <a:xfrm>
            <a:off x="685800" y="5806440"/>
            <a:ext cx="10817352" cy="640080"/>
          </a:xfrm>
          <a:prstGeom prst="rect">
            <a:avLst/>
          </a:prstGeom>
          <a:noFill/>
          <a:ln/>
        </p:spPr>
        <p:txBody>
          <a:bodyPr wrap="square" lIns="50800" tIns="50800" rIns="50800" bIns="50800" rtlCol="0" anchor="ctr"/>
          <a:lstStyle/>
          <a:p>
            <a:pPr indent="0" marL="0">
              <a:buNone/>
            </a:pPr>
            <a:r>
              <a:rPr lang="en-US" sz="1300" dirty="0">
                <a:solidFill>
                  <a:srgbClr val="0B3C5D"/>
                </a:solidFill>
                <a:latin typeface="Calibri" pitchFamily="34" charset="0"/>
                <a:ea typeface="Calibri" pitchFamily="34" charset="-122"/>
                <a:cs typeface="Calibri" pitchFamily="34" charset="-120"/>
              </a:rPr>
              <a:t>Weiher &amp; Keddy (1995). Pattern ≠ process: competition can also cluster; “random” can mean opposing processes cancel out. A null model detects a departure from randomness; the mechanism is an argument.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The null model: what it randomises and what it keeps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4572000" cy="914400"/>
        </p:xfrm>
        <a:graphic>
          <a:graphicData uri="http://schemas.openxmlformats.org/drawingml/2006/table">
            <a:tbl>
              <a:tblPr/>
              <a:tblGrid>
                <a:gridCol w="1097280"/>
                <a:gridCol w="868680"/>
                <a:gridCol w="868680"/>
                <a:gridCol w="868680"/>
                <a:gridCol w="868680"/>
              </a:tblGrid>
              <a:tr h="365760">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sp1</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Site A</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Site B</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Site C</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3200400"/>
            <a:ext cx="4572000" cy="5486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Sites × species — kept as is (richness, abundances)</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675120" y="1554480"/>
          <a:ext cx="4937760" cy="914400"/>
        </p:xfrm>
        <a:graphic>
          <a:graphicData uri="http://schemas.openxmlformats.org/drawingml/2006/table">
            <a:tbl>
              <a:tblPr/>
              <a:tblGrid>
                <a:gridCol w="1645920"/>
                <a:gridCol w="1097280"/>
                <a:gridCol w="1097280"/>
                <a:gridCol w="1097280"/>
              </a:tblGrid>
              <a:tr h="365760">
                <a:tc>
                  <a:txBody>
                    <a:bodyPr/>
                    <a:lstStyle/>
                    <a:p>
                      <a:pPr indent="0" marL="0">
                        <a:buNone/>
                      </a:pP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trait 1</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trait 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trait 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sp1 → sp3</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sp2 → sp1</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sp3 → sp4</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sp4 → sp2</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bl>
          </a:graphicData>
        </a:graphic>
      </p:graphicFrame>
      <p:sp>
        <p:nvSpPr>
          <p:cNvPr id="8" name="Text 4"/>
          <p:cNvSpPr txBox="1"/>
          <p:nvPr/>
        </p:nvSpPr>
        <p:spPr>
          <a:xfrm>
            <a:off x="6675120" y="3566160"/>
            <a:ext cx="4937760" cy="5486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Species × traits — rows shuffled: each species receives the traits of another species of the pool</a:t>
            </a:r>
            <a:endParaRPr lang="en-US" sz="1300" dirty="0"/>
          </a:p>
        </p:txBody>
      </p:sp>
      <p:sp>
        <p:nvSpPr>
          <p:cNvPr id="9" name="Text 5"/>
          <p:cNvSpPr txBox="1"/>
          <p:nvPr/>
        </p:nvSpPr>
        <p:spPr>
          <a:xfrm>
            <a:off x="548640" y="4206240"/>
            <a:ext cx="11091672" cy="2011680"/>
          </a:xfrm>
          <a:prstGeom prst="rect">
            <a:avLst/>
          </a:prstGeom>
          <a:noFill/>
          <a:ln/>
        </p:spPr>
        <p:txBody>
          <a:bodyPr wrap="square" lIns="50800" tIns="50800" rIns="50800" bIns="50800" rtlCol="0" anchor="t"/>
          <a:lstStyle/>
          <a:p>
            <a:pPr marL="342900" indent="-342900">
              <a:spcAft>
                <a:spcPts val="500"/>
              </a:spcAft>
              <a:buSzPct val="100000"/>
              <a:buChar char="•"/>
            </a:pPr>
            <a:r>
              <a:rPr lang="en-US" sz="1500" dirty="0">
                <a:solidFill>
                  <a:srgbClr val="222222"/>
                </a:solidFill>
                <a:latin typeface="Calibri" pitchFamily="34" charset="0"/>
                <a:ea typeface="Calibri" pitchFamily="34" charset="-122"/>
                <a:cs typeface="Calibri" pitchFamily="34" charset="-120"/>
              </a:rPr>
              <a:t>Tests: “the traits of the species present are a random sample of the pool” — 999 iterations standard, 199 for a practical</a:t>
            </a:r>
            <a:endParaRPr lang="en-US" sz="1500" dirty="0"/>
          </a:p>
          <a:p>
            <a:pPr marL="342900" indent="-342900">
              <a:spcAft>
                <a:spcPts val="500"/>
              </a:spcAft>
              <a:buSzPct val="100000"/>
              <a:buChar char="•"/>
            </a:pPr>
            <a:r>
              <a:rPr lang="en-US" sz="1500" dirty="0">
                <a:solidFill>
                  <a:srgbClr val="222222"/>
                </a:solidFill>
                <a:latin typeface="Calibri" pitchFamily="34" charset="0"/>
                <a:ea typeface="Calibri" pitchFamily="34" charset="-122"/>
                <a:cs typeface="Calibri" pitchFamily="34" charset="-120"/>
              </a:rPr>
              <a:t>Alternative: independent swap on the presence matrix (row and column sums fixed) — a different hypothesis, more conservative with very common species</a:t>
            </a:r>
            <a:endParaRPr lang="en-US" sz="1500" dirty="0"/>
          </a:p>
          <a:p>
            <a:pPr marL="342900" indent="-342900">
              <a:spcAft>
                <a:spcPts val="500"/>
              </a:spcAft>
              <a:buSzPct val="100000"/>
              <a:buChar char="•"/>
            </a:pPr>
            <a:r>
              <a:rPr lang="en-US" sz="1500" dirty="0">
                <a:solidFill>
                  <a:srgbClr val="222222"/>
                </a:solidFill>
                <a:latin typeface="Calibri" pitchFamily="34" charset="0"/>
                <a:ea typeface="Calibri" pitchFamily="34" charset="-122"/>
                <a:cs typeface="Calibri" pitchFamily="34" charset="-120"/>
              </a:rPr>
              <a:t>Describe the null model in one sentence in the Methods: the result depends on it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The standardised effect size (SES)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1371600"/>
            <a:ext cx="11091672" cy="64008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SES = (observed − mean of null values) / SD of null values</a:t>
            </a:r>
            <a:endParaRPr lang="en-US" sz="2600" dirty="0"/>
          </a:p>
        </p:txBody>
      </p:sp>
      <p:graphicFrame>
        <p:nvGraphicFramePr>
          <p:cNvPr id="6" name="Chart 0" descr=""/>
          <p:cNvGraphicFramePr/>
          <p:nvPr/>
        </p:nvGraphicFramePr>
        <p:xfrm>
          <a:off x="548640" y="210312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2057400" y="2651760"/>
            <a:ext cx="0" cy="2743200"/>
          </a:xfrm>
          <a:prstGeom prst="line">
            <a:avLst/>
          </a:prstGeom>
          <a:noFill/>
          <a:ln w="31750">
            <a:solidFill>
              <a:srgbClr val="D9822B"/>
            </a:solidFill>
            <a:prstDash val="dash"/>
          </a:ln>
        </p:spPr>
      </p:sp>
      <p:sp>
        <p:nvSpPr>
          <p:cNvPr id="8" name="Text 5"/>
          <p:cNvSpPr txBox="1"/>
          <p:nvPr/>
        </p:nvSpPr>
        <p:spPr>
          <a:xfrm>
            <a:off x="2148840" y="2606040"/>
            <a:ext cx="3200400" cy="365760"/>
          </a:xfrm>
          <a:prstGeom prst="rect">
            <a:avLst/>
          </a:prstGeom>
          <a:noFill/>
          <a:ln/>
        </p:spPr>
        <p:txBody>
          <a:bodyPr wrap="square" lIns="0" tIns="0" rIns="0" bIns="0" rtlCol="0" anchor="ctr"/>
          <a:lstStyle/>
          <a:p>
            <a:pPr indent="0" marL="0">
              <a:buNone/>
            </a:pPr>
            <a:r>
              <a:rPr lang="en-US" sz="1200" b="1" dirty="0">
                <a:solidFill>
                  <a:srgbClr val="D9822B"/>
                </a:solidFill>
                <a:latin typeface="Calibri" pitchFamily="34" charset="0"/>
                <a:ea typeface="Calibri" pitchFamily="34" charset="-122"/>
                <a:cs typeface="Calibri" pitchFamily="34" charset="-120"/>
              </a:rPr>
              <a:t>observed = 0.27 → SES ≈ −2.5 (clustered)</a:t>
            </a:r>
            <a:endParaRPr lang="en-US" sz="1200" dirty="0"/>
          </a:p>
        </p:txBody>
      </p:sp>
      <p:sp>
        <p:nvSpPr>
          <p:cNvPr id="9" name="Text 6"/>
          <p:cNvSpPr txBox="1"/>
          <p:nvPr/>
        </p:nvSpPr>
        <p:spPr>
          <a:xfrm>
            <a:off x="6858000" y="2103120"/>
            <a:ext cx="4782312" cy="402336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A z-score: SES = −2.5 → observed FRic 2.5 SD below random assemblages (clustering); +2 → overdispersion</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Thresholds ±1.96 ≈ two-sided test at 5 % under normality; or a permutation p-value = fraction of null values as extreme as the observation</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Removes the richness confound: null values have the same S as the observation → “more or less diverse than a random community of the same richness”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Reading SES patterns: an example across realms</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28</a:t>
            </a:r>
            <a:endParaRPr lang="en-US" sz="1000" dirty="0"/>
          </a:p>
        </p:txBody>
      </p:sp>
      <p:sp>
        <p:nvSpPr>
          <p:cNvPr id="5" name="Shape 3"/>
          <p:cNvSpPr/>
          <p:nvPr/>
        </p:nvSpPr>
        <p:spPr>
          <a:xfrm>
            <a:off x="548640" y="1371600"/>
            <a:ext cx="6035040" cy="4389120"/>
          </a:xfrm>
          <a:prstGeom prst="rect">
            <a:avLst/>
          </a:prstGeom>
          <a:solidFill>
            <a:srgbClr val="F3F4F6"/>
          </a:solidFill>
          <a:ln w="12700">
            <a:solidFill>
              <a:srgbClr val="BBBBBB"/>
            </a:solidFill>
            <a:prstDash val="dash"/>
          </a:ln>
        </p:spPr>
      </p:sp>
      <p:sp>
        <p:nvSpPr>
          <p:cNvPr id="6" name="Text 4"/>
          <p:cNvSpPr txBox="1"/>
          <p:nvPr/>
        </p:nvSpPr>
        <p:spPr>
          <a:xfrm>
            <a:off x="731520" y="1371600"/>
            <a:ext cx="5669280" cy="438912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Boxplots of SES-FRic by biogeographic realm with ±1.96 lines (exam figure or Group C output: GroupC_SES.png)</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0" y="1371600"/>
          <a:ext cx="4782312" cy="914400"/>
        </p:xfrm>
        <a:graphic>
          <a:graphicData uri="http://schemas.openxmlformats.org/drawingml/2006/table">
            <a:tbl>
              <a:tblPr/>
              <a:tblGrid>
                <a:gridCol w="1188720"/>
                <a:gridCol w="1188720"/>
                <a:gridCol w="2404872"/>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Realm</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Median SES-FRic</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Reading</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0B3C5D"/>
                    </a:solidFill>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Neotropical</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+2.6</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overdispersion — limiting similarity, or lineages of different origin</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Palearctic</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clustering — filtering, or a strong dispersal filter</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7F9FB"/>
                    </a:solidFill>
                  </a:tcPr>
                </a:tc>
              </a:tr>
              <a:tr h="548640">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Nearctic</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0.1</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200" dirty="0">
                          <a:solidFill>
                            <a:srgbClr val="222222"/>
                          </a:solidFill>
                          <a:latin typeface="Calibri" pitchFamily="34" charset="0"/>
                          <a:ea typeface="Calibri" pitchFamily="34" charset="-122"/>
                          <a:cs typeface="Calibri" pitchFamily="34" charset="-120"/>
                        </a:rPr>
                        <a:t>no detectable departure — not “nothing happens”</a:t>
                      </a:r>
                      <a:endParaRPr lang="en-US" sz="1200" dirty="0">
                        <a:latin typeface="Calibri" charset="0"/>
                        <a:ea typeface="Calibri" charset="0"/>
                        <a:cs typeface="Calibri" charset="0"/>
                      </a:endParaRPr>
                    </a:p>
                  </a:txBody>
                  <a:tcPr marL="54864" marR="54864" marT="54864" marB="54864" anchor="ctr">
                    <a:lnL w="6350" cap="flat" cmpd="sng" algn="ctr">
                      <a:solidFill>
                        <a:srgbClr val="D0D7DE"/>
                      </a:solidFill>
                      <a:prstDash val="solid"/>
                      <a:round/>
                      <a:headEnd type="none" w="med" len="med"/>
                      <a:tailEnd type="none" w="med" len="med"/>
                    </a:lnL>
                    <a:lnR w="6350" cap="flat" cmpd="sng" algn="ctr">
                      <a:solidFill>
                        <a:srgbClr val="D0D7DE"/>
                      </a:solidFill>
                      <a:prstDash val="solid"/>
                      <a:round/>
                      <a:headEnd type="none" w="med" len="med"/>
                      <a:tailEnd type="none" w="med" len="med"/>
                    </a:lnR>
                    <a:lnT w="6350" cap="flat" cmpd="sng" algn="ctr">
                      <a:solidFill>
                        <a:srgbClr val="D0D7DE"/>
                      </a:solidFill>
                      <a:prstDash val="solid"/>
                      <a:round/>
                      <a:headEnd type="none" w="med" len="med"/>
                      <a:tailEnd type="none" w="med" len="med"/>
                    </a:lnT>
                    <a:lnB w="6350" cap="flat" cmpd="sng" algn="ctr">
                      <a:solidFill>
                        <a:srgbClr val="D0D7DE"/>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858000" y="3840480"/>
            <a:ext cx="4782312" cy="2103120"/>
          </a:xfrm>
          <a:prstGeom prst="rect">
            <a:avLst/>
          </a:prstGeom>
          <a:noFill/>
          <a:ln/>
        </p:spPr>
        <p:txBody>
          <a:bodyPr wrap="square" lIns="50800" tIns="50800" rIns="50800" bIns="50800" rtlCol="0" anchor="t"/>
          <a:lstStyle/>
          <a:p>
            <a:pPr marL="342900" indent="-342900">
              <a:spcAft>
                <a:spcPts val="500"/>
              </a:spcAft>
              <a:buSzPct val="100000"/>
              <a:buChar char="•"/>
            </a:pPr>
            <a:r>
              <a:rPr lang="en-US" sz="1400" dirty="0">
                <a:solidFill>
                  <a:srgbClr val="222222"/>
                </a:solidFill>
                <a:latin typeface="Calibri" pitchFamily="34" charset="0"/>
                <a:ea typeface="Calibri" pitchFamily="34" charset="-122"/>
                <a:cs typeface="Calibri" pitchFamily="34" charset="-120"/>
              </a:rPr>
              <a:t>Check 1: is SES still correlated with S? It should not be</a:t>
            </a:r>
            <a:endParaRPr lang="en-US" sz="1400" dirty="0"/>
          </a:p>
          <a:p>
            <a:pPr marL="342900" indent="-342900">
              <a:spcAft>
                <a:spcPts val="500"/>
              </a:spcAft>
              <a:buSzPct val="100000"/>
              <a:buChar char="•"/>
            </a:pPr>
            <a:r>
              <a:rPr lang="en-US" sz="1400" dirty="0">
                <a:solidFill>
                  <a:srgbClr val="222222"/>
                </a:solidFill>
                <a:latin typeface="Calibri" pitchFamily="34" charset="0"/>
                <a:ea typeface="Calibri" pitchFamily="34" charset="-122"/>
                <a:cs typeface="Calibri" pitchFamily="34" charset="-120"/>
              </a:rPr>
              <a:t>Check 2: does the pattern depend on the index? FRic = extremes; FDis = whole distribution. Group C computes both — disagreements are informative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Functional consequences of extinctions: why rare species matter</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548640" y="1371600"/>
            <a:ext cx="6035040" cy="4297680"/>
          </a:xfrm>
          <a:prstGeom prst="rect">
            <a:avLst/>
          </a:prstGeom>
          <a:solidFill>
            <a:srgbClr val="F3F4F6"/>
          </a:solidFill>
          <a:ln w="12700">
            <a:solidFill>
              <a:srgbClr val="BBBBBB"/>
            </a:solidFill>
            <a:prstDash val="dash"/>
          </a:ln>
        </p:spPr>
      </p:sp>
      <p:sp>
        <p:nvSpPr>
          <p:cNvPr id="6" name="Text 4"/>
          <p:cNvSpPr txBox="1"/>
          <p:nvPr/>
        </p:nvSpPr>
        <p:spPr>
          <a:xfrm>
            <a:off x="731520" y="1371600"/>
            <a:ext cx="5669280" cy="4297680"/>
          </a:xfrm>
          <a:prstGeom prst="rect">
            <a:avLst/>
          </a:prstGeom>
          <a:noFill/>
          <a:ln/>
        </p:spPr>
        <p:txBody>
          <a:bodyPr wrap="square" rtlCol="0" anchor="ctr"/>
          <a:lstStyle/>
          <a:p>
            <a:pPr algn="ctr" indent="0" marL="0">
              <a:buNone/>
            </a:pPr>
            <a:r>
              <a:rPr lang="en-US" sz="1200" i="1" dirty="0">
                <a:solidFill>
                  <a:srgbClr val="6B6B6B"/>
                </a:solidFill>
                <a:latin typeface="Calibri" pitchFamily="34" charset="0"/>
                <a:ea typeface="Calibri" pitchFamily="34" charset="-122"/>
                <a:cs typeface="Calibri" pitchFamily="34" charset="-120"/>
              </a:rPr>
              <a:t>[Figure to insert]</a:t>
            </a:r>
            <a:endParaRPr lang="en-US" sz="1200" dirty="0"/>
          </a:p>
          <a:p>
            <a:pPr algn="ctr" indent="0" marL="0">
              <a:buNone/>
            </a:pPr>
            <a:r>
              <a:rPr lang="en-US" sz="1200" i="1" dirty="0">
                <a:solidFill>
                  <a:srgbClr val="6B6B6B"/>
                </a:solidFill>
                <a:latin typeface="Calibri" pitchFamily="34" charset="0"/>
                <a:ea typeface="Calibri" pitchFamily="34" charset="-122"/>
                <a:cs typeface="Calibri" pitchFamily="34" charset="-120"/>
              </a:rPr>
              <a:t>Mouillot et al. (2013) PLoS Biology — functional entities supported by rare species only, in coral reef fishes, tropical trees and alpine plants</a:t>
            </a:r>
            <a:endParaRPr lang="en-US" sz="1200" dirty="0"/>
          </a:p>
        </p:txBody>
      </p:sp>
      <p:sp>
        <p:nvSpPr>
          <p:cNvPr id="7" name="Text 5"/>
          <p:cNvSpPr txBox="1"/>
          <p:nvPr/>
        </p:nvSpPr>
        <p:spPr>
          <a:xfrm>
            <a:off x="6858000" y="1371600"/>
            <a:ext cx="4782312" cy="448056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Functional entities = unique combinations of trait categories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A large fraction of entities — especially the most distinct — are held by one or a few rare species</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Redundancy sits in the generalist core; the periphery is held by rare species, those most likely to be lost</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Losing a random species removes little; losing the rare, unique ones removes a lot → back to the two rivers of slide 2</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Quantifying vulnerability: FUSE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30</a:t>
            </a:r>
            <a:endParaRPr lang="en-US" sz="1000" dirty="0"/>
          </a:p>
        </p:txBody>
      </p:sp>
      <p:sp>
        <p:nvSpPr>
          <p:cNvPr id="5" name="Shape 3"/>
          <p:cNvSpPr/>
          <p:nvPr/>
        </p:nvSpPr>
        <p:spPr>
          <a:xfrm>
            <a:off x="548640" y="1463040"/>
            <a:ext cx="3520440" cy="2103120"/>
          </a:xfrm>
          <a:prstGeom prst="roundRect">
            <a:avLst>
              <a:gd name="adj" fmla="val 4348"/>
            </a:avLst>
          </a:prstGeom>
          <a:solidFill>
            <a:srgbClr val="E8F1F7"/>
          </a:solidFill>
          <a:ln w="12700">
            <a:solidFill>
              <a:srgbClr val="E8F1F7"/>
            </a:solidFill>
            <a:prstDash val="solid"/>
          </a:ln>
        </p:spPr>
      </p:sp>
      <p:sp>
        <p:nvSpPr>
          <p:cNvPr id="6" name="Text 4"/>
          <p:cNvSpPr txBox="1"/>
          <p:nvPr/>
        </p:nvSpPr>
        <p:spPr>
          <a:xfrm>
            <a:off x="777240" y="1554480"/>
            <a:ext cx="3108960" cy="731520"/>
          </a:xfrm>
          <a:prstGeom prst="rect">
            <a:avLst/>
          </a:prstGeom>
          <a:noFill/>
          <a:ln/>
        </p:spPr>
        <p:txBody>
          <a:bodyPr wrap="square" lIns="0" tIns="0" rIns="0" bIns="0" rtlCol="0" anchor="ctr"/>
          <a:lstStyle/>
          <a:p>
            <a:pPr indent="0" marL="0">
              <a:buNone/>
            </a:pPr>
            <a:r>
              <a:rPr lang="en-US" sz="3600" b="1" dirty="0">
                <a:solidFill>
                  <a:srgbClr val="D9822B"/>
                </a:solidFill>
                <a:latin typeface="Cambria" pitchFamily="34" charset="0"/>
                <a:ea typeface="Cambria" pitchFamily="34" charset="-122"/>
                <a:cs typeface="Cambria" pitchFamily="34" charset="-120"/>
              </a:rPr>
              <a:t>FU</a:t>
            </a:r>
            <a:endParaRPr lang="en-US" sz="3600" dirty="0"/>
          </a:p>
        </p:txBody>
      </p:sp>
      <p:sp>
        <p:nvSpPr>
          <p:cNvPr id="7" name="Text 5"/>
          <p:cNvSpPr txBox="1"/>
          <p:nvPr/>
        </p:nvSpPr>
        <p:spPr>
          <a:xfrm>
            <a:off x="777240" y="2286000"/>
            <a:ext cx="3108960" cy="411480"/>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Functionally Unique</a:t>
            </a:r>
            <a:endParaRPr lang="en-US" sz="1700" dirty="0"/>
          </a:p>
        </p:txBody>
      </p:sp>
      <p:sp>
        <p:nvSpPr>
          <p:cNvPr id="8" name="Text 6"/>
          <p:cNvSpPr txBox="1"/>
          <p:nvPr/>
        </p:nvSpPr>
        <p:spPr>
          <a:xfrm>
            <a:off x="777240" y="2697480"/>
            <a:ext cx="3108960" cy="7315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distance to the nearest neighbour</a:t>
            </a:r>
            <a:endParaRPr lang="en-US" sz="1400" dirty="0"/>
          </a:p>
        </p:txBody>
      </p:sp>
      <p:sp>
        <p:nvSpPr>
          <p:cNvPr id="9" name="Shape 7"/>
          <p:cNvSpPr/>
          <p:nvPr/>
        </p:nvSpPr>
        <p:spPr>
          <a:xfrm>
            <a:off x="4297680" y="1463040"/>
            <a:ext cx="3520440" cy="2103120"/>
          </a:xfrm>
          <a:prstGeom prst="roundRect">
            <a:avLst>
              <a:gd name="adj" fmla="val 4348"/>
            </a:avLst>
          </a:prstGeom>
          <a:solidFill>
            <a:srgbClr val="E8F1F7"/>
          </a:solidFill>
          <a:ln w="12700">
            <a:solidFill>
              <a:srgbClr val="E8F1F7"/>
            </a:solidFill>
            <a:prstDash val="solid"/>
          </a:ln>
        </p:spPr>
      </p:sp>
      <p:sp>
        <p:nvSpPr>
          <p:cNvPr id="10" name="Text 8"/>
          <p:cNvSpPr txBox="1"/>
          <p:nvPr/>
        </p:nvSpPr>
        <p:spPr>
          <a:xfrm>
            <a:off x="4526280" y="1554480"/>
            <a:ext cx="3108960" cy="731520"/>
          </a:xfrm>
          <a:prstGeom prst="rect">
            <a:avLst/>
          </a:prstGeom>
          <a:noFill/>
          <a:ln/>
        </p:spPr>
        <p:txBody>
          <a:bodyPr wrap="square" lIns="0" tIns="0" rIns="0" bIns="0" rtlCol="0" anchor="ctr"/>
          <a:lstStyle/>
          <a:p>
            <a:pPr indent="0" marL="0">
              <a:buNone/>
            </a:pPr>
            <a:r>
              <a:rPr lang="en-US" sz="3600" b="1" dirty="0">
                <a:solidFill>
                  <a:srgbClr val="D9822B"/>
                </a:solidFill>
                <a:latin typeface="Cambria" pitchFamily="34" charset="0"/>
                <a:ea typeface="Cambria" pitchFamily="34" charset="-122"/>
                <a:cs typeface="Cambria" pitchFamily="34" charset="-120"/>
              </a:rPr>
              <a:t>S</a:t>
            </a:r>
            <a:endParaRPr lang="en-US" sz="3600" dirty="0"/>
          </a:p>
        </p:txBody>
      </p:sp>
      <p:sp>
        <p:nvSpPr>
          <p:cNvPr id="11" name="Text 9"/>
          <p:cNvSpPr txBox="1"/>
          <p:nvPr/>
        </p:nvSpPr>
        <p:spPr>
          <a:xfrm>
            <a:off x="4526280" y="2286000"/>
            <a:ext cx="3108960" cy="411480"/>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Specialised</a:t>
            </a:r>
            <a:endParaRPr lang="en-US" sz="1700" dirty="0"/>
          </a:p>
        </p:txBody>
      </p:sp>
      <p:sp>
        <p:nvSpPr>
          <p:cNvPr id="12" name="Text 10"/>
          <p:cNvSpPr txBox="1"/>
          <p:nvPr/>
        </p:nvSpPr>
        <p:spPr>
          <a:xfrm>
            <a:off x="4526280" y="2697480"/>
            <a:ext cx="3108960" cy="7315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distance to the centre of the space</a:t>
            </a:r>
            <a:endParaRPr lang="en-US" sz="1400" dirty="0"/>
          </a:p>
        </p:txBody>
      </p:sp>
      <p:sp>
        <p:nvSpPr>
          <p:cNvPr id="13" name="Shape 11"/>
          <p:cNvSpPr/>
          <p:nvPr/>
        </p:nvSpPr>
        <p:spPr>
          <a:xfrm>
            <a:off x="8046720" y="1463040"/>
            <a:ext cx="3520440" cy="2103120"/>
          </a:xfrm>
          <a:prstGeom prst="roundRect">
            <a:avLst>
              <a:gd name="adj" fmla="val 4348"/>
            </a:avLst>
          </a:prstGeom>
          <a:solidFill>
            <a:srgbClr val="E8F1F7"/>
          </a:solidFill>
          <a:ln w="12700">
            <a:solidFill>
              <a:srgbClr val="E8F1F7"/>
            </a:solidFill>
            <a:prstDash val="solid"/>
          </a:ln>
        </p:spPr>
      </p:sp>
      <p:sp>
        <p:nvSpPr>
          <p:cNvPr id="14" name="Text 12"/>
          <p:cNvSpPr txBox="1"/>
          <p:nvPr/>
        </p:nvSpPr>
        <p:spPr>
          <a:xfrm>
            <a:off x="8275320" y="1554480"/>
            <a:ext cx="3108960" cy="731520"/>
          </a:xfrm>
          <a:prstGeom prst="rect">
            <a:avLst/>
          </a:prstGeom>
          <a:noFill/>
          <a:ln/>
        </p:spPr>
        <p:txBody>
          <a:bodyPr wrap="square" lIns="0" tIns="0" rIns="0" bIns="0" rtlCol="0" anchor="ctr"/>
          <a:lstStyle/>
          <a:p>
            <a:pPr indent="0" marL="0">
              <a:buNone/>
            </a:pPr>
            <a:r>
              <a:rPr lang="en-US" sz="3600" b="1" dirty="0">
                <a:solidFill>
                  <a:srgbClr val="D9822B"/>
                </a:solidFill>
                <a:latin typeface="Cambria" pitchFamily="34" charset="0"/>
                <a:ea typeface="Cambria" pitchFamily="34" charset="-122"/>
                <a:cs typeface="Cambria" pitchFamily="34" charset="-120"/>
              </a:rPr>
              <a:t>E</a:t>
            </a:r>
            <a:endParaRPr lang="en-US" sz="3600" dirty="0"/>
          </a:p>
        </p:txBody>
      </p:sp>
      <p:sp>
        <p:nvSpPr>
          <p:cNvPr id="15" name="Text 13"/>
          <p:cNvSpPr txBox="1"/>
          <p:nvPr/>
        </p:nvSpPr>
        <p:spPr>
          <a:xfrm>
            <a:off x="8275320" y="2286000"/>
            <a:ext cx="3108960" cy="411480"/>
          </a:xfrm>
          <a:prstGeom prst="rect">
            <a:avLst/>
          </a:prstGeom>
          <a:noFill/>
          <a:ln/>
        </p:spPr>
        <p:txBody>
          <a:bodyPr wrap="square" lIns="0" tIns="0" rIns="0" bIns="0" rtlCol="0" anchor="ctr"/>
          <a:lstStyle/>
          <a:p>
            <a:pPr indent="0" marL="0">
              <a:buNone/>
            </a:pPr>
            <a:r>
              <a:rPr lang="en-US" sz="1700" b="1" dirty="0">
                <a:solidFill>
                  <a:srgbClr val="0B3C5D"/>
                </a:solidFill>
                <a:latin typeface="Calibri" pitchFamily="34" charset="0"/>
                <a:ea typeface="Calibri" pitchFamily="34" charset="-122"/>
                <a:cs typeface="Calibri" pitchFamily="34" charset="-120"/>
              </a:rPr>
              <a:t>Endangered</a:t>
            </a:r>
            <a:endParaRPr lang="en-US" sz="1700" dirty="0"/>
          </a:p>
        </p:txBody>
      </p:sp>
      <p:sp>
        <p:nvSpPr>
          <p:cNvPr id="16" name="Text 14"/>
          <p:cNvSpPr txBox="1"/>
          <p:nvPr/>
        </p:nvSpPr>
        <p:spPr>
          <a:xfrm>
            <a:off x="8275320" y="2697480"/>
            <a:ext cx="3108960" cy="7315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IUCN category → extinction probability</a:t>
            </a:r>
            <a:endParaRPr lang="en-US" sz="1400" dirty="0"/>
          </a:p>
        </p:txBody>
      </p:sp>
      <p:sp>
        <p:nvSpPr>
          <p:cNvPr id="17" name="Text 15"/>
          <p:cNvSpPr txBox="1"/>
          <p:nvPr/>
        </p:nvSpPr>
        <p:spPr>
          <a:xfrm>
            <a:off x="548640" y="3794760"/>
            <a:ext cx="11091672" cy="2377440"/>
          </a:xfrm>
          <a:prstGeom prst="rect">
            <a:avLst/>
          </a:prstGeom>
          <a:noFill/>
          <a:ln/>
        </p:spPr>
        <p:txBody>
          <a:bodyPr wrap="square" lIns="50800" tIns="50800" rIns="50800" bIns="50800" rtlCol="0" anchor="t"/>
          <a:lstStyle/>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Pimiento et al. (2020) Science Advances: species scoring high on all three are those whose loss would remove a unique function and is likely to happen</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Marine megafauna: green sea turtle, giant manta, whale shark, dugong — large, unusual, threatened</a:t>
            </a:r>
            <a:endParaRPr lang="en-US" sz="1500" dirty="0"/>
          </a:p>
          <a:p>
            <a:pPr marL="342900" indent="-342900">
              <a:spcAft>
                <a:spcPts val="600"/>
              </a:spcAft>
              <a:buSzPct val="100000"/>
              <a:buChar char="•"/>
            </a:pPr>
            <a:r>
              <a:rPr lang="en-US" sz="1500" dirty="0">
                <a:solidFill>
                  <a:srgbClr val="222222"/>
                </a:solidFill>
                <a:latin typeface="Calibri" pitchFamily="34" charset="0"/>
                <a:ea typeface="Calibri" pitchFamily="34" charset="-122"/>
                <a:cs typeface="Calibri" pitchFamily="34" charset="-120"/>
              </a:rPr>
              <a:t>A prioritisation logic: which species protect the most functional diversity per unit of effort? Directly transferable to freshwater fishes — you have all the ingredients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Extinction scenarios: simulating the loss of threatened species</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31</a:t>
            </a:r>
            <a:endParaRPr lang="en-US" sz="1000" dirty="0"/>
          </a:p>
        </p:txBody>
      </p:sp>
      <p:graphicFrame>
        <p:nvGraphicFramePr>
          <p:cNvPr id="5" name="Chart 0" descr=""/>
          <p:cNvGraphicFramePr/>
          <p:nvPr/>
        </p:nvGraphicFramePr>
        <p:xfrm>
          <a:off x="548640" y="1371600"/>
          <a:ext cx="603504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858000" y="1371600"/>
            <a:ext cx="4782312" cy="4480560"/>
          </a:xfrm>
          <a:prstGeom prst="rect">
            <a:avLst/>
          </a:prstGeom>
          <a:noFill/>
          <a:ln/>
        </p:spPr>
        <p:txBody>
          <a:bodyPr wrap="square" lIns="50800" tIns="50800" rIns="50800" bIns="50800" rtlCol="0" anchor="t"/>
          <a:lstStyle/>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Remove species one at a time (random / by threat / by rarity), recompute the indices → extinction curves</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Threatened-first steeper than random ⇒ threatened species are functionally non-redundant</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Toussaint et al. (2021) Nat. Commun., global vertebrates: idiosyncratic — disproportionate loss where threatened species are the large, specialised ones at the edge; little change where they have equivalents; facets (richness, dispersion, uniqueness) respond differently</a:t>
            </a:r>
            <a:endParaRPr lang="en-US" sz="1300" dirty="0"/>
          </a:p>
          <a:p>
            <a:pPr marL="342900" indent="-342900">
              <a:spcAft>
                <a:spcPts val="500"/>
              </a:spcAft>
              <a:buSzPct val="100000"/>
              <a:buChar char="•"/>
            </a:pPr>
            <a:r>
              <a:rPr lang="en-US" sz="1300" dirty="0">
                <a:solidFill>
                  <a:srgbClr val="222222"/>
                </a:solidFill>
                <a:latin typeface="Calibri" pitchFamily="34" charset="0"/>
                <a:ea typeface="Calibri" pitchFamily="34" charset="-122"/>
                <a:cs typeface="Calibri" pitchFamily="34" charset="-120"/>
              </a:rPr>
              <a:t>Freshwater fishes: large migratory species (giant catfishes, sturgeons) are at the periphery and at the top of the threat categories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2600" b="1" dirty="0">
                <a:solidFill>
                  <a:srgbClr val="0B3C5D"/>
                </a:solidFill>
                <a:latin typeface="Cambria" pitchFamily="34" charset="0"/>
                <a:ea typeface="Cambria" pitchFamily="34" charset="-122"/>
                <a:cs typeface="Cambria" pitchFamily="34" charset="-120"/>
              </a:rPr>
              <a:t>Putting it together: a trait-based study from start to finish</a:t>
            </a:r>
            <a:endParaRPr lang="en-US" sz="26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32</a:t>
            </a:r>
            <a:endParaRPr lang="en-US" sz="1000" dirty="0"/>
          </a:p>
        </p:txBody>
      </p:sp>
      <p:sp>
        <p:nvSpPr>
          <p:cNvPr id="5" name="Shape 3"/>
          <p:cNvSpPr/>
          <p:nvPr/>
        </p:nvSpPr>
        <p:spPr>
          <a:xfrm>
            <a:off x="813816" y="1371600"/>
            <a:ext cx="2331720" cy="960120"/>
          </a:xfrm>
          <a:prstGeom prst="roundRect">
            <a:avLst>
              <a:gd name="adj" fmla="val 11429"/>
            </a:avLst>
          </a:prstGeom>
          <a:solidFill>
            <a:srgbClr val="8A9BA8"/>
          </a:solidFill>
          <a:ln w="12700">
            <a:solidFill>
              <a:srgbClr val="8A9BA8"/>
            </a:solidFill>
            <a:prstDash val="solid"/>
          </a:ln>
        </p:spPr>
      </p:sp>
      <p:sp>
        <p:nvSpPr>
          <p:cNvPr id="6" name="Text 4"/>
          <p:cNvSpPr txBox="1"/>
          <p:nvPr/>
        </p:nvSpPr>
        <p:spPr>
          <a:xfrm>
            <a:off x="8138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Species × traits table</a:t>
            </a:r>
            <a:endParaRPr lang="en-US" sz="1300" dirty="0"/>
          </a:p>
        </p:txBody>
      </p:sp>
      <p:sp>
        <p:nvSpPr>
          <p:cNvPr id="7" name="Shape 5"/>
          <p:cNvSpPr/>
          <p:nvPr/>
        </p:nvSpPr>
        <p:spPr>
          <a:xfrm>
            <a:off x="3191256" y="1691640"/>
            <a:ext cx="320040" cy="320040"/>
          </a:xfrm>
          <a:prstGeom prst="rightArrow">
            <a:avLst/>
          </a:prstGeom>
          <a:solidFill>
            <a:srgbClr val="B8C4CE"/>
          </a:solidFill>
          <a:ln w="12700">
            <a:solidFill>
              <a:srgbClr val="B8C4CE"/>
            </a:solidFill>
            <a:prstDash val="solid"/>
          </a:ln>
        </p:spPr>
      </p:sp>
      <p:sp>
        <p:nvSpPr>
          <p:cNvPr id="8" name="Shape 6"/>
          <p:cNvSpPr/>
          <p:nvPr/>
        </p:nvSpPr>
        <p:spPr>
          <a:xfrm>
            <a:off x="3557016" y="1371600"/>
            <a:ext cx="2331720" cy="960120"/>
          </a:xfrm>
          <a:prstGeom prst="roundRect">
            <a:avLst>
              <a:gd name="adj" fmla="val 11429"/>
            </a:avLst>
          </a:prstGeom>
          <a:solidFill>
            <a:srgbClr val="1D6F9E"/>
          </a:solidFill>
          <a:ln w="12700">
            <a:solidFill>
              <a:srgbClr val="1D6F9E"/>
            </a:solidFill>
            <a:prstDash val="solid"/>
          </a:ln>
        </p:spPr>
      </p:sp>
      <p:sp>
        <p:nvSpPr>
          <p:cNvPr id="9" name="Text 7"/>
          <p:cNvSpPr txBox="1"/>
          <p:nvPr/>
        </p:nvSpPr>
        <p:spPr>
          <a:xfrm>
            <a:off x="35570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Functional space</a:t>
            </a:r>
            <a:endParaRPr lang="en-US" sz="1300" dirty="0"/>
          </a:p>
        </p:txBody>
      </p:sp>
      <p:sp>
        <p:nvSpPr>
          <p:cNvPr id="10" name="Shape 8"/>
          <p:cNvSpPr/>
          <p:nvPr/>
        </p:nvSpPr>
        <p:spPr>
          <a:xfrm>
            <a:off x="5934456" y="1691640"/>
            <a:ext cx="320040" cy="320040"/>
          </a:xfrm>
          <a:prstGeom prst="rightArrow">
            <a:avLst/>
          </a:prstGeom>
          <a:solidFill>
            <a:srgbClr val="B8C4CE"/>
          </a:solidFill>
          <a:ln w="12700">
            <a:solidFill>
              <a:srgbClr val="B8C4CE"/>
            </a:solidFill>
            <a:prstDash val="solid"/>
          </a:ln>
        </p:spPr>
      </p:sp>
      <p:sp>
        <p:nvSpPr>
          <p:cNvPr id="11" name="Shape 9"/>
          <p:cNvSpPr/>
          <p:nvPr/>
        </p:nvSpPr>
        <p:spPr>
          <a:xfrm>
            <a:off x="6300216" y="1371600"/>
            <a:ext cx="2331720" cy="960120"/>
          </a:xfrm>
          <a:prstGeom prst="roundRect">
            <a:avLst>
              <a:gd name="adj" fmla="val 11429"/>
            </a:avLst>
          </a:prstGeom>
          <a:solidFill>
            <a:srgbClr val="1D6F9E"/>
          </a:solidFill>
          <a:ln w="12700">
            <a:solidFill>
              <a:srgbClr val="1D6F9E"/>
            </a:solidFill>
            <a:prstDash val="solid"/>
          </a:ln>
        </p:spPr>
      </p:sp>
      <p:sp>
        <p:nvSpPr>
          <p:cNvPr id="12" name="Text 10"/>
          <p:cNvSpPr txBox="1"/>
          <p:nvPr/>
        </p:nvSpPr>
        <p:spPr>
          <a:xfrm>
            <a:off x="63002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Community indices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(CWM · FRic · FEve · FDiv · FDis)</a:t>
            </a:r>
            <a:endParaRPr lang="en-US" sz="1300" dirty="0"/>
          </a:p>
        </p:txBody>
      </p:sp>
      <p:sp>
        <p:nvSpPr>
          <p:cNvPr id="13" name="Shape 11"/>
          <p:cNvSpPr/>
          <p:nvPr/>
        </p:nvSpPr>
        <p:spPr>
          <a:xfrm>
            <a:off x="8677656" y="1691640"/>
            <a:ext cx="320040" cy="320040"/>
          </a:xfrm>
          <a:prstGeom prst="rightArrow">
            <a:avLst/>
          </a:prstGeom>
          <a:solidFill>
            <a:srgbClr val="B8C4CE"/>
          </a:solidFill>
          <a:ln w="12700">
            <a:solidFill>
              <a:srgbClr val="B8C4CE"/>
            </a:solidFill>
            <a:prstDash val="solid"/>
          </a:ln>
        </p:spPr>
      </p:sp>
      <p:sp>
        <p:nvSpPr>
          <p:cNvPr id="14" name="Shape 12"/>
          <p:cNvSpPr/>
          <p:nvPr/>
        </p:nvSpPr>
        <p:spPr>
          <a:xfrm>
            <a:off x="9043416" y="1371600"/>
            <a:ext cx="2331720" cy="960120"/>
          </a:xfrm>
          <a:prstGeom prst="roundRect">
            <a:avLst>
              <a:gd name="adj" fmla="val 11429"/>
            </a:avLst>
          </a:prstGeom>
          <a:solidFill>
            <a:srgbClr val="1D6F9E"/>
          </a:solidFill>
          <a:ln w="12700">
            <a:solidFill>
              <a:srgbClr val="1D6F9E"/>
            </a:solidFill>
            <a:prstDash val="solid"/>
          </a:ln>
        </p:spPr>
      </p:sp>
      <p:sp>
        <p:nvSpPr>
          <p:cNvPr id="15" name="Text 13"/>
          <p:cNvSpPr txBox="1"/>
          <p:nvPr/>
        </p:nvSpPr>
        <p:spPr>
          <a:xfrm>
            <a:off x="9043416" y="1371600"/>
            <a:ext cx="2331720" cy="960120"/>
          </a:xfrm>
          <a:prstGeom prst="rect">
            <a:avLst/>
          </a:prstGeom>
          <a:noFill/>
          <a:ln/>
        </p:spPr>
        <p:txBody>
          <a:bodyPr wrap="square" lIns="25400" tIns="25400" rIns="25400" bIns="254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Null models · assembly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extinction</a:t>
            </a:r>
            <a:endParaRPr lang="en-US" sz="1300" dirty="0"/>
          </a:p>
        </p:txBody>
      </p:sp>
      <p:sp>
        <p:nvSpPr>
          <p:cNvPr id="16" name="Shape 14"/>
          <p:cNvSpPr/>
          <p:nvPr/>
        </p:nvSpPr>
        <p:spPr>
          <a:xfrm>
            <a:off x="813816" y="2651760"/>
            <a:ext cx="2331720" cy="2651760"/>
          </a:xfrm>
          <a:prstGeom prst="roundRect">
            <a:avLst>
              <a:gd name="adj" fmla="val 3922"/>
            </a:avLst>
          </a:prstGeom>
          <a:solidFill>
            <a:srgbClr val="E8F1F7"/>
          </a:solidFill>
          <a:ln w="12700">
            <a:solidFill>
              <a:srgbClr val="E8F1F7"/>
            </a:solidFill>
            <a:prstDash val="solid"/>
          </a:ln>
        </p:spPr>
      </p:sp>
      <p:sp>
        <p:nvSpPr>
          <p:cNvPr id="17" name="Text 15"/>
          <p:cNvSpPr txBox="1"/>
          <p:nvPr/>
        </p:nvSpPr>
        <p:spPr>
          <a:xfrm>
            <a:off x="950976" y="2743200"/>
            <a:ext cx="2057400" cy="24688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Which traits, and why (one sentence each)</a:t>
            </a:r>
            <a:endParaRPr lang="en-US" sz="1300" dirty="0"/>
          </a:p>
        </p:txBody>
      </p:sp>
      <p:sp>
        <p:nvSpPr>
          <p:cNvPr id="18" name="Shape 16"/>
          <p:cNvSpPr/>
          <p:nvPr/>
        </p:nvSpPr>
        <p:spPr>
          <a:xfrm>
            <a:off x="3557016" y="2651760"/>
            <a:ext cx="2331720" cy="2651760"/>
          </a:xfrm>
          <a:prstGeom prst="roundRect">
            <a:avLst>
              <a:gd name="adj" fmla="val 3922"/>
            </a:avLst>
          </a:prstGeom>
          <a:solidFill>
            <a:srgbClr val="E8F1F7"/>
          </a:solidFill>
          <a:ln w="12700">
            <a:solidFill>
              <a:srgbClr val="E8F1F7"/>
            </a:solidFill>
            <a:prstDash val="solid"/>
          </a:ln>
        </p:spPr>
      </p:sp>
      <p:sp>
        <p:nvSpPr>
          <p:cNvPr id="19" name="Text 17"/>
          <p:cNvSpPr txBox="1"/>
          <p:nvPr/>
        </p:nvSpPr>
        <p:spPr>
          <a:xfrm>
            <a:off x="3694176" y="2743200"/>
            <a:ext cx="2057400" cy="24688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Standardise · distance · PCA/PCoA · m axes · quality</a:t>
            </a:r>
            <a:endParaRPr lang="en-US" sz="1300" dirty="0"/>
          </a:p>
        </p:txBody>
      </p:sp>
      <p:sp>
        <p:nvSpPr>
          <p:cNvPr id="20" name="Shape 18"/>
          <p:cNvSpPr/>
          <p:nvPr/>
        </p:nvSpPr>
        <p:spPr>
          <a:xfrm>
            <a:off x="6300216" y="2651760"/>
            <a:ext cx="2331720" cy="2651760"/>
          </a:xfrm>
          <a:prstGeom prst="roundRect">
            <a:avLst>
              <a:gd name="adj" fmla="val 3922"/>
            </a:avLst>
          </a:prstGeom>
          <a:solidFill>
            <a:srgbClr val="E8F1F7"/>
          </a:solidFill>
          <a:ln w="12700">
            <a:solidFill>
              <a:srgbClr val="E8F1F7"/>
            </a:solidFill>
            <a:prstDash val="solid"/>
          </a:ln>
        </p:spPr>
      </p:sp>
      <p:sp>
        <p:nvSpPr>
          <p:cNvPr id="21" name="Text 19"/>
          <p:cNvSpPr txBox="1"/>
          <p:nvPr/>
        </p:nvSpPr>
        <p:spPr>
          <a:xfrm>
            <a:off x="6437376" y="2743200"/>
            <a:ext cx="2057400" cy="24688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Index chosen from the question: CWM (dominant), FRic (range), FDis/Rao (spread)</a:t>
            </a:r>
            <a:endParaRPr lang="en-US" sz="1300" dirty="0"/>
          </a:p>
        </p:txBody>
      </p:sp>
      <p:sp>
        <p:nvSpPr>
          <p:cNvPr id="22" name="Shape 20"/>
          <p:cNvSpPr/>
          <p:nvPr/>
        </p:nvSpPr>
        <p:spPr>
          <a:xfrm>
            <a:off x="9043416" y="2651760"/>
            <a:ext cx="2331720" cy="2651760"/>
          </a:xfrm>
          <a:prstGeom prst="roundRect">
            <a:avLst>
              <a:gd name="adj" fmla="val 3922"/>
            </a:avLst>
          </a:prstGeom>
          <a:solidFill>
            <a:srgbClr val="E8F1F7"/>
          </a:solidFill>
          <a:ln w="12700">
            <a:solidFill>
              <a:srgbClr val="E8F1F7"/>
            </a:solidFill>
            <a:prstDash val="solid"/>
          </a:ln>
        </p:spPr>
      </p:sp>
      <p:sp>
        <p:nvSpPr>
          <p:cNvPr id="23" name="Text 21"/>
          <p:cNvSpPr txBox="1"/>
          <p:nvPr/>
        </p:nvSpPr>
        <p:spPr>
          <a:xfrm>
            <a:off x="9180576" y="2743200"/>
            <a:ext cx="2057400" cy="2468880"/>
          </a:xfrm>
          <a:prstGeom prst="rect">
            <a:avLst/>
          </a:prstGeom>
          <a:noFill/>
          <a:ln/>
        </p:spPr>
        <p:txBody>
          <a:bodyPr wrap="square" lIns="0" tIns="0" rIns="0" bIns="0" rtlCol="0" anchor="t"/>
          <a:lstStyle/>
          <a:p>
            <a:pPr indent="0" marL="0">
              <a:buNone/>
            </a:pPr>
            <a:r>
              <a:rPr lang="en-US" sz="1300" dirty="0">
                <a:solidFill>
                  <a:srgbClr val="222222"/>
                </a:solidFill>
                <a:latin typeface="Calibri" pitchFamily="34" charset="0"/>
                <a:ea typeface="Calibri" pitchFamily="34" charset="-122"/>
                <a:cs typeface="Calibri" pitchFamily="34" charset="-120"/>
              </a:rPr>
              <a:t>Null model: keep what you don’t test · SES free of S · mechanism argued · sensitivity · which species hold unique functions?</a:t>
            </a:r>
            <a:endParaRPr lang="en-US" sz="1300" dirty="0"/>
          </a:p>
        </p:txBody>
      </p:sp>
      <p:sp>
        <p:nvSpPr>
          <p:cNvPr id="24" name="Shape 22"/>
          <p:cNvSpPr/>
          <p:nvPr/>
        </p:nvSpPr>
        <p:spPr>
          <a:xfrm>
            <a:off x="548640" y="5577840"/>
            <a:ext cx="11091672" cy="548640"/>
          </a:xfrm>
          <a:prstGeom prst="roundRect">
            <a:avLst>
              <a:gd name="adj" fmla="val 13333"/>
            </a:avLst>
          </a:prstGeom>
          <a:solidFill>
            <a:srgbClr val="E8F1F7"/>
          </a:solidFill>
          <a:ln w="12700">
            <a:solidFill>
              <a:srgbClr val="E8F1F7"/>
            </a:solidFill>
            <a:prstDash val="solid"/>
          </a:ln>
        </p:spPr>
      </p:sp>
      <p:sp>
        <p:nvSpPr>
          <p:cNvPr id="25" name="Text 23"/>
          <p:cNvSpPr txBox="1"/>
          <p:nvPr/>
        </p:nvSpPr>
        <p:spPr>
          <a:xfrm>
            <a:off x="685800" y="5577840"/>
            <a:ext cx="10817352" cy="548640"/>
          </a:xfrm>
          <a:prstGeom prst="rect">
            <a:avLst/>
          </a:prstGeom>
          <a:noFill/>
          <a:ln/>
        </p:spPr>
        <p:txBody>
          <a:bodyPr wrap="square" lIns="50800" tIns="50800" rIns="50800" bIns="50800" rtlCol="0" anchor="ctr"/>
          <a:lstStyle/>
          <a:p>
            <a:pPr indent="0" marL="0">
              <a:buNone/>
            </a:pPr>
            <a:r>
              <a:rPr lang="en-US" sz="1600" dirty="0">
                <a:solidFill>
                  <a:srgbClr val="0B3C5D"/>
                </a:solidFill>
                <a:latin typeface="Calibri" pitchFamily="34" charset="0"/>
                <a:ea typeface="Calibri" pitchFamily="34" charset="-122"/>
                <a:cs typeface="Calibri" pitchFamily="34" charset="-120"/>
              </a:rPr>
              <a:t>This is what you will do on Thursday — and in your own projects.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822960"/>
          </a:xfrm>
          <a:prstGeom prst="rect">
            <a:avLst/>
          </a:prstGeom>
          <a:noFill/>
          <a:ln/>
        </p:spPr>
        <p:txBody>
          <a:bodyPr wrap="square" lIns="0" tIns="0" rIns="0" bIns="0" rtlCol="0" anchor="ctr"/>
          <a:lstStyle/>
          <a:p>
            <a:pPr indent="0" marL="0">
              <a:buNone/>
            </a:pPr>
            <a:r>
              <a:rPr lang="en-US" sz="3000" b="1" dirty="0">
                <a:solidFill>
                  <a:srgbClr val="0B3C5D"/>
                </a:solidFill>
                <a:latin typeface="Cambria" pitchFamily="34" charset="0"/>
                <a:ea typeface="Cambria" pitchFamily="34" charset="-122"/>
                <a:cs typeface="Cambria" pitchFamily="34" charset="-120"/>
              </a:rPr>
              <a:t>Block 2 — take-home</a:t>
            </a:r>
            <a:endParaRPr lang="en-US" sz="3000" dirty="0"/>
          </a:p>
        </p:txBody>
      </p:sp>
      <p:sp>
        <p:nvSpPr>
          <p:cNvPr id="3" name="Text 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B6B6B"/>
                </a:solidFill>
                <a:latin typeface="Calibri" pitchFamily="34" charset="0"/>
                <a:ea typeface="Calibri" pitchFamily="34" charset="-122"/>
                <a:cs typeface="Calibri" pitchFamily="34" charset="-120"/>
              </a:rPr>
              <a:t>Master FBE 2026 · Session 1 · Block 2 · Communities in the space: indices, null models, extinctions</a:t>
            </a:r>
            <a:endParaRPr lang="en-US" sz="1000" dirty="0"/>
          </a:p>
        </p:txBody>
      </p:sp>
      <p:sp>
        <p:nvSpPr>
          <p:cNvPr id="4" name="Text 2"/>
          <p:cNvSpPr txBox="1"/>
          <p:nvPr/>
        </p:nvSpPr>
        <p:spPr>
          <a:xfrm>
            <a:off x="10725912" y="6446520"/>
            <a:ext cx="91440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548640" y="1600200"/>
            <a:ext cx="640080" cy="640080"/>
          </a:xfrm>
          <a:prstGeom prst="roundRect">
            <a:avLst>
              <a:gd name="adj" fmla="val 17143"/>
            </a:avLst>
          </a:prstGeom>
          <a:solidFill>
            <a:srgbClr val="D9822B"/>
          </a:solidFill>
          <a:ln w="12700">
            <a:solidFill>
              <a:srgbClr val="D9822B"/>
            </a:solidFill>
            <a:prstDash val="solid"/>
          </a:ln>
        </p:spPr>
      </p:sp>
      <p:sp>
        <p:nvSpPr>
          <p:cNvPr id="6" name="Text 4"/>
          <p:cNvSpPr txBox="1"/>
          <p:nvPr/>
        </p:nvSpPr>
        <p:spPr>
          <a:xfrm>
            <a:off x="548640" y="160020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txBox="1"/>
          <p:nvPr/>
        </p:nvSpPr>
        <p:spPr>
          <a:xfrm>
            <a:off x="1463040" y="146304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An observed index has no meaning without an expectation</a:t>
            </a:r>
            <a:endParaRPr lang="en-US" sz="1800" dirty="0"/>
          </a:p>
        </p:txBody>
      </p:sp>
      <p:sp>
        <p:nvSpPr>
          <p:cNvPr id="8" name="Shape 6"/>
          <p:cNvSpPr/>
          <p:nvPr/>
        </p:nvSpPr>
        <p:spPr>
          <a:xfrm>
            <a:off x="548640" y="2651760"/>
            <a:ext cx="640080" cy="640080"/>
          </a:xfrm>
          <a:prstGeom prst="roundRect">
            <a:avLst>
              <a:gd name="adj" fmla="val 17143"/>
            </a:avLst>
          </a:prstGeom>
          <a:solidFill>
            <a:srgbClr val="D9822B"/>
          </a:solidFill>
          <a:ln w="12700">
            <a:solidFill>
              <a:srgbClr val="D9822B"/>
            </a:solidFill>
            <a:prstDash val="solid"/>
          </a:ln>
        </p:spPr>
      </p:sp>
      <p:sp>
        <p:nvSpPr>
          <p:cNvPr id="9" name="Text 7"/>
          <p:cNvSpPr txBox="1"/>
          <p:nvPr/>
        </p:nvSpPr>
        <p:spPr>
          <a:xfrm>
            <a:off x="548640" y="265176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463040" y="251460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Null model: keep richness and abundances, randomise traits; SES = z-score, free of the richness confound</a:t>
            </a:r>
            <a:endParaRPr lang="en-US" sz="1800" dirty="0"/>
          </a:p>
        </p:txBody>
      </p:sp>
      <p:sp>
        <p:nvSpPr>
          <p:cNvPr id="11" name="Shape 9"/>
          <p:cNvSpPr/>
          <p:nvPr/>
        </p:nvSpPr>
        <p:spPr>
          <a:xfrm>
            <a:off x="548640" y="3703320"/>
            <a:ext cx="640080" cy="640080"/>
          </a:xfrm>
          <a:prstGeom prst="roundRect">
            <a:avLst>
              <a:gd name="adj" fmla="val 17143"/>
            </a:avLst>
          </a:prstGeom>
          <a:solidFill>
            <a:srgbClr val="D9822B"/>
          </a:solidFill>
          <a:ln w="12700">
            <a:solidFill>
              <a:srgbClr val="D9822B"/>
            </a:solidFill>
            <a:prstDash val="solid"/>
          </a:ln>
        </p:spPr>
      </p:sp>
      <p:sp>
        <p:nvSpPr>
          <p:cNvPr id="12" name="Text 10"/>
          <p:cNvSpPr txBox="1"/>
          <p:nvPr/>
        </p:nvSpPr>
        <p:spPr>
          <a:xfrm>
            <a:off x="548640" y="370332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3" name="Text 11"/>
          <p:cNvSpPr txBox="1"/>
          <p:nvPr/>
        </p:nvSpPr>
        <p:spPr>
          <a:xfrm>
            <a:off x="1463040" y="356616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Clustering ≈ filtering, overdispersion ≈ limiting similarity — consistent with, not proof of</a:t>
            </a:r>
            <a:endParaRPr lang="en-US" sz="1800" dirty="0"/>
          </a:p>
        </p:txBody>
      </p:sp>
      <p:sp>
        <p:nvSpPr>
          <p:cNvPr id="14" name="Shape 12"/>
          <p:cNvSpPr/>
          <p:nvPr/>
        </p:nvSpPr>
        <p:spPr>
          <a:xfrm>
            <a:off x="548640" y="4754880"/>
            <a:ext cx="640080" cy="640080"/>
          </a:xfrm>
          <a:prstGeom prst="roundRect">
            <a:avLst>
              <a:gd name="adj" fmla="val 17143"/>
            </a:avLst>
          </a:prstGeom>
          <a:solidFill>
            <a:srgbClr val="D9822B"/>
          </a:solidFill>
          <a:ln w="12700">
            <a:solidFill>
              <a:srgbClr val="D9822B"/>
            </a:solidFill>
            <a:prstDash val="solid"/>
          </a:ln>
        </p:spPr>
      </p:sp>
      <p:sp>
        <p:nvSpPr>
          <p:cNvPr id="15" name="Text 13"/>
          <p:cNvSpPr txBox="1"/>
          <p:nvPr/>
        </p:nvSpPr>
        <p:spPr>
          <a:xfrm>
            <a:off x="548640" y="4754880"/>
            <a:ext cx="640080" cy="640080"/>
          </a:xfrm>
          <a:prstGeom prst="rect">
            <a:avLst/>
          </a:prstGeom>
          <a:noFill/>
          <a:ln/>
        </p:spPr>
        <p:txBody>
          <a:bodyPr wrap="square" lIns="25400" tIns="25400" rIns="25400" bIns="254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6" name="Text 14"/>
          <p:cNvSpPr txBox="1"/>
          <p:nvPr/>
        </p:nvSpPr>
        <p:spPr>
          <a:xfrm>
            <a:off x="1463040" y="4617720"/>
            <a:ext cx="10177272" cy="914400"/>
          </a:xfrm>
          <a:prstGeom prst="rect">
            <a:avLst/>
          </a:prstGeom>
          <a:noFill/>
          <a:ln/>
        </p:spPr>
        <p:txBody>
          <a:bodyPr wrap="square" lIns="0" tIns="0" rIns="0" bIns="0" rtlCol="0" anchor="ctr"/>
          <a:lstStyle/>
          <a:p>
            <a:pPr indent="0" marL="0">
              <a:buNone/>
            </a:pPr>
            <a:r>
              <a:rPr lang="en-US" sz="1800" dirty="0">
                <a:solidFill>
                  <a:srgbClr val="222222"/>
                </a:solidFill>
                <a:latin typeface="Calibri" pitchFamily="34" charset="0"/>
                <a:ea typeface="Calibri" pitchFamily="34" charset="-122"/>
                <a:cs typeface="Calibri" pitchFamily="34" charset="-120"/>
              </a:rPr>
              <a:t>Rare and threatened species hold unique functions: simulate their loss (extinction curves, FUSE)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FBE 2026 · Block 2</dc:title>
  <dc:subject>PptxGenJS Presentation</dc:subject>
  <dc:creator>Aurèle Toussaint</dc:creator>
  <cp:lastModifiedBy>Aurèle Toussaint</cp:lastModifiedBy>
  <cp:revision>1</cp:revision>
  <dcterms:created xsi:type="dcterms:W3CDTF">2026-09-11T09:13:12Z</dcterms:created>
  <dcterms:modified xsi:type="dcterms:W3CDTF">2026-09-11T09:13:12Z</dcterms:modified>
</cp:coreProperties>
</file>
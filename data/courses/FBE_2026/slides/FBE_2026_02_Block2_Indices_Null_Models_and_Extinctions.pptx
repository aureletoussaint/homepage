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6096"/>
  </p:normalViewPr>
  <p:slideViewPr>
    <p:cSldViewPr snapToGrid="0" snapToObjects="1">
      <p:cViewPr varScale="1">
        <p:scale>
          <a:sx n="81" d="100"/>
          <a:sy n="81" d="100"/>
        </p:scale>
        <p:origin x="2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C5D"/>
                </a:solidFill>
                <a:latin typeface="Arial"/>
              </a:defRPr>
            </a:pPr>
            <a:r>
              <a:rPr lang="fr-FR" sz="1200" b="0" i="0" u="none" strike="noStrike">
                <a:solidFill>
                  <a:srgbClr val="0B3C5D"/>
                </a:solidFill>
                <a:latin typeface="Arial"/>
              </a:rPr>
              <a:t>FRic vs species richness (illustrative)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FRic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xVal>
            <c:numRef>
              <c:f>Sheet1!$A$2:$A$17</c:f>
              <c:numCache>
                <c:formatCode>General</c:formatCode>
                <c:ptCount val="16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  <c:pt idx="7">
                  <c:v>17</c:v>
                </c:pt>
                <c:pt idx="8">
                  <c:v>18</c:v>
                </c:pt>
                <c:pt idx="9">
                  <c:v>19</c:v>
                </c:pt>
                <c:pt idx="10">
                  <c:v>20</c:v>
                </c:pt>
                <c:pt idx="11">
                  <c:v>21</c:v>
                </c:pt>
                <c:pt idx="12">
                  <c:v>22</c:v>
                </c:pt>
                <c:pt idx="13">
                  <c:v>23</c:v>
                </c:pt>
                <c:pt idx="14">
                  <c:v>24</c:v>
                </c:pt>
                <c:pt idx="15">
                  <c:v>25</c:v>
                </c:pt>
              </c:numCache>
            </c:numRef>
          </c:xVal>
          <c:yVal>
            <c:numRef>
              <c:f>Sheet1!$B$2:$B$17</c:f>
              <c:numCache>
                <c:formatCode>General</c:formatCode>
                <c:ptCount val="16"/>
                <c:pt idx="0">
                  <c:v>0.25800000000000001</c:v>
                </c:pt>
                <c:pt idx="1">
                  <c:v>0.26600000000000001</c:v>
                </c:pt>
                <c:pt idx="2">
                  <c:v>0.311</c:v>
                </c:pt>
                <c:pt idx="3">
                  <c:v>0.30299999999999999</c:v>
                </c:pt>
                <c:pt idx="4">
                  <c:v>0.28999999999999998</c:v>
                </c:pt>
                <c:pt idx="5">
                  <c:v>0.371</c:v>
                </c:pt>
                <c:pt idx="6">
                  <c:v>0.34</c:v>
                </c:pt>
                <c:pt idx="7">
                  <c:v>0.34399999999999997</c:v>
                </c:pt>
                <c:pt idx="8">
                  <c:v>0.39300000000000002</c:v>
                </c:pt>
                <c:pt idx="9">
                  <c:v>0.40400000000000003</c:v>
                </c:pt>
                <c:pt idx="10">
                  <c:v>0.46300000000000002</c:v>
                </c:pt>
                <c:pt idx="11">
                  <c:v>0.49</c:v>
                </c:pt>
                <c:pt idx="12">
                  <c:v>0.44800000000000001</c:v>
                </c:pt>
                <c:pt idx="13">
                  <c:v>0.51900000000000002</c:v>
                </c:pt>
                <c:pt idx="14">
                  <c:v>0.53600000000000003</c:v>
                </c:pt>
                <c:pt idx="15">
                  <c:v>0.505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817-5643-AB8B-CB2CC1472B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Species richness 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FRic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C5D"/>
                </a:solidFill>
                <a:latin typeface="Arial"/>
              </a:defRPr>
            </a:pPr>
            <a:r>
              <a:rPr lang="fr-FR" sz="1200" b="0" i="0" u="none" strike="noStrike">
                <a:solidFill>
                  <a:srgbClr val="0B3C5D"/>
                </a:solidFill>
                <a:latin typeface="Arial"/>
              </a:rPr>
              <a:t>FDis vs species richness (illustrative)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FDis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1D6F9E"/>
              </a:solidFill>
              <a:ln w="9525" cap="flat">
                <a:solidFill>
                  <a:srgbClr val="1D6F9E"/>
                </a:solidFill>
                <a:prstDash val="solid"/>
                <a:round/>
              </a:ln>
              <a:effectLst/>
            </c:spPr>
          </c:marker>
          <c:xVal>
            <c:numRef>
              <c:f>Sheet1!$A$2:$A$17</c:f>
              <c:numCache>
                <c:formatCode>General</c:formatCode>
                <c:ptCount val="16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  <c:pt idx="7">
                  <c:v>17</c:v>
                </c:pt>
                <c:pt idx="8">
                  <c:v>18</c:v>
                </c:pt>
                <c:pt idx="9">
                  <c:v>19</c:v>
                </c:pt>
                <c:pt idx="10">
                  <c:v>20</c:v>
                </c:pt>
                <c:pt idx="11">
                  <c:v>21</c:v>
                </c:pt>
                <c:pt idx="12">
                  <c:v>22</c:v>
                </c:pt>
                <c:pt idx="13">
                  <c:v>23</c:v>
                </c:pt>
                <c:pt idx="14">
                  <c:v>24</c:v>
                </c:pt>
                <c:pt idx="15">
                  <c:v>25</c:v>
                </c:pt>
              </c:numCache>
            </c:numRef>
          </c:xVal>
          <c:yVal>
            <c:numRef>
              <c:f>Sheet1!$B$2:$B$17</c:f>
              <c:numCache>
                <c:formatCode>General</c:formatCode>
                <c:ptCount val="16"/>
                <c:pt idx="0">
                  <c:v>0.28599999999999998</c:v>
                </c:pt>
                <c:pt idx="1">
                  <c:v>0.28399999999999997</c:v>
                </c:pt>
                <c:pt idx="2">
                  <c:v>0.308</c:v>
                </c:pt>
                <c:pt idx="3">
                  <c:v>0.33800000000000002</c:v>
                </c:pt>
                <c:pt idx="4">
                  <c:v>0.26700000000000002</c:v>
                </c:pt>
                <c:pt idx="5">
                  <c:v>0.27200000000000002</c:v>
                </c:pt>
                <c:pt idx="6">
                  <c:v>0.26700000000000002</c:v>
                </c:pt>
                <c:pt idx="7">
                  <c:v>0.29899999999999999</c:v>
                </c:pt>
                <c:pt idx="8">
                  <c:v>0.26800000000000002</c:v>
                </c:pt>
                <c:pt idx="9">
                  <c:v>0.26700000000000002</c:v>
                </c:pt>
                <c:pt idx="10">
                  <c:v>0.33300000000000002</c:v>
                </c:pt>
                <c:pt idx="11">
                  <c:v>0.33100000000000002</c:v>
                </c:pt>
                <c:pt idx="12">
                  <c:v>0.29099999999999998</c:v>
                </c:pt>
                <c:pt idx="13">
                  <c:v>0.32300000000000001</c:v>
                </c:pt>
                <c:pt idx="14">
                  <c:v>0.33400000000000002</c:v>
                </c:pt>
                <c:pt idx="15">
                  <c:v>0.29299999999999998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B5D-DC4A-8C9B-3E9D9ADC4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Species richness 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FDis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C5D"/>
                </a:solidFill>
                <a:latin typeface="Arial"/>
              </a:defRPr>
            </a:pPr>
            <a:r>
              <a:rPr lang="fr-FR" sz="1200" b="0" i="0" u="none" strike="noStrike">
                <a:solidFill>
                  <a:srgbClr val="0B3C5D"/>
                </a:solidFill>
                <a:latin typeface="Arial"/>
              </a:rPr>
              <a:t>Null distribution of FRic for one site (illustrative)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null values (199 permutations)</c:v>
                </c:pt>
              </c:strCache>
            </c:strRef>
          </c:tx>
          <c:spPr>
            <a:solidFill>
              <a:srgbClr val="B8C4CE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0.20</c:v>
                </c:pt>
                <c:pt idx="1">
                  <c:v>0.24</c:v>
                </c:pt>
                <c:pt idx="2">
                  <c:v>0.28</c:v>
                </c:pt>
                <c:pt idx="3">
                  <c:v>0.32</c:v>
                </c:pt>
                <c:pt idx="4">
                  <c:v>0.36</c:v>
                </c:pt>
                <c:pt idx="5">
                  <c:v>0.40</c:v>
                </c:pt>
                <c:pt idx="6">
                  <c:v>0.44</c:v>
                </c:pt>
                <c:pt idx="7">
                  <c:v>0.48</c:v>
                </c:pt>
                <c:pt idx="8">
                  <c:v>0.52</c:v>
                </c:pt>
                <c:pt idx="9">
                  <c:v>0.56</c:v>
                </c:pt>
                <c:pt idx="10">
                  <c:v>0.60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28</c:v>
                </c:pt>
                <c:pt idx="4">
                  <c:v>45</c:v>
                </c:pt>
                <c:pt idx="5">
                  <c:v>50</c:v>
                </c:pt>
                <c:pt idx="6">
                  <c:v>32</c:v>
                </c:pt>
                <c:pt idx="7">
                  <c:v>16</c:v>
                </c:pt>
                <c:pt idx="8">
                  <c:v>7</c:v>
                </c:pt>
                <c:pt idx="9">
                  <c:v>3</c:v>
                </c:pt>
                <c:pt idx="1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85-8240-8B95-8E3F24AB7F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FRic under the null model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Count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C5D"/>
                </a:solidFill>
                <a:latin typeface="Arial"/>
              </a:defRPr>
            </a:pPr>
            <a:r>
              <a:rPr lang="fr-FR" sz="1200" b="0" i="0" u="none" strike="noStrike">
                <a:solidFill>
                  <a:srgbClr val="0B3C5D"/>
                </a:solidFill>
                <a:latin typeface="Arial"/>
              </a:rPr>
              <a:t>Null distribution of FRic for one site (illustrative)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null values (199 permutations)</c:v>
                </c:pt>
              </c:strCache>
            </c:strRef>
          </c:tx>
          <c:spPr>
            <a:solidFill>
              <a:srgbClr val="B8C4CE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0.20</c:v>
                </c:pt>
                <c:pt idx="1">
                  <c:v>0.24</c:v>
                </c:pt>
                <c:pt idx="2">
                  <c:v>0.28</c:v>
                </c:pt>
                <c:pt idx="3">
                  <c:v>0.32</c:v>
                </c:pt>
                <c:pt idx="4">
                  <c:v>0.36</c:v>
                </c:pt>
                <c:pt idx="5">
                  <c:v>0.40</c:v>
                </c:pt>
                <c:pt idx="6">
                  <c:v>0.44</c:v>
                </c:pt>
                <c:pt idx="7">
                  <c:v>0.48</c:v>
                </c:pt>
                <c:pt idx="8">
                  <c:v>0.52</c:v>
                </c:pt>
                <c:pt idx="9">
                  <c:v>0.56</c:v>
                </c:pt>
                <c:pt idx="10">
                  <c:v>0.60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28</c:v>
                </c:pt>
                <c:pt idx="4">
                  <c:v>45</c:v>
                </c:pt>
                <c:pt idx="5">
                  <c:v>50</c:v>
                </c:pt>
                <c:pt idx="6">
                  <c:v>32</c:v>
                </c:pt>
                <c:pt idx="7">
                  <c:v>16</c:v>
                </c:pt>
                <c:pt idx="8">
                  <c:v>7</c:v>
                </c:pt>
                <c:pt idx="9">
                  <c:v>3</c:v>
                </c:pt>
                <c:pt idx="1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D-3E4F-9D8B-051933DC31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FRic under the null model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Count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C5D"/>
                </a:solidFill>
                <a:latin typeface="Arial"/>
              </a:defRPr>
            </a:pPr>
            <a:r>
              <a:rPr lang="fr-FR" sz="1200" b="0" i="0" u="none" strike="noStrike">
                <a:solidFill>
                  <a:srgbClr val="0B3C5D"/>
                </a:solidFill>
                <a:latin typeface="Arial"/>
              </a:rPr>
              <a:t>FRic remaining vs % species removed (illustrative)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31750" cap="flat">
              <a:solidFill>
                <a:srgbClr val="8A9BA8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</c:v>
                </c:pt>
                <c:pt idx="1">
                  <c:v>0.97</c:v>
                </c:pt>
                <c:pt idx="2">
                  <c:v>0.94</c:v>
                </c:pt>
                <c:pt idx="3">
                  <c:v>0.9</c:v>
                </c:pt>
                <c:pt idx="4">
                  <c:v>0.85</c:v>
                </c:pt>
                <c:pt idx="5">
                  <c:v>0.79</c:v>
                </c:pt>
                <c:pt idx="6">
                  <c:v>0.72</c:v>
                </c:pt>
                <c:pt idx="7">
                  <c:v>0.62</c:v>
                </c:pt>
                <c:pt idx="8">
                  <c:v>0.5</c:v>
                </c:pt>
                <c:pt idx="9">
                  <c:v>0.32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78-E741-81F9-E956C8E26F1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most threatened first</c:v>
                </c:pt>
              </c:strCache>
            </c:strRef>
          </c:tx>
          <c:spPr>
            <a:ln w="31750" cap="flat">
              <a:solidFill>
                <a:srgbClr val="B23A48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</c:v>
                </c:pt>
                <c:pt idx="1">
                  <c:v>0.82</c:v>
                </c:pt>
                <c:pt idx="2">
                  <c:v>0.7</c:v>
                </c:pt>
                <c:pt idx="3">
                  <c:v>0.6</c:v>
                </c:pt>
                <c:pt idx="4">
                  <c:v>0.53</c:v>
                </c:pt>
                <c:pt idx="5">
                  <c:v>0.47</c:v>
                </c:pt>
                <c:pt idx="6">
                  <c:v>0.42</c:v>
                </c:pt>
                <c:pt idx="7">
                  <c:v>0.36</c:v>
                </c:pt>
                <c:pt idx="8">
                  <c:v>0.28000000000000003</c:v>
                </c:pt>
                <c:pt idx="9">
                  <c:v>0.17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78-E741-81F9-E956C8E26F1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least abundant first</c:v>
                </c:pt>
              </c:strCache>
            </c:strRef>
          </c:tx>
          <c:spPr>
            <a:ln w="31750" cap="flat">
              <a:solidFill>
                <a:srgbClr val="D982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</c:v>
                </c:pt>
                <c:pt idx="1">
                  <c:v>0.9</c:v>
                </c:pt>
                <c:pt idx="2">
                  <c:v>0.82</c:v>
                </c:pt>
                <c:pt idx="3">
                  <c:v>0.75</c:v>
                </c:pt>
                <c:pt idx="4">
                  <c:v>0.68</c:v>
                </c:pt>
                <c:pt idx="5">
                  <c:v>0.6</c:v>
                </c:pt>
                <c:pt idx="6">
                  <c:v>0.52</c:v>
                </c:pt>
                <c:pt idx="7">
                  <c:v>0.43</c:v>
                </c:pt>
                <c:pt idx="8">
                  <c:v>0.32</c:v>
                </c:pt>
                <c:pt idx="9">
                  <c:v>0.18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78-E741-81F9-E956C8E26F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% of species removed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B6B6B"/>
                    </a:solidFill>
                    <a:latin typeface="Arial"/>
                  </a:defRPr>
                </a:pPr>
                <a:r>
                  <a:rPr lang="fr-FR" b="0" i="0" u="none" strike="noStrike">
                    <a:solidFill>
                      <a:srgbClr val="6B6B6B"/>
                    </a:solidFill>
                    <a:latin typeface="Arial"/>
                  </a:rPr>
                  <a:t>FRic (fraction of initial)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5438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— Communities in the space: indices, null models and extinctions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14:45–15:35 · CWM and the FD indices in brief · The richness confound · Filtering vs limiting similarity · Null models and SES · Rare species, FUSE and extinction scenarios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Communities in the space: indices, null models, extinctions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species to communities: position and dispersion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138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8138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× traits table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912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570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5570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space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344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3557016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 ·  Group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02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63002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indices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(CWM · FRic · FEve · FDiv · FDis)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776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6300216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 ·  Group 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434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90434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models · assembly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extinction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43416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 ·  Group 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017520"/>
            <a:ext cx="42062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05840" y="3383280"/>
            <a:ext cx="3291840" cy="2194560"/>
          </a:xfrm>
          <a:prstGeom prst="hexagon">
            <a:avLst/>
          </a:prstGeom>
          <a:solidFill>
            <a:srgbClr val="E8F1F7"/>
          </a:solidFill>
          <a:ln w="1905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83080" y="3622853"/>
            <a:ext cx="91440" cy="914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392424" y="3586277"/>
            <a:ext cx="164592" cy="164592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849624" y="4361688"/>
            <a:ext cx="237744" cy="23774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29000" y="5246827"/>
            <a:ext cx="91440" cy="914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46504" y="5210251"/>
            <a:ext cx="164592" cy="164592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16152" y="4361688"/>
            <a:ext cx="237744" cy="23774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606040" y="4434840"/>
            <a:ext cx="91440" cy="914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240280" y="4661611"/>
            <a:ext cx="164592" cy="164592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862072" y="4098341"/>
            <a:ext cx="237744" cy="23774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441448" y="4215384"/>
            <a:ext cx="91440" cy="91440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505456" y="4334256"/>
            <a:ext cx="292608" cy="29260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community: hull (FRic), abundance-weighted centroid (CWM, orange), point size = abundance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3017520"/>
            <a:ext cx="6702552" cy="1371600"/>
          </a:xfrm>
          <a:prstGeom prst="roundRect">
            <a:avLst>
              <a:gd name="adj" fmla="val 6667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 txBox="1"/>
          <p:nvPr/>
        </p:nvSpPr>
        <p:spPr>
          <a:xfrm>
            <a:off x="5120640" y="3090672"/>
            <a:ext cx="6336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— “What is the dominant strategy?”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3456432"/>
            <a:ext cx="6336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CWM = Σ pᵢ · tᵢ — the abundance-weighted mean of a trait. Mass-ratio hypothesis (Grime 1998): functioning is driven by the dominants. Fish example: CWM body length along temperature (Group B).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937760" y="4526280"/>
            <a:ext cx="6702552" cy="1371600"/>
          </a:xfrm>
          <a:prstGeom prst="roundRect">
            <a:avLst>
              <a:gd name="adj" fmla="val 6667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 txBox="1"/>
          <p:nvPr/>
        </p:nvSpPr>
        <p:spPr>
          <a:xfrm>
            <a:off x="5120640" y="4599432"/>
            <a:ext cx="6336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— “How functionally diverse is it?”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4965192"/>
            <a:ext cx="6336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space, how regularly, how far from the centre. Captures complementarity. Two communities with the same CWM body length can be completely different.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functional diversity indices in one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02971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Abundances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question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CWM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Abundance-weighted mean trait (position)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strategy; shift along a gradient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Convex-hull volume (0–1 relative to the pool)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strongly 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of strategies; loss of a region of the 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Regularity of abundance along the minimum spanning tree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abundance evenly spread across strategies?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FDiv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Abundance concentrated at the periphery vs the centre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the dominants functionally extreme?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FDis / Rao’s Q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mean distance to the centroid / mean pairwise distance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of the composition; more or less than expected?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1772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 txBox="1"/>
          <p:nvPr/>
        </p:nvSpPr>
        <p:spPr>
          <a:xfrm>
            <a:off x="731520" y="46634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&lt;- dbFD(x = traits, a = abundances, m = 3, stand.FRic = TRUE, calc.CWM = TRUE)   # FD package: Gower → PCoA → m axes → indices; check fd$qual.FRic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10817352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“functional diversity”: choose the index from the question before looking at the results (Mason et al. 2005; Villéger et al. 2008; Laliberté &amp; Legendre 2010). Details: FBE_basics_FD.pdf and the Group B sheet.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richness confound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371600"/>
          <a:ext cx="53949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371600"/>
          <a:ext cx="53949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/>
          <p:cNvSpPr txBox="1"/>
          <p:nvPr/>
        </p:nvSpPr>
        <p:spPr>
          <a:xfrm>
            <a:off x="685800" y="5669280"/>
            <a:ext cx="1081735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points → larger hull, even at random. “Species-rich rivers are also functionally diverse” → of course; are they more diverse than expected for their richness? That is the question of null models.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is this different from chance?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13816" y="146304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813816" y="146304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× traits table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91256" y="178308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57016" y="146304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557016" y="146304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space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34456" y="178308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3557016" y="2514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 ·  Group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0216" y="146304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6300216" y="146304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indices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(CWM · FRic · FEve · FDiv · FDis)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77656" y="178308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6300216" y="2514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 ·  Group 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43416" y="146304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9043416" y="146304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models · assembly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extinction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43416" y="2514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 ·  Group 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918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FRic = 0.42.   So what?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 txBox="1"/>
          <p:nvPr/>
        </p:nvSpPr>
        <p:spPr>
          <a:xfrm>
            <a:off x="685800" y="4480560"/>
            <a:ext cx="10817352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 has no meaning by itself. Only the comparison with an expectation gives it one: this is the logic of null models — and the heart of Group C’s exercise.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processes and their expected signatures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024597" y="25411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945108" y="251750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917984" y="287264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993378" y="430597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4567560" y="227160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854840" y="44307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919065" y="3471966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141441" y="314627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754081" y="224573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303714" y="347242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181131" y="342490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105435" y="232566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43215" y="2590734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70195" y="396578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917120" y="295397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939622" y="426014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123013" y="305230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691190" y="241401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701154" y="4189084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535478" y="411771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423536" y="413906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917538" y="323586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03479" y="287043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110050" y="383752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090828" y="225879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729072" y="274374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758949" y="236772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723080" y="211620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1514310" y="20209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859961" y="316292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316267" y="2887209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322312" y="3047112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719886" y="2295776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3503827" y="2529735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3367210" y="2394321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3703147" y="2355540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847850" y="2456741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275452" y="2416153"/>
            <a:ext cx="100584" cy="100584"/>
          </a:xfrm>
          <a:prstGeom prst="ellipse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6492240" y="1737360"/>
            <a:ext cx="51206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6968197" y="25411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7888708" y="251750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9861584" y="287264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8936978" y="430597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511160" y="227160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8798440" y="44307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9862665" y="3471966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8085041" y="314627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0697681" y="224573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47314" y="347242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1124731" y="342490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8049035" y="232566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0086815" y="2590734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613795" y="396578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6860720" y="295397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7883222" y="4260147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8066613" y="305230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8634790" y="241401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10644754" y="4189084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9479078" y="411771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10367136" y="4139060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10861138" y="323586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8847079" y="2870438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9053650" y="383752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10034428" y="225879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7672672" y="274374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0702549" y="2367722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9666680" y="2116209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7457910" y="2020995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7803561" y="3162923"/>
            <a:ext cx="100584" cy="100584"/>
          </a:xfrm>
          <a:prstGeom prst="ellipse">
            <a:avLst/>
          </a:prstGeom>
          <a:solidFill>
            <a:srgbClr val="C9D1D9"/>
          </a:solidFill>
          <a:ln w="12700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7056425" y="2125980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10794492" y="2038198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9002268" y="3150108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7210044" y="4174236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10794492" y="4174236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9002268" y="1979676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6954012" y="3150108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11050524" y="3150108"/>
            <a:ext cx="100584" cy="100584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filtering → clustering</a:t>
            </a:r>
            <a:endParaRPr lang="en-US" sz="1800" dirty="0"/>
          </a:p>
        </p:txBody>
      </p:sp>
      <p:sp>
        <p:nvSpPr>
          <p:cNvPr id="84" name="Text 82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Limiting similarity → overdispersion</a:t>
            </a:r>
            <a:endParaRPr lang="en-US" sz="180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4754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 conditions allow only a range of trait values: the community is a subset of the pool concentrated in one region — species more similar than a random draw; FRic / FDis lower than expected.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492240" y="4754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Too-similar species compete too strongly (MacArthur &amp; Levins 1967): species more different than a random draw, regularly spaced; FRic / FDis higher than expected.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48640" y="580644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Weiher &amp; Keddy (1995). Pattern ≠ process: competition can also cluster; “random” can mean opposing processes cancel out. A null model detects a departure from randomness; the mechanism is an argument.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null model: what it randomises and what it keeps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4572000" cy="14630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× species — kept as is (richness, abundances)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554480"/>
          <a:ext cx="4937760" cy="18288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trait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trait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trait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sp1 → sp3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sp2 → sp1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sp3 → sp4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sp4 → sp2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4"/>
          <p:cNvSpPr txBox="1"/>
          <p:nvPr/>
        </p:nvSpPr>
        <p:spPr>
          <a:xfrm>
            <a:off x="6675120" y="3566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× traits — rows shuffled: each species receives the traits of another species of the pool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06240"/>
            <a:ext cx="11091672" cy="2011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“the traits of the species present are a random sample of the pool” — 999 iterations standard, 199 for a practical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independent swap on the presence matrix (row and column sums fixed) — a different hypothesis, more conservative with very common species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null model in one sentence in the Methods: the result depends on it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standardised effect size (SES)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 = (observed − mean of null values) / SD of null values</a:t>
            </a:r>
            <a:endParaRPr lang="en-US" sz="26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2103120"/>
          <a:ext cx="60350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2057400" y="2651760"/>
            <a:ext cx="0" cy="2743200"/>
          </a:xfrm>
          <a:prstGeom prst="line">
            <a:avLst/>
          </a:prstGeom>
          <a:noFill/>
          <a:ln w="31750">
            <a:solidFill>
              <a:srgbClr val="D9822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 txBox="1"/>
          <p:nvPr/>
        </p:nvSpPr>
        <p:spPr>
          <a:xfrm>
            <a:off x="2148840" y="2606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= 0.27 → SES ≈ −2.5 (clustered)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2103120"/>
            <a:ext cx="4782312" cy="4023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z-score: SES = −2.5 → observed FRic 2.5 SD below random assemblages (clustering); +2 → overdispersion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±1.96 ≈ two-sided test at 5 % under normality; or a permutation p-value = fraction of null values as extreme as the observation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richness confound: null values have the same S as the observation → “more or less diverse than a random community of the same richness”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SES patterns: an example across realms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371600"/>
          <a:ext cx="4782312" cy="21945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SES-FRic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Neotropical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overdispersion — limiting similarity, or lineages of different origin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Palearctic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— filtering, or a strong dispersal filter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Nearctic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detectable departure — not “nothing happens”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0" y="3840480"/>
            <a:ext cx="4782312" cy="21031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1: is SES still correlated with S? It should not be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2: does the pattern depend on the index? FRic = extremes; FDis = whole distribution. Group C computes both — disagreements are informative</a:t>
            </a:r>
            <a:endParaRPr lang="en-US" sz="1400" dirty="0"/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2E473855-B1F5-2EFD-55EB-687002F495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4819279"/>
              </p:ext>
            </p:extLst>
          </p:nvPr>
        </p:nvGraphicFramePr>
        <p:xfrm>
          <a:off x="548640" y="1645920"/>
          <a:ext cx="60350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Quantifying vulnerability: FUSE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77724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Functionally Unique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to the nearest neighbour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452628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to the centre of the space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827532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2860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Endangered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IUCN category → extinction probability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94760"/>
            <a:ext cx="11091672" cy="23774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Pimiento et al. (2020) Science Advances: species scoring high on all three are those whose loss would remove a unique function and is likely to happen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megafauna: green sea turtle, giant manta, whale shark, dugong — large, unusual, threatened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prioritisation logic: which species protect the most functional diversity per unit of effort? Directly transferable to freshwater fishes — you have all the ingredients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Extinction scenarios: simulating the loss of threatened species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371600"/>
          <a:ext cx="60350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0" y="1371600"/>
            <a:ext cx="4782312" cy="4480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species one at a time (random / by threat / by rarity), recompute the indices → extinction curves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Threatened-first steeper than random ⇒ threatened species are functionally non-redundant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Toussaint et al. (2021) Nat. Commun., global vertebrates: idiosyncratic — disproportionate loss where threatened species are the large, specialised ones at the edge; little change where they have equivalents; facets (richness, dispersion, uniqueness) respond differently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Freshwater fishes: large migratory species (giant catfishes, sturgeons) are at the periphery and at the top of the threat categories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together: a trait-based study from start to finish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138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8138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× traits table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912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35570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5570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space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344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3002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63002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indices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(CWM · FRic · FEve · FDiv · FDis)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77656" y="1691640"/>
            <a:ext cx="320040" cy="320040"/>
          </a:xfrm>
          <a:prstGeom prst="rightArrow">
            <a:avLst/>
          </a:prstGeom>
          <a:solidFill>
            <a:srgbClr val="B8C4CE"/>
          </a:solidFill>
          <a:ln w="12700">
            <a:solidFill>
              <a:srgbClr val="B8C4C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043416" y="1371600"/>
            <a:ext cx="2331720" cy="960120"/>
          </a:xfrm>
          <a:prstGeom prst="roundRect">
            <a:avLst>
              <a:gd name="adj" fmla="val 11429"/>
            </a:avLst>
          </a:prstGeom>
          <a:solidFill>
            <a:srgbClr val="1D6F9E"/>
          </a:solidFill>
          <a:ln w="12700">
            <a:solidFill>
              <a:srgbClr val="1D6F9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9043416" y="1371600"/>
            <a:ext cx="23317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models · assembly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extinction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" y="2651760"/>
            <a:ext cx="2331720" cy="2651760"/>
          </a:xfrm>
          <a:prstGeom prst="roundRect">
            <a:avLst>
              <a:gd name="adj" fmla="val 3922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950976" y="2743200"/>
            <a:ext cx="2057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traits, and why (one sentence each)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57016" y="2651760"/>
            <a:ext cx="2331720" cy="2651760"/>
          </a:xfrm>
          <a:prstGeom prst="roundRect">
            <a:avLst>
              <a:gd name="adj" fmla="val 3922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3694176" y="2743200"/>
            <a:ext cx="2057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· distance · PCA/PCoA · m axes · quality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0216" y="2651760"/>
            <a:ext cx="2331720" cy="2651760"/>
          </a:xfrm>
          <a:prstGeom prst="roundRect">
            <a:avLst>
              <a:gd name="adj" fmla="val 3922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 txBox="1"/>
          <p:nvPr/>
        </p:nvSpPr>
        <p:spPr>
          <a:xfrm>
            <a:off x="6437376" y="2743200"/>
            <a:ext cx="2057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chosen from the question: CWM (dominant), FRic (range), FDis/Rao (spread)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43416" y="2651760"/>
            <a:ext cx="2331720" cy="2651760"/>
          </a:xfrm>
          <a:prstGeom prst="roundRect">
            <a:avLst>
              <a:gd name="adj" fmla="val 3922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 txBox="1"/>
          <p:nvPr/>
        </p:nvSpPr>
        <p:spPr>
          <a:xfrm>
            <a:off x="9180576" y="2743200"/>
            <a:ext cx="2057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model: keep what you don’t test · SES free of S · mechanism argued · sensitivity · which species hold unique functions?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E8F1F7"/>
          </a:solidFill>
          <a:ln w="12700">
            <a:solidFill>
              <a:srgbClr val="E8F1F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 txBox="1"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you will do on Thursday — and in your own projects.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C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— take-home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FBE 2026 · Session 1 · Block 2 · Communities in the space: indices, null models, extinctions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463040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observed index has no meaning without an expectation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514600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model: keep richness and abundances, randomise traits; SES = z-score, free of the richness confound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548640" y="3703320"/>
            <a:ext cx="6400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566160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≈ filtering, overdispersion ≈ limiting similarity — consistent with, not proof of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548640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617720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and threatened species hold unique functions: simulate their loss (extinction curves, FUSE)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1799</Words>
  <Application>Microsoft Macintosh PowerPoint</Application>
  <PresentationFormat>Grand écran</PresentationFormat>
  <Paragraphs>227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FBE 2026 · Block 2</dc:title>
  <dc:subject>PptxGenJS Presentation</dc:subject>
  <dc:creator>Aurèle Toussaint</dc:creator>
  <cp:lastModifiedBy>Aurele Toussaint</cp:lastModifiedBy>
  <cp:revision>3</cp:revision>
  <dcterms:created xsi:type="dcterms:W3CDTF">2026-09-11T09:13:12Z</dcterms:created>
  <dcterms:modified xsi:type="dcterms:W3CDTF">2026-09-22T07:40:16Z</dcterms:modified>
</cp:coreProperties>
</file>
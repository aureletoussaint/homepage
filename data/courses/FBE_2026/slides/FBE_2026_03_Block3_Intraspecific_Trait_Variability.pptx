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5D"/>
                </a:solidFill>
                <a:latin typeface="Arial"/>
              </a:defRPr>
            </a:pPr>
            <a:r>
              <a:rPr sz="1200" b="0" i="0" u="none" strike="noStrike">
                <a:solidFill>
                  <a:srgbClr val="0B3C5D"/>
                </a:solidFill>
                <a:latin typeface="Arial"/>
              </a:rPr>
              <a:t>The same species: a point (mean) or a distribution of individuals</a:t>
            </a:r>
          </a:p>
        </c:rich>
      </c:tx>
      <c:layout/>
      <c:overlay val="0"/>
    </c:title>
    <c:autoTitleDeleted val="0"/>
    <c:plotArea>
      <c:layout/>
      <c:lineChart>
        <c:varyColors val="0"/>
        <c:ser>
          <c:idx val="0"/>
          <c:order val="0"/>
          <c:tx>
            <c:strRef>
              <c:f>Sheet1!$B$1</c:f>
              <c:strCache>
                <c:ptCount val="1"/>
                <c:pt idx="0">
                  <c:v>individuals of one species</c:v>
                </c:pt>
              </c:strCache>
            </c:strRef>
          </c:tx>
          <c:spPr>
            <a:solidFill>
              <a:srgbClr val="1D6F9E"/>
            </a:solidFill>
            <a:ln w="31750" cap="flat">
              <a:solidFill>
                <a:srgbClr val="1D6F9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D6F9E"/>
              </a:solidFill>
              <a:ln w="9525" cap="flat">
                <a:solidFill>
                  <a:srgbClr val="1D6F9E"/>
                </a:solidFill>
                <a:prstDash val="solid"/>
                <a:round/>
              </a:ln>
              <a:effectLst/>
            </c:spPr>
          </c:marker>
          <c:cat>
            <c:multiLvlStrRef>
              <c:f>Sheet1!$A$2:$A$42</c:f>
              <c:multiLvlStrCache>
                <c:ptCount val="41"/>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lvl>
              </c:multiLvlStrCache>
            </c:multiLvlStrRef>
          </c:cat>
          <c:val>
            <c:numRef>
              <c:f>Sheet1!$B$2:$B$42</c:f>
              <c:numCache>
                <c:formatCode>General</c:formatCode>
                <c:ptCount val="41"/>
                <c:pt idx="0">
                  <c:v>0.0038659201394728076</c:v>
                </c:pt>
                <c:pt idx="1">
                  <c:v>0.006645011282741399</c:v>
                </c:pt>
                <c:pt idx="2">
                  <c:v>0.011108996538242306</c:v>
                </c:pt>
                <c:pt idx="3">
                  <c:v>0.018063013419781275</c:v>
                </c:pt>
                <c:pt idx="4">
                  <c:v>0.028565500784550377</c:v>
                </c:pt>
                <c:pt idx="5">
                  <c:v>0.04393693362340742</c:v>
                </c:pt>
                <c:pt idx="6">
                  <c:v>0.06572852861653047</c:v>
                </c:pt>
                <c:pt idx="7">
                  <c:v>0.0956344448325386</c:v>
                </c:pt>
                <c:pt idx="8">
                  <c:v>0.1353352832366127</c:v>
                </c:pt>
                <c:pt idx="9">
                  <c:v>0.1862704636977009</c:v>
                </c:pt>
                <c:pt idx="10">
                  <c:v>0.24935220877729622</c:v>
                </c:pt>
                <c:pt idx="11">
                  <c:v>0.32465246735834974</c:v>
                </c:pt>
                <c:pt idx="12">
                  <c:v>0.41111229050718745</c:v>
                </c:pt>
                <c:pt idx="13">
                  <c:v>0.5063356166481006</c:v>
                </c:pt>
                <c:pt idx="14">
                  <c:v>0.6065306597126334</c:v>
                </c:pt>
                <c:pt idx="15">
                  <c:v>0.7066482778577163</c:v>
                </c:pt>
                <c:pt idx="16">
                  <c:v>0.8007374029168081</c:v>
                </c:pt>
                <c:pt idx="17">
                  <c:v>0.8824969025845955</c:v>
                </c:pt>
                <c:pt idx="18">
                  <c:v>0.9459594689067654</c:v>
                </c:pt>
                <c:pt idx="19">
                  <c:v>0.9862071167439163</c:v>
                </c:pt>
                <c:pt idx="20">
                  <c:v>1</c:v>
                </c:pt>
                <c:pt idx="21">
                  <c:v>0.9862071167439163</c:v>
                </c:pt>
                <c:pt idx="22">
                  <c:v>0.9459594689067654</c:v>
                </c:pt>
                <c:pt idx="23">
                  <c:v>0.8824969025845955</c:v>
                </c:pt>
                <c:pt idx="24">
                  <c:v>0.8007374029168081</c:v>
                </c:pt>
                <c:pt idx="25">
                  <c:v>0.7066482778577163</c:v>
                </c:pt>
                <c:pt idx="26">
                  <c:v>0.6065306597126334</c:v>
                </c:pt>
                <c:pt idx="27">
                  <c:v>0.5063356166481006</c:v>
                </c:pt>
                <c:pt idx="28">
                  <c:v>0.41111229050718745</c:v>
                </c:pt>
                <c:pt idx="29">
                  <c:v>0.32465246735834974</c:v>
                </c:pt>
                <c:pt idx="30">
                  <c:v>0.24935220877729622</c:v>
                </c:pt>
                <c:pt idx="31">
                  <c:v>0.1862704636977009</c:v>
                </c:pt>
                <c:pt idx="32">
                  <c:v>0.1353352832366127</c:v>
                </c:pt>
                <c:pt idx="33">
                  <c:v>0.0956344448325386</c:v>
                </c:pt>
                <c:pt idx="34">
                  <c:v>0.06572852861653047</c:v>
                </c:pt>
                <c:pt idx="35">
                  <c:v>0.04393693362340742</c:v>
                </c:pt>
                <c:pt idx="36">
                  <c:v>0.028565500784550377</c:v>
                </c:pt>
                <c:pt idx="37">
                  <c:v>0.018063013419781275</c:v>
                </c:pt>
                <c:pt idx="38">
                  <c:v>0.011108996538242306</c:v>
                </c:pt>
                <c:pt idx="39">
                  <c:v>0.006645011282741399</c:v>
                </c:pt>
                <c:pt idx="40">
                  <c:v>0.0038659201394728076</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b="0" i="0" u="none" strike="noStrike">
                    <a:solidFill>
                      <a:srgbClr val="6B6B6B"/>
                    </a:solidFill>
                    <a:latin typeface="Arial"/>
                  </a:defRPr>
                </a:pPr>
                <a:r>
                  <a:rPr b="0" i="0" u="none" strike="noStrike">
                    <a:solidFill>
                      <a:srgbClr val="6B6B6B"/>
                    </a:solidFill>
                    <a:latin typeface="Arial"/>
                  </a:rPr>
                  <a:t>Trait value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2"/>
        <c:crosses val="autoZero"/>
        <c:auto val="1"/>
        <c:lblAlgn val="ctr"/>
        <c:noMultiLvlLbl val="1"/>
        <c:tickLblSkip val="10"/>
      </c:catAx>
      <c:valAx>
        <c:axId val="2094734552"/>
        <c:scaling>
          <c:orientation val="minMax"/>
        </c:scaling>
        <c:delete val="0"/>
        <c:axPos val="l"/>
        <c:majorGridlines>
          <c:spPr>
            <a:ln w="6350" cap="flat">
              <a:solidFill>
                <a:srgbClr val="E5E7EB"/>
              </a:solidFill>
              <a:prstDash val="solid"/>
              <a:round/>
            </a:ln>
          </c:spPr>
        </c:majorGridlines>
        <c:title>
          <c:tx>
            <c:rich>
              <a:bodyPr/>
              <a:lstStyle/>
              <a:p>
                <a:pPr>
                  <a:defRPr b="0" i="0" u="none" strike="noStrike">
                    <a:solidFill>
                      <a:srgbClr val="6B6B6B"/>
                    </a:solidFill>
                    <a:latin typeface="Arial"/>
                  </a:defRPr>
                </a:pPr>
                <a:r>
                  <a:rPr b="0" i="0" u="none" strike="noStrike">
                    <a:solidFill>
                      <a:srgbClr val="6B6B6B"/>
                    </a:solidFill>
                    <a:latin typeface="Arial"/>
                  </a:rPr>
                  <a:t>Density</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B3C5D"/>
                </a:solidFill>
                <a:latin typeface="Arial"/>
              </a:defRPr>
            </a:pPr>
            <a:r>
              <a:rPr sz="1100" b="0" i="0" u="none" strike="noStrike">
                <a:solidFill>
                  <a:srgbClr val="0B3C5D"/>
                </a:solidFill>
                <a:latin typeface="Arial"/>
              </a:rPr>
              <a:t>Intraspecific share of trait variation — plants (Siefert et al. 2015, 629 studies)</a:t>
            </a:r>
          </a:p>
        </c:rich>
      </c:tx>
      <c:layout/>
      <c:overlay val="0"/>
    </c:title>
    <c:autoTitleDeleted val="0"/>
    <c:plotArea>
      <c:layout/>
      <c:barChart>
        <c:barDir val="col"/>
        <c:grouping val="clustered"/>
        <c:varyColors val="0"/>
        <c:ser>
          <c:idx val="0"/>
          <c:order val="0"/>
          <c:tx>
            <c:strRef>
              <c:f>Sheet1!$B$1</c:f>
              <c:strCache>
                <c:ptCount val="1"/>
                <c:pt idx="0">
                  <c:v>share of total trait variation (%)</c:v>
                </c:pt>
              </c:strCache>
            </c:strRef>
          </c:tx>
          <c:spPr>
            <a:solidFill>
              <a:srgbClr val="1D6F9E"/>
            </a:solidFill>
            <a:effectLst/>
          </c:spPr>
          <c:invertIfNegative val="0"/>
          <c:dLbls>
            <c:numFmt formatCode="#,##0" sourceLinked="0"/>
            <c:txPr>
              <a:bodyPr/>
              <a:lstStyle/>
              <a:p>
                <a:pPr>
                  <a:defRPr b="0" i="0" strike="noStrike" sz="1200" u="none">
                    <a:solidFill>
                      <a:srgbClr val="0B3C5D"/>
                    </a:solidFill>
                    <a:latin typeface="Arial"/>
                  </a:defRPr>
                </a:pPr>
              </a:p>
            </c:txPr>
            <c:showLegendKey val="0"/>
            <c:showVal val="1"/>
            <c:showCatName val="0"/>
            <c:showSerName val="0"/>
            <c:showPercent val="0"/>
            <c:showBubbleSize val="0"/>
            <c:showLeaderLines val="0"/>
          </c:dLbls>
          <c:cat>
            <c:multiLvlStrRef>
              <c:f>Sheet1!$A$2:$A$3</c:f>
              <c:multiLvlStrCache>
                <c:ptCount val="2"/>
                <c:lvl>
                  <c:pt idx="0">
                    <c:v>Within communities</c:v>
                  </c:pt>
                  <c:pt idx="1">
                    <c:v>Among communities</c:v>
                  </c:pt>
                </c:lvl>
              </c:multiLvlStrCache>
            </c:multiLvlStrRef>
          </c:cat>
          <c:val>
            <c:numRef>
              <c:f>Sheet1!$B$2:$B$3</c:f>
              <c:numCache>
                <c:formatCode>General</c:formatCode>
                <c:ptCount val="2"/>
                <c:pt idx="0">
                  <c:v>25</c:v>
                </c:pt>
                <c:pt idx="1">
                  <c:v>32</c:v>
                </c:pt>
              </c:numCache>
            </c:numRef>
          </c:val>
        </c:ser>
        <c:dLbls>
          <c:numFmt formatCode="#,##0" sourceLinked="0"/>
          <c:txPr>
            <a:bodyPr/>
            <a:lstStyle/>
            <a:p>
              <a:pPr>
                <a:defRPr b="0" i="0" strike="noStrike" sz="1200" u="none">
                  <a:solidFill>
                    <a:srgbClr val="0B3C5D"/>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50"/>
        </c:scaling>
        <c:delete val="0"/>
        <c:axPos val="l"/>
        <c:majorGridlines>
          <c:spPr>
            <a:ln w="6350" cap="flat">
              <a:solidFill>
                <a:srgbClr val="E5E7EB"/>
              </a:solidFill>
              <a:prstDash val="solid"/>
              <a:round/>
            </a:ln>
          </c:spPr>
        </c:majorGridlines>
        <c:title>
          <c:tx>
            <c:rich>
              <a:bodyPr/>
              <a:lstStyle/>
              <a:p>
                <a:pPr>
                  <a:defRPr b="0" i="0" u="none" strike="noStrike">
                    <a:solidFill>
                      <a:srgbClr val="6B6B6B"/>
                    </a:solidFill>
                    <a:latin typeface="Arial"/>
                  </a:defRPr>
                </a:pPr>
                <a:r>
                  <a:rPr b="0" i="0" u="none" strike="noStrike">
                    <a:solidFill>
                      <a:srgbClr val="6B6B6B"/>
                    </a:solidFill>
                    <a:latin typeface="Arial"/>
                  </a:rPr>
                  <a:t>% of total variation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5D"/>
                </a:solidFill>
                <a:latin typeface="Arial"/>
              </a:defRPr>
            </a:pPr>
            <a:r>
              <a:rPr sz="1200" b="0" i="0" u="none" strike="noStrike">
                <a:solidFill>
                  <a:srgbClr val="0B3C5D"/>
                </a:solidFill>
                <a:latin typeface="Arial"/>
              </a:rPr>
              <a:t>Two species: distinct as means, overlapping as distributions</a:t>
            </a:r>
          </a:p>
        </c:rich>
      </c:tx>
      <c:layout/>
      <c:overlay val="0"/>
    </c:title>
    <c:autoTitleDeleted val="0"/>
    <c:plotArea>
      <c:layout/>
      <c:lineChart>
        <c:varyColors val="0"/>
        <c:ser>
          <c:idx val="0"/>
          <c:order val="0"/>
          <c:tx>
            <c:strRef>
              <c:f>Sheet1!$B$1</c:f>
              <c:strCache>
                <c:ptCount val="1"/>
                <c:pt idx="0">
                  <c:v>species A</c:v>
                </c:pt>
              </c:strCache>
            </c:strRef>
          </c:tx>
          <c:spPr>
            <a:solidFill>
              <a:srgbClr val="1D6F9E"/>
            </a:solidFill>
            <a:ln w="31750" cap="flat">
              <a:solidFill>
                <a:srgbClr val="1D6F9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D6F9E"/>
              </a:solidFill>
              <a:ln w="9525" cap="flat">
                <a:solidFill>
                  <a:srgbClr val="1D6F9E"/>
                </a:solidFill>
                <a:prstDash val="solid"/>
                <a:round/>
              </a:ln>
              <a:effectLst/>
            </c:spPr>
          </c:marker>
          <c:cat>
            <c:multiLvlStrRef>
              <c:f>Sheet1!$A$2:$A$42</c:f>
              <c:multiLvlStrCache>
                <c:ptCount val="41"/>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lvl>
              </c:multiLvlStrCache>
            </c:multiLvlStrRef>
          </c:cat>
          <c:val>
            <c:numRef>
              <c:f>Sheet1!$B$2:$B$42</c:f>
              <c:numCache>
                <c:formatCode>General</c:formatCode>
                <c:ptCount val="41"/>
                <c:pt idx="0">
                  <c:v>0.06572852861653047</c:v>
                </c:pt>
                <c:pt idx="1">
                  <c:v>0.0956344448325386</c:v>
                </c:pt>
                <c:pt idx="2">
                  <c:v>0.1353352832366127</c:v>
                </c:pt>
                <c:pt idx="3">
                  <c:v>0.1862704636977009</c:v>
                </c:pt>
                <c:pt idx="4">
                  <c:v>0.24935220877729622</c:v>
                </c:pt>
                <c:pt idx="5">
                  <c:v>0.32465246735834974</c:v>
                </c:pt>
                <c:pt idx="6">
                  <c:v>0.41111229050718745</c:v>
                </c:pt>
                <c:pt idx="7">
                  <c:v>0.5063356166481006</c:v>
                </c:pt>
                <c:pt idx="8">
                  <c:v>0.6065306597126334</c:v>
                </c:pt>
                <c:pt idx="9">
                  <c:v>0.7066482778577163</c:v>
                </c:pt>
                <c:pt idx="10">
                  <c:v>0.8007374029168081</c:v>
                </c:pt>
                <c:pt idx="11">
                  <c:v>0.8824969025845955</c:v>
                </c:pt>
                <c:pt idx="12">
                  <c:v>0.9459594689067654</c:v>
                </c:pt>
                <c:pt idx="13">
                  <c:v>0.9862071167439163</c:v>
                </c:pt>
                <c:pt idx="14">
                  <c:v>1</c:v>
                </c:pt>
                <c:pt idx="15">
                  <c:v>0.9862071167439163</c:v>
                </c:pt>
                <c:pt idx="16">
                  <c:v>0.9459594689067654</c:v>
                </c:pt>
                <c:pt idx="17">
                  <c:v>0.8824969025845955</c:v>
                </c:pt>
                <c:pt idx="18">
                  <c:v>0.8007374029168081</c:v>
                </c:pt>
                <c:pt idx="19">
                  <c:v>0.7066482778577163</c:v>
                </c:pt>
                <c:pt idx="20">
                  <c:v>0.6065306597126334</c:v>
                </c:pt>
                <c:pt idx="21">
                  <c:v>0.5063356166481006</c:v>
                </c:pt>
                <c:pt idx="22">
                  <c:v>0.41111229050718745</c:v>
                </c:pt>
                <c:pt idx="23">
                  <c:v>0.32465246735834974</c:v>
                </c:pt>
                <c:pt idx="24">
                  <c:v>0.24935220877729622</c:v>
                </c:pt>
                <c:pt idx="25">
                  <c:v>0.1862704636977009</c:v>
                </c:pt>
                <c:pt idx="26">
                  <c:v>0.1353352832366127</c:v>
                </c:pt>
                <c:pt idx="27">
                  <c:v>0.0956344448325386</c:v>
                </c:pt>
                <c:pt idx="28">
                  <c:v>0.06572852861653047</c:v>
                </c:pt>
                <c:pt idx="29">
                  <c:v>0.04393693362340742</c:v>
                </c:pt>
                <c:pt idx="30">
                  <c:v>0.028565500784550377</c:v>
                </c:pt>
                <c:pt idx="31">
                  <c:v>0.018063013419781275</c:v>
                </c:pt>
                <c:pt idx="32">
                  <c:v>0.011108996538242306</c:v>
                </c:pt>
                <c:pt idx="33">
                  <c:v>0.006645011282741399</c:v>
                </c:pt>
                <c:pt idx="34">
                  <c:v>0.0038659201394728076</c:v>
                </c:pt>
                <c:pt idx="35">
                  <c:v>0.002187491118182885</c:v>
                </c:pt>
                <c:pt idx="36">
                  <c:v>0.001203859994828203</c:v>
                </c:pt>
                <c:pt idx="37">
                  <c:v>0.0006443798205686081</c:v>
                </c:pt>
                <c:pt idx="38">
                  <c:v>0.00033546262790251185</c:v>
                </c:pt>
                <c:pt idx="39">
                  <c:v>0.0001698566765614107</c:v>
                </c:pt>
                <c:pt idx="40">
                  <c:v>0.00008364834722972752</c:v>
                </c:pt>
              </c:numCache>
            </c:numRef>
          </c:val>
          <c:smooth val="1"/>
        </c:ser>
        <c:ser>
          <c:idx val="1"/>
          <c:order val="1"/>
          <c:tx>
            <c:strRef>
              <c:f>Sheet1!$C$1</c:f>
              <c:strCache>
                <c:ptCount val="1"/>
                <c:pt idx="0">
                  <c:v>species B</c:v>
                </c:pt>
              </c:strCache>
            </c:strRef>
          </c:tx>
          <c:spPr>
            <a:solidFill>
              <a:srgbClr val="D9822B"/>
            </a:solidFill>
            <a:ln w="31750" cap="flat">
              <a:solidFill>
                <a:srgbClr val="D982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822B"/>
              </a:solidFill>
              <a:ln w="9525" cap="flat">
                <a:solidFill>
                  <a:srgbClr val="D9822B"/>
                </a:solidFill>
                <a:prstDash val="solid"/>
                <a:round/>
              </a:ln>
              <a:effectLst/>
            </c:spPr>
          </c:marker>
          <c:cat>
            <c:multiLvlStrRef>
              <c:f>Sheet1!$A$2:$A$42</c:f>
              <c:multiLvlStrCache>
                <c:ptCount val="41"/>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lvl>
              </c:multiLvlStrCache>
            </c:multiLvlStrRef>
          </c:cat>
          <c:val>
            <c:numRef>
              <c:f>Sheet1!$C$2:$C$42</c:f>
              <c:numCache>
                <c:formatCode>General</c:formatCode>
                <c:ptCount val="41"/>
                <c:pt idx="0">
                  <c:v>0.00008364834722972752</c:v>
                </c:pt>
                <c:pt idx="1">
                  <c:v>0.0001698566765614107</c:v>
                </c:pt>
                <c:pt idx="2">
                  <c:v>0.00033546262790251185</c:v>
                </c:pt>
                <c:pt idx="3">
                  <c:v>0.0006443798205686081</c:v>
                </c:pt>
                <c:pt idx="4">
                  <c:v>0.001203859994828203</c:v>
                </c:pt>
                <c:pt idx="5">
                  <c:v>0.002187491118182885</c:v>
                </c:pt>
                <c:pt idx="6">
                  <c:v>0.0038659201394728076</c:v>
                </c:pt>
                <c:pt idx="7">
                  <c:v>0.006645011282741399</c:v>
                </c:pt>
                <c:pt idx="8">
                  <c:v>0.011108996538242306</c:v>
                </c:pt>
                <c:pt idx="9">
                  <c:v>0.018063013419781275</c:v>
                </c:pt>
                <c:pt idx="10">
                  <c:v>0.028565500784550377</c:v>
                </c:pt>
                <c:pt idx="11">
                  <c:v>0.04393693362340742</c:v>
                </c:pt>
                <c:pt idx="12">
                  <c:v>0.06572852861653047</c:v>
                </c:pt>
                <c:pt idx="13">
                  <c:v>0.0956344448325386</c:v>
                </c:pt>
                <c:pt idx="14">
                  <c:v>0.1353352832366127</c:v>
                </c:pt>
                <c:pt idx="15">
                  <c:v>0.1862704636977009</c:v>
                </c:pt>
                <c:pt idx="16">
                  <c:v>0.24935220877729622</c:v>
                </c:pt>
                <c:pt idx="17">
                  <c:v>0.32465246735834974</c:v>
                </c:pt>
                <c:pt idx="18">
                  <c:v>0.41111229050718745</c:v>
                </c:pt>
                <c:pt idx="19">
                  <c:v>0.5063356166481006</c:v>
                </c:pt>
                <c:pt idx="20">
                  <c:v>0.6065306597126334</c:v>
                </c:pt>
                <c:pt idx="21">
                  <c:v>0.7066482778577163</c:v>
                </c:pt>
                <c:pt idx="22">
                  <c:v>0.8007374029168081</c:v>
                </c:pt>
                <c:pt idx="23">
                  <c:v>0.8824969025845955</c:v>
                </c:pt>
                <c:pt idx="24">
                  <c:v>0.9459594689067654</c:v>
                </c:pt>
                <c:pt idx="25">
                  <c:v>0.9862071167439163</c:v>
                </c:pt>
                <c:pt idx="26">
                  <c:v>1</c:v>
                </c:pt>
                <c:pt idx="27">
                  <c:v>0.9862071167439163</c:v>
                </c:pt>
                <c:pt idx="28">
                  <c:v>0.9459594689067654</c:v>
                </c:pt>
                <c:pt idx="29">
                  <c:v>0.8824969025845955</c:v>
                </c:pt>
                <c:pt idx="30">
                  <c:v>0.8007374029168081</c:v>
                </c:pt>
                <c:pt idx="31">
                  <c:v>0.7066482778577163</c:v>
                </c:pt>
                <c:pt idx="32">
                  <c:v>0.6065306597126334</c:v>
                </c:pt>
                <c:pt idx="33">
                  <c:v>0.5063356166481006</c:v>
                </c:pt>
                <c:pt idx="34">
                  <c:v>0.41111229050718745</c:v>
                </c:pt>
                <c:pt idx="35">
                  <c:v>0.32465246735834974</c:v>
                </c:pt>
                <c:pt idx="36">
                  <c:v>0.24935220877729622</c:v>
                </c:pt>
                <c:pt idx="37">
                  <c:v>0.1862704636977009</c:v>
                </c:pt>
                <c:pt idx="38">
                  <c:v>0.1353352832366127</c:v>
                </c:pt>
                <c:pt idx="39">
                  <c:v>0.0956344448325386</c:v>
                </c:pt>
                <c:pt idx="40">
                  <c:v>0.06572852861653047</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b="0" i="0" u="none" strike="noStrike">
                    <a:solidFill>
                      <a:srgbClr val="6B6B6B"/>
                    </a:solidFill>
                    <a:latin typeface="Arial"/>
                  </a:defRPr>
                </a:pPr>
                <a:r>
                  <a:rPr b="0" i="0" u="none" strike="noStrike">
                    <a:solidFill>
                      <a:srgbClr val="6B6B6B"/>
                    </a:solidFill>
                    <a:latin typeface="Arial"/>
                  </a:rPr>
                  <a:t>Trait value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2"/>
        <c:crosses val="autoZero"/>
        <c:auto val="1"/>
        <c:lblAlgn val="ctr"/>
        <c:noMultiLvlLbl val="1"/>
        <c:tickLblSkip val="10"/>
      </c:catAx>
      <c:valAx>
        <c:axId val="2094734552"/>
        <c:scaling>
          <c:orientation val="minMax"/>
        </c:scaling>
        <c:delete val="0"/>
        <c:axPos val="l"/>
        <c:majorGridlines>
          <c:spPr>
            <a:ln w="6350" cap="flat">
              <a:solidFill>
                <a:srgbClr val="E5E7EB"/>
              </a:solidFill>
              <a:prstDash val="solid"/>
              <a:round/>
            </a:ln>
          </c:spPr>
        </c:majorGridlines>
        <c:title>
          <c:tx>
            <c:rich>
              <a:bodyPr/>
              <a:lstStyle/>
              <a:p>
                <a:pPr>
                  <a:defRPr b="0" i="0" u="none" strike="noStrike">
                    <a:solidFill>
                      <a:srgbClr val="6B6B6B"/>
                    </a:solidFill>
                    <a:latin typeface="Arial"/>
                  </a:defRPr>
                </a:pPr>
                <a:r>
                  <a:rPr b="0" i="0" u="none" strike="noStrike">
                    <a:solidFill>
                      <a:srgbClr val="6B6B6B"/>
                    </a:solidFill>
                    <a:latin typeface="Arial"/>
                  </a:rPr>
                  <a:t>Density</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5D"/>
                </a:solidFill>
                <a:latin typeface="Arial"/>
              </a:defRPr>
            </a:pPr>
            <a:r>
              <a:rPr sz="1200" b="0" i="0" u="none" strike="noStrike">
                <a:solidFill>
                  <a:srgbClr val="0B3C5D"/>
                </a:solidFill>
                <a:latin typeface="Arial"/>
              </a:rPr>
              <a:t>Species as densities; the community as their abundance-weighted sum</a:t>
            </a:r>
          </a:p>
        </c:rich>
      </c:tx>
      <c:layout/>
      <c:overlay val="0"/>
    </c:title>
    <c:autoTitleDeleted val="0"/>
    <c:plotArea>
      <c:layout/>
      <c:lineChart>
        <c:varyColors val="0"/>
        <c:ser>
          <c:idx val="0"/>
          <c:order val="0"/>
          <c:tx>
            <c:strRef>
              <c:f>Sheet1!$B$1</c:f>
              <c:strCache>
                <c:ptCount val="1"/>
                <c:pt idx="0">
                  <c:v>species A</c:v>
                </c:pt>
              </c:strCache>
            </c:strRef>
          </c:tx>
          <c:spPr>
            <a:solidFill>
              <a:srgbClr val="1D6F9E"/>
            </a:solidFill>
            <a:ln w="31750" cap="flat">
              <a:solidFill>
                <a:srgbClr val="1D6F9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D6F9E"/>
              </a:solidFill>
              <a:ln w="9525" cap="flat">
                <a:solidFill>
                  <a:srgbClr val="1D6F9E"/>
                </a:solidFill>
                <a:prstDash val="solid"/>
                <a:round/>
              </a:ln>
              <a:effectLst/>
            </c:spPr>
          </c:marker>
          <c:cat>
            <c:multiLvlStrRef>
              <c:f>Sheet1!$A$2:$A$42</c:f>
              <c:multiLvlStrCache>
                <c:ptCount val="41"/>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lvl>
              </c:multiLvlStrCache>
            </c:multiLvlStrRef>
          </c:cat>
          <c:val>
            <c:numRef>
              <c:f>Sheet1!$B$2:$B$42</c:f>
              <c:numCache>
                <c:formatCode>General</c:formatCode>
                <c:ptCount val="41"/>
                <c:pt idx="0">
                  <c:v>0.011108996538242306</c:v>
                </c:pt>
                <c:pt idx="1">
                  <c:v>0.022794180883612347</c:v>
                </c:pt>
                <c:pt idx="2">
                  <c:v>0.04393693362340742</c:v>
                </c:pt>
                <c:pt idx="3">
                  <c:v>0.07955950871822769</c:v>
                </c:pt>
                <c:pt idx="4">
                  <c:v>0.1353352832366127</c:v>
                </c:pt>
                <c:pt idx="5">
                  <c:v>0.21626516682988728</c:v>
                </c:pt>
                <c:pt idx="6">
                  <c:v>0.32465246735834974</c:v>
                </c:pt>
                <c:pt idx="7">
                  <c:v>0.45783336177161427</c:v>
                </c:pt>
                <c:pt idx="8">
                  <c:v>0.6065306597126334</c:v>
                </c:pt>
                <c:pt idx="9">
                  <c:v>0.7548396019890073</c:v>
                </c:pt>
                <c:pt idx="10">
                  <c:v>0.8824969025845955</c:v>
                </c:pt>
                <c:pt idx="11">
                  <c:v>0.9692332344763441</c:v>
                </c:pt>
                <c:pt idx="12">
                  <c:v>1</c:v>
                </c:pt>
                <c:pt idx="13">
                  <c:v>0.9692332344763441</c:v>
                </c:pt>
                <c:pt idx="14">
                  <c:v>0.8824969025845955</c:v>
                </c:pt>
                <c:pt idx="15">
                  <c:v>0.7548396019890073</c:v>
                </c:pt>
                <c:pt idx="16">
                  <c:v>0.6065306597126334</c:v>
                </c:pt>
                <c:pt idx="17">
                  <c:v>0.45783336177161427</c:v>
                </c:pt>
                <c:pt idx="18">
                  <c:v>0.32465246735834974</c:v>
                </c:pt>
                <c:pt idx="19">
                  <c:v>0.21626516682988728</c:v>
                </c:pt>
                <c:pt idx="20">
                  <c:v>0.1353352832366127</c:v>
                </c:pt>
                <c:pt idx="21">
                  <c:v>0.07955950871822769</c:v>
                </c:pt>
                <c:pt idx="22">
                  <c:v>0.04393693362340742</c:v>
                </c:pt>
                <c:pt idx="23">
                  <c:v>0.022794180883612347</c:v>
                </c:pt>
                <c:pt idx="24">
                  <c:v>0.011108996538242306</c:v>
                </c:pt>
                <c:pt idx="25">
                  <c:v>0.005086069231012701</c:v>
                </c:pt>
                <c:pt idx="26">
                  <c:v>0.002187491118182885</c:v>
                </c:pt>
                <c:pt idx="27">
                  <c:v>0.00088382630693505</c:v>
                </c:pt>
                <c:pt idx="28">
                  <c:v>0.00033546262790251185</c:v>
                </c:pt>
                <c:pt idx="29">
                  <c:v>0.00011961288358102437</c:v>
                </c:pt>
                <c:pt idx="30">
                  <c:v>0.00004006529739295107</c:v>
                </c:pt>
                <c:pt idx="31">
                  <c:v>0.000012607105177048523</c:v>
                </c:pt>
                <c:pt idx="32">
                  <c:v>0.000003726653172078671</c:v>
                </c:pt>
                <c:pt idx="33">
                  <c:v>0.0000010348542111093753</c:v>
                </c:pt>
                <c:pt idx="34">
                  <c:v>2.6995785033630146e-7</c:v>
                </c:pt>
                <c:pt idx="35">
                  <c:v>6.615601637697701e-8</c:v>
                </c:pt>
                <c:pt idx="36">
                  <c:v>1.522997974471263e-8</c:v>
                </c:pt>
                <c:pt idx="37">
                  <c:v>3.293714110306081e-9</c:v>
                </c:pt>
                <c:pt idx="38">
                  <c:v>6.691586091292783e-10</c:v>
                </c:pt>
                <c:pt idx="39">
                  <c:v>1.2771115545128334e-10</c:v>
                </c:pt>
                <c:pt idx="40">
                  <c:v>2.289734845645553e-11</c:v>
                </c:pt>
              </c:numCache>
            </c:numRef>
          </c:val>
          <c:smooth val="1"/>
        </c:ser>
        <c:ser>
          <c:idx val="1"/>
          <c:order val="1"/>
          <c:tx>
            <c:strRef>
              <c:f>Sheet1!$C$1</c:f>
              <c:strCache>
                <c:ptCount val="1"/>
                <c:pt idx="0">
                  <c:v>species B</c:v>
                </c:pt>
              </c:strCache>
            </c:strRef>
          </c:tx>
          <c:spPr>
            <a:solidFill>
              <a:srgbClr val="D9822B"/>
            </a:solidFill>
            <a:ln w="31750" cap="flat">
              <a:solidFill>
                <a:srgbClr val="D982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822B"/>
              </a:solidFill>
              <a:ln w="9525" cap="flat">
                <a:solidFill>
                  <a:srgbClr val="D9822B"/>
                </a:solidFill>
                <a:prstDash val="solid"/>
                <a:round/>
              </a:ln>
              <a:effectLst/>
            </c:spPr>
          </c:marker>
          <c:cat>
            <c:multiLvlStrRef>
              <c:f>Sheet1!$A$2:$A$42</c:f>
              <c:multiLvlStrCache>
                <c:ptCount val="41"/>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lvl>
              </c:multiLvlStrCache>
            </c:multiLvlStrRef>
          </c:cat>
          <c:val>
            <c:numRef>
              <c:f>Sheet1!$C$2:$C$42</c:f>
              <c:numCache>
                <c:formatCode>General</c:formatCode>
                <c:ptCount val="41"/>
                <c:pt idx="0">
                  <c:v>0.000842701996379742</c:v>
                </c:pt>
                <c:pt idx="1">
                  <c:v>0.0015312437827280194</c:v>
                </c:pt>
                <c:pt idx="2">
                  <c:v>0.002706144097630965</c:v>
                </c:pt>
                <c:pt idx="3">
                  <c:v>0.004651507897918979</c:v>
                </c:pt>
                <c:pt idx="4">
                  <c:v>0.0077762975767696136</c:v>
                </c:pt>
                <c:pt idx="5">
                  <c:v>0.012644109393846891</c:v>
                </c:pt>
                <c:pt idx="6">
                  <c:v>0.019995850549185262</c:v>
                </c:pt>
                <c:pt idx="7">
                  <c:v>0.030755853536385193</c:v>
                </c:pt>
                <c:pt idx="8">
                  <c:v>0.046009970031571326</c:v>
                </c:pt>
                <c:pt idx="9">
                  <c:v>0.06694411138277702</c:v>
                </c:pt>
                <c:pt idx="10">
                  <c:v>0.09473469826562889</c:v>
                </c:pt>
                <c:pt idx="11">
                  <c:v>0.13038932458839061</c:v>
                </c:pt>
                <c:pt idx="12">
                  <c:v>0.17454654614410733</c:v>
                </c:pt>
                <c:pt idx="13">
                  <c:v>0.2272567271508448</c:v>
                </c:pt>
                <c:pt idx="14">
                  <c:v>0.2877786033550312</c:v>
                </c:pt>
                <c:pt idx="15">
                  <c:v>0.35443493165367035</c:v>
                </c:pt>
                <c:pt idx="16">
                  <c:v>0.42457146179884336</c:v>
                </c:pt>
                <c:pt idx="17">
                  <c:v>0.4946537945004014</c:v>
                </c:pt>
                <c:pt idx="18">
                  <c:v>0.5605161820417656</c:v>
                </c:pt>
                <c:pt idx="19">
                  <c:v>0.6177478318092168</c:v>
                </c:pt>
                <c:pt idx="20">
                  <c:v>0.6621716282347357</c:v>
                </c:pt>
                <c:pt idx="21">
                  <c:v>0.6903449817207413</c:v>
                </c:pt>
                <c:pt idx="22">
                  <c:v>0.7</c:v>
                </c:pt>
                <c:pt idx="23">
                  <c:v>0.6903449817207413</c:v>
                </c:pt>
                <c:pt idx="24">
                  <c:v>0.6621716282347357</c:v>
                </c:pt>
                <c:pt idx="25">
                  <c:v>0.6177478318092168</c:v>
                </c:pt>
                <c:pt idx="26">
                  <c:v>0.5605161820417656</c:v>
                </c:pt>
                <c:pt idx="27">
                  <c:v>0.4946537945004014</c:v>
                </c:pt>
                <c:pt idx="28">
                  <c:v>0.42457146179884336</c:v>
                </c:pt>
                <c:pt idx="29">
                  <c:v>0.35443493165367035</c:v>
                </c:pt>
                <c:pt idx="30">
                  <c:v>0.2877786033550312</c:v>
                </c:pt>
                <c:pt idx="31">
                  <c:v>0.2272567271508448</c:v>
                </c:pt>
                <c:pt idx="32">
                  <c:v>0.17454654614410733</c:v>
                </c:pt>
                <c:pt idx="33">
                  <c:v>0.13038932458839061</c:v>
                </c:pt>
                <c:pt idx="34">
                  <c:v>0.09473469826562889</c:v>
                </c:pt>
                <c:pt idx="35">
                  <c:v>0.06694411138277702</c:v>
                </c:pt>
                <c:pt idx="36">
                  <c:v>0.046009970031571326</c:v>
                </c:pt>
                <c:pt idx="37">
                  <c:v>0.030755853536385193</c:v>
                </c:pt>
                <c:pt idx="38">
                  <c:v>0.019995850549185262</c:v>
                </c:pt>
                <c:pt idx="39">
                  <c:v>0.012644109393846891</c:v>
                </c:pt>
                <c:pt idx="40">
                  <c:v>0.0077762975767696136</c:v>
                </c:pt>
              </c:numCache>
            </c:numRef>
          </c:val>
          <c:smooth val="1"/>
        </c:ser>
        <c:ser>
          <c:idx val="2"/>
          <c:order val="2"/>
          <c:tx>
            <c:strRef>
              <c:f>Sheet1!$D$1</c:f>
              <c:strCache>
                <c:ptCount val="1"/>
                <c:pt idx="0">
                  <c:v>species C</c:v>
                </c:pt>
              </c:strCache>
            </c:strRef>
          </c:tx>
          <c:spPr>
            <a:solidFill>
              <a:srgbClr val="3A7D44"/>
            </a:solidFill>
            <a:ln w="31750" cap="flat">
              <a:solidFill>
                <a:srgbClr val="3A7D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A7D44"/>
              </a:solidFill>
              <a:ln w="9525" cap="flat">
                <a:solidFill>
                  <a:srgbClr val="3A7D44"/>
                </a:solidFill>
                <a:prstDash val="solid"/>
                <a:round/>
              </a:ln>
              <a:effectLst/>
            </c:spPr>
          </c:marker>
          <c:cat>
            <c:multiLvlStrRef>
              <c:f>Sheet1!$A$2:$A$42</c:f>
              <c:multiLvlStrCache>
                <c:ptCount val="41"/>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lvl>
              </c:multiLvlStrCache>
            </c:multiLvlStrRef>
          </c:cat>
          <c:val>
            <c:numRef>
              <c:f>Sheet1!$D$2:$D$42</c:f>
              <c:numCache>
                <c:formatCode>General</c:formatCode>
                <c:ptCount val="41"/>
                <c:pt idx="0">
                  <c:v>1.768935441747307e-25</c:v>
                </c:pt>
                <c:pt idx="1">
                  <c:v>5.857909663921111e-24</c:v>
                </c:pt>
                <c:pt idx="2">
                  <c:v>1.735874863167526e-22</c:v>
                </c:pt>
                <c:pt idx="3">
                  <c:v>4.60298135862334e-21</c:v>
                </c:pt>
                <c:pt idx="4">
                  <c:v>1.0922073013132163e-19</c:v>
                </c:pt>
                <c:pt idx="5">
                  <c:v>2.319081398239483e-18</c:v>
                </c:pt>
                <c:pt idx="6">
                  <c:v>4.406278738127472e-17</c:v>
                </c:pt>
                <c:pt idx="7">
                  <c:v>7.49157270928305e-16</c:v>
                </c:pt>
                <c:pt idx="8">
                  <c:v>1.1397748994184758e-14</c:v>
                </c:pt>
                <c:pt idx="9">
                  <c:v>1.5517088451319608e-13</c:v>
                </c:pt>
                <c:pt idx="10">
                  <c:v>1.8903683634590275e-12</c:v>
                </c:pt>
                <c:pt idx="11">
                  <c:v>2.0607613610809977e-11</c:v>
                </c:pt>
                <c:pt idx="12">
                  <c:v>2.0102682925828495e-10</c:v>
                </c:pt>
                <c:pt idx="13">
                  <c:v>1.7547910074155077e-9</c:v>
                </c:pt>
                <c:pt idx="14">
                  <c:v>1.3706981770241366e-8</c:v>
                </c:pt>
                <c:pt idx="15">
                  <c:v>9.580834269968422e-8</c:v>
                </c:pt>
                <c:pt idx="16">
                  <c:v>5.992525322871584e-7</c:v>
                </c:pt>
                <c:pt idx="17">
                  <c:v>0.000003353987854870804</c:v>
                </c:pt>
                <c:pt idx="18">
                  <c:v>0.000016798022202168514</c:v>
                </c:pt>
                <c:pt idx="19">
                  <c:v>0.00007528351250675477</c:v>
                </c:pt>
                <c:pt idx="20">
                  <c:v>0.0003019163651122607</c:v>
                </c:pt>
                <c:pt idx="21">
                  <c:v>0.0010834739953453827</c:v>
                </c:pt>
                <c:pt idx="22">
                  <c:v>0.003479328125525527</c:v>
                </c:pt>
                <c:pt idx="23">
                  <c:v>0.009998096884418075</c:v>
                </c:pt>
                <c:pt idx="24">
                  <c:v>0.02570895070609534</c:v>
                </c:pt>
                <c:pt idx="25">
                  <c:v>0.05915567575487743</c:v>
                </c:pt>
                <c:pt idx="26">
                  <c:v>0.12180175491295143</c:v>
                </c:pt>
                <c:pt idx="27">
                  <c:v>0.2244169878995666</c:v>
                </c:pt>
                <c:pt idx="28">
                  <c:v>0.3700010614564687</c:v>
                </c:pt>
                <c:pt idx="29">
                  <c:v>0.5458775937413701</c:v>
                </c:pt>
                <c:pt idx="30">
                  <c:v>0.7206636626251273</c:v>
                </c:pt>
                <c:pt idx="31">
                  <c:v>0.8513635220160889</c:v>
                </c:pt>
                <c:pt idx="32">
                  <c:v>0.9</c:v>
                </c:pt>
                <c:pt idx="33">
                  <c:v>0.8513635220160889</c:v>
                </c:pt>
                <c:pt idx="34">
                  <c:v>0.7206636626251273</c:v>
                </c:pt>
                <c:pt idx="35">
                  <c:v>0.5458775937413701</c:v>
                </c:pt>
                <c:pt idx="36">
                  <c:v>0.3700010614564687</c:v>
                </c:pt>
                <c:pt idx="37">
                  <c:v>0.2244169878995666</c:v>
                </c:pt>
                <c:pt idx="38">
                  <c:v>0.12180175491295143</c:v>
                </c:pt>
                <c:pt idx="39">
                  <c:v>0.05915567575487743</c:v>
                </c:pt>
                <c:pt idx="40">
                  <c:v>0.02570895070609534</c:v>
                </c:pt>
              </c:numCache>
            </c:numRef>
          </c:val>
          <c:smooth val="1"/>
        </c:ser>
        <c:ser>
          <c:idx val="3"/>
          <c:order val="3"/>
          <c:tx>
            <c:strRef>
              <c:f>Sheet1!$E$1</c:f>
              <c:strCache>
                <c:ptCount val="1"/>
                <c:pt idx="0">
                  <c:v>community (weighted sum)</c:v>
                </c:pt>
              </c:strCache>
            </c:strRef>
          </c:tx>
          <c:spPr>
            <a:solidFill>
              <a:srgbClr val="0B3C5D"/>
            </a:solidFill>
            <a:ln w="31750" cap="flat">
              <a:solidFill>
                <a:srgbClr val="0B3C5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3C5D"/>
              </a:solidFill>
              <a:ln w="9525" cap="flat">
                <a:solidFill>
                  <a:srgbClr val="0B3C5D"/>
                </a:solidFill>
                <a:prstDash val="solid"/>
                <a:round/>
              </a:ln>
              <a:effectLst/>
            </c:spPr>
          </c:marker>
          <c:cat>
            <c:multiLvlStrRef>
              <c:f>Sheet1!$A$2:$A$42</c:f>
              <c:multiLvlStrCache>
                <c:ptCount val="41"/>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lvl>
              </c:multiLvlStrCache>
            </c:multiLvlStrRef>
          </c:cat>
          <c:val>
            <c:numRef>
              <c:f>Sheet1!$E$2:$E$42</c:f>
              <c:numCache>
                <c:formatCode>General</c:formatCode>
                <c:ptCount val="41"/>
                <c:pt idx="0">
                  <c:v>0.005807308868035076</c:v>
                </c:pt>
                <c:pt idx="1">
                  <c:v>0.011856463576624579</c:v>
                </c:pt>
                <c:pt idx="2">
                  <c:v>0.022780310040993</c:v>
                </c:pt>
                <c:pt idx="3">
                  <c:v>0.04117520672848954</c:v>
                </c:pt>
                <c:pt idx="4">
                  <c:v>0.07000053089133723</c:v>
                </c:pt>
                <c:pt idx="5">
                  <c:v>0.1119258162330977</c:v>
                </c:pt>
                <c:pt idx="6">
                  <c:v>0.16832498884393043</c:v>
                </c:pt>
                <c:pt idx="7">
                  <c:v>0.23814343694672283</c:v>
                </c:pt>
                <c:pt idx="8">
                  <c:v>0.3170683208657904</c:v>
                </c:pt>
                <c:pt idx="9">
                  <c:v>0.3975030344093678</c:v>
                </c:pt>
                <c:pt idx="10">
                  <c:v>0.46966886077236447</c:v>
                </c:pt>
                <c:pt idx="11">
                  <c:v>0.5237334146188107</c:v>
                </c:pt>
                <c:pt idx="12">
                  <c:v>0.5523639638834376</c:v>
                </c:pt>
                <c:pt idx="13">
                  <c:v>0.5527936357343837</c:v>
                </c:pt>
                <c:pt idx="14">
                  <c:v>0.5275820350402034</c:v>
                </c:pt>
                <c:pt idx="15">
                  <c:v>0.4837502996522733</c:v>
                </c:pt>
                <c:pt idx="16">
                  <c:v>0.43063688824647617</c:v>
                </c:pt>
                <c:pt idx="17">
                  <c:v>0.3773134900334985</c:v>
                </c:pt>
                <c:pt idx="18">
                  <c:v>0.33048444789614495</c:v>
                </c:pt>
                <c:pt idx="19">
                  <c:v>0.29347198966021004</c:v>
                </c:pt>
                <c:pt idx="20">
                  <c:v>0.26637951336174953</c:v>
                </c:pt>
                <c:pt idx="21">
                  <c:v>0.24709994367440533</c:v>
                </c:pt>
                <c:pt idx="22">
                  <c:v>0.23266433243680879</c:v>
                </c:pt>
                <c:pt idx="23">
                  <c:v>0.2205002043349122</c:v>
                </c:pt>
                <c:pt idx="24">
                  <c:v>0.20934777688076095</c:v>
                </c:pt>
                <c:pt idx="25">
                  <c:v>0.19969851930924684</c:v>
                </c:pt>
                <c:pt idx="26">
                  <c:v>0.1936089511542114</c:v>
                </c:pt>
                <c:pt idx="27">
                  <c:v>0.19372144908350128</c:v>
                </c:pt>
                <c:pt idx="28">
                  <c:v>0.201539382144898</c:v>
                </c:pt>
                <c:pt idx="29">
                  <c:v>0.21556580468616565</c:v>
                </c:pt>
                <c:pt idx="30">
                  <c:v>0.23048634618023128</c:v>
                </c:pt>
                <c:pt idx="31">
                  <c:v>0.23845602610105976</c:v>
                </c:pt>
                <c:pt idx="32">
                  <c:v>0.23236582716981827</c:v>
                </c:pt>
                <c:pt idx="33">
                  <c:v>0.20939001920684053</c:v>
                </c:pt>
                <c:pt idx="34">
                  <c:v>0.1725532769836393</c:v>
                </c:pt>
                <c:pt idx="35">
                  <c:v>0.1292587852411153</c:v>
                </c:pt>
                <c:pt idx="36">
                  <c:v>0.08780321091575502</c:v>
                </c:pt>
                <c:pt idx="37">
                  <c:v>0.05411015528768594</c:v>
                </c:pt>
                <c:pt idx="38">
                  <c:v>0.030359106481925174</c:v>
                </c:pt>
                <c:pt idx="39">
                  <c:v>0.015624368032985132</c:v>
                </c:pt>
                <c:pt idx="40">
                  <c:v>0.007474679425698625</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b="0" i="0" u="none" strike="noStrike">
                    <a:solidFill>
                      <a:srgbClr val="6B6B6B"/>
                    </a:solidFill>
                    <a:latin typeface="Arial"/>
                  </a:defRPr>
                </a:pPr>
                <a:r>
                  <a:rPr b="0" i="0" u="none" strike="noStrike">
                    <a:solidFill>
                      <a:srgbClr val="6B6B6B"/>
                    </a:solidFill>
                    <a:latin typeface="Arial"/>
                  </a:rPr>
                  <a:t>Trait value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2"/>
        <c:crosses val="autoZero"/>
        <c:auto val="1"/>
        <c:lblAlgn val="ctr"/>
        <c:noMultiLvlLbl val="1"/>
        <c:tickLblSkip val="10"/>
      </c:catAx>
      <c:valAx>
        <c:axId val="2094734552"/>
        <c:scaling>
          <c:orientation val="minMax"/>
        </c:scaling>
        <c:delete val="0"/>
        <c:axPos val="l"/>
        <c:majorGridlines>
          <c:spPr>
            <a:ln w="6350" cap="flat">
              <a:solidFill>
                <a:srgbClr val="E5E7EB"/>
              </a:solidFill>
              <a:prstDash val="solid"/>
              <a:round/>
            </a:ln>
          </c:spPr>
        </c:majorGridlines>
        <c:title>
          <c:tx>
            <c:rich>
              <a:bodyPr/>
              <a:lstStyle/>
              <a:p>
                <a:pPr>
                  <a:defRPr b="0" i="0" u="none" strike="noStrike">
                    <a:solidFill>
                      <a:srgbClr val="6B6B6B"/>
                    </a:solidFill>
                    <a:latin typeface="Arial"/>
                  </a:defRPr>
                </a:pPr>
                <a:r>
                  <a:rPr b="0" i="0" u="none" strike="noStrike">
                    <a:solidFill>
                      <a:srgbClr val="6B6B6B"/>
                    </a:solidFill>
                    <a:latin typeface="Arial"/>
                  </a:rPr>
                  <a:t>Density</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5D"/>
                </a:solidFill>
                <a:latin typeface="Arial"/>
              </a:defRPr>
            </a:pPr>
            <a:r>
              <a:rPr sz="1200" b="0" i="0" u="none" strike="noStrike">
                <a:solidFill>
                  <a:srgbClr val="0B3C5D"/>
                </a:solidFill>
                <a:latin typeface="Arial"/>
              </a:rPr>
              <a:t>Variance components by trait (illustrative)</a:t>
            </a:r>
          </a:p>
        </c:rich>
      </c:tx>
      <c:layout/>
      <c:overlay val="0"/>
    </c:title>
    <c:autoTitleDeleted val="0"/>
    <c:plotArea>
      <c:layout/>
      <c:barChart>
        <c:barDir val="col"/>
        <c:grouping val="percentStacked"/>
        <c:varyColors val="0"/>
        <c:ser>
          <c:idx val="0"/>
          <c:order val="0"/>
          <c:tx>
            <c:strRef>
              <c:f>Sheet1!$B$1</c:f>
              <c:strCache>
                <c:ptCount val="1"/>
                <c:pt idx="0">
                  <c:v>Among species</c:v>
                </c:pt>
              </c:strCache>
            </c:strRef>
          </c:tx>
          <c:spPr>
            <a:solidFill>
              <a:srgbClr val="0B3C5D"/>
            </a:solidFill>
            <a:effectLst/>
          </c:spPr>
          <c:invertIfNegative val="0"/>
          <c:dLbls>
            <c:numFmt formatCode="#,##0"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Body length</c:v>
                  </c:pt>
                  <c:pt idx="1">
                    <c:v>Body depth ratio</c:v>
                  </c:pt>
                  <c:pt idx="2">
                    <c:v>Mouth position</c:v>
                  </c:pt>
                </c:lvl>
              </c:multiLvlStrCache>
            </c:multiLvlStrRef>
          </c:cat>
          <c:val>
            <c:numRef>
              <c:f>Sheet1!$B$2:$B$4</c:f>
              <c:numCache>
                <c:formatCode>General</c:formatCode>
                <c:ptCount val="3"/>
                <c:pt idx="0">
                  <c:v>40</c:v>
                </c:pt>
                <c:pt idx="1">
                  <c:v>65</c:v>
                </c:pt>
                <c:pt idx="2">
                  <c:v>80</c:v>
                </c:pt>
              </c:numCache>
            </c:numRef>
          </c:val>
        </c:ser>
        <c:ser>
          <c:idx val="1"/>
          <c:order val="1"/>
          <c:tx>
            <c:strRef>
              <c:f>Sheet1!$C$1</c:f>
              <c:strCache>
                <c:ptCount val="1"/>
                <c:pt idx="0">
                  <c:v>Among populations</c:v>
                </c:pt>
              </c:strCache>
            </c:strRef>
          </c:tx>
          <c:spPr>
            <a:solidFill>
              <a:srgbClr val="1D6F9E"/>
            </a:solidFill>
            <a:effectLst/>
          </c:spPr>
          <c:invertIfNegative val="0"/>
          <c:dLbls>
            <c:numFmt formatCode="#,##0"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Body length</c:v>
                  </c:pt>
                  <c:pt idx="1">
                    <c:v>Body depth ratio</c:v>
                  </c:pt>
                  <c:pt idx="2">
                    <c:v>Mouth position</c:v>
                  </c:pt>
                </c:lvl>
              </c:multiLvlStrCache>
            </c:multiLvlStrRef>
          </c:cat>
          <c:val>
            <c:numRef>
              <c:f>Sheet1!$C$2:$C$4</c:f>
              <c:numCache>
                <c:formatCode>General</c:formatCode>
                <c:ptCount val="3"/>
                <c:pt idx="0">
                  <c:v>25</c:v>
                </c:pt>
                <c:pt idx="1">
                  <c:v>15</c:v>
                </c:pt>
                <c:pt idx="2">
                  <c:v>8</c:v>
                </c:pt>
              </c:numCache>
            </c:numRef>
          </c:val>
        </c:ser>
        <c:ser>
          <c:idx val="2"/>
          <c:order val="2"/>
          <c:tx>
            <c:strRef>
              <c:f>Sheet1!$D$1</c:f>
              <c:strCache>
                <c:ptCount val="1"/>
                <c:pt idx="0">
                  <c:v>Within populations</c:v>
                </c:pt>
              </c:strCache>
            </c:strRef>
          </c:tx>
          <c:spPr>
            <a:solidFill>
              <a:srgbClr val="8FB8D3"/>
            </a:solidFill>
            <a:effectLst/>
          </c:spPr>
          <c:invertIfNegative val="0"/>
          <c:dLbls>
            <c:numFmt formatCode="#,##0"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Body length</c:v>
                  </c:pt>
                  <c:pt idx="1">
                    <c:v>Body depth ratio</c:v>
                  </c:pt>
                  <c:pt idx="2">
                    <c:v>Mouth position</c:v>
                  </c:pt>
                </c:lvl>
              </c:multiLvlStrCache>
            </c:multiLvlStrRef>
          </c:cat>
          <c:val>
            <c:numRef>
              <c:f>Sheet1!$D$2:$D$4</c:f>
              <c:numCache>
                <c:formatCode>General</c:formatCode>
                <c:ptCount val="3"/>
                <c:pt idx="0">
                  <c:v>35</c:v>
                </c:pt>
                <c:pt idx="1">
                  <c:v>20</c:v>
                </c:pt>
                <c:pt idx="2">
                  <c:v>12</c:v>
                </c:pt>
              </c:numCache>
            </c:numRef>
          </c:val>
        </c:ser>
        <c:dLbls>
          <c:numFmt formatCode="#,##0"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5D"/>
                </a:solidFill>
                <a:latin typeface="Arial"/>
              </a:defRPr>
            </a:pPr>
            <a:r>
              <a:rPr sz="1200" b="0" i="0" u="none" strike="noStrike">
                <a:solidFill>
                  <a:srgbClr val="0B3C5D"/>
                </a:solidFill>
                <a:latin typeface="Arial"/>
              </a:rPr>
              <a:t>Size distribution of an exploited stock (illustrative; Jørgensen et al. 2007)</a:t>
            </a:r>
          </a:p>
        </c:rich>
      </c:tx>
      <c:layout/>
      <c:overlay val="0"/>
    </c:title>
    <c:autoTitleDeleted val="0"/>
    <c:plotArea>
      <c:layout/>
      <c:lineChart>
        <c:varyColors val="0"/>
        <c:ser>
          <c:idx val="0"/>
          <c:order val="0"/>
          <c:tx>
            <c:strRef>
              <c:f>Sheet1!$B$1</c:f>
              <c:strCache>
                <c:ptCount val="1"/>
                <c:pt idx="0">
                  <c:v>before harvesting</c:v>
                </c:pt>
              </c:strCache>
            </c:strRef>
          </c:tx>
          <c:spPr>
            <a:solidFill>
              <a:srgbClr val="1D6F9E"/>
            </a:solidFill>
            <a:ln w="31750" cap="flat">
              <a:solidFill>
                <a:srgbClr val="1D6F9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D6F9E"/>
              </a:solidFill>
              <a:ln w="9525" cap="flat">
                <a:solidFill>
                  <a:srgbClr val="1D6F9E"/>
                </a:solidFill>
                <a:prstDash val="solid"/>
                <a:round/>
              </a:ln>
              <a:effectLst/>
            </c:spPr>
          </c:marker>
          <c:cat>
            <c:multiLvlStrRef>
              <c:f>Sheet1!$A$2:$A$42</c:f>
              <c:multiLvlStrCache>
                <c:ptCount val="41"/>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lvl>
              </c:multiLvlStrCache>
            </c:multiLvlStrRef>
          </c:cat>
          <c:val>
            <c:numRef>
              <c:f>Sheet1!$B$2:$B$42</c:f>
              <c:numCache>
                <c:formatCode>General</c:formatCode>
                <c:ptCount val="41"/>
                <c:pt idx="0">
                  <c:v>0.0028016380348484847</c:v>
                </c:pt>
                <c:pt idx="1">
                  <c:v>0.004525807866766719</c:v>
                </c:pt>
                <c:pt idx="2">
                  <c:v>0.007163364470919217</c:v>
                </c:pt>
                <c:pt idx="3">
                  <c:v>0.011108996538242306</c:v>
                </c:pt>
                <c:pt idx="4">
                  <c:v>0.01687988414878991</c:v>
                </c:pt>
                <c:pt idx="5">
                  <c:v>0.025130488985274417</c:v>
                </c:pt>
                <c:pt idx="6">
                  <c:v>0.03665804195337801</c:v>
                </c:pt>
                <c:pt idx="7">
                  <c:v>0.05239314106982558</c:v>
                </c:pt>
                <c:pt idx="8">
                  <c:v>0.0733696513683829</c:v>
                </c:pt>
                <c:pt idx="9">
                  <c:v>0.10066889977289777</c:v>
                </c:pt>
                <c:pt idx="10">
                  <c:v>0.1353352832366127</c:v>
                </c:pt>
                <c:pt idx="11">
                  <c:v>0.17826397958504792</c:v>
                </c:pt>
                <c:pt idx="12">
                  <c:v>0.23006629899380907</c:v>
                </c:pt>
                <c:pt idx="13">
                  <c:v>0.2909238070461482</c:v>
                </c:pt>
                <c:pt idx="14">
                  <c:v>0.360447788597821</c:v>
                </c:pt>
                <c:pt idx="15">
                  <c:v>0.4375647377002692</c:v>
                </c:pt>
                <c:pt idx="16">
                  <c:v>0.5204501210207021</c:v>
                </c:pt>
                <c:pt idx="17">
                  <c:v>0.6065306597126334</c:v>
                </c:pt>
                <c:pt idx="18">
                  <c:v>0.6925693242051977</c:v>
                </c:pt>
                <c:pt idx="19">
                  <c:v>0.7748374288832494</c:v>
                </c:pt>
                <c:pt idx="20">
                  <c:v>0.8493658165683124</c:v>
                </c:pt>
                <c:pt idx="21">
                  <c:v>0.9122540768285452</c:v>
                </c:pt>
                <c:pt idx="22">
                  <c:v>0.9600054412854777</c:v>
                </c:pt>
                <c:pt idx="23">
                  <c:v>0.9898478033787338</c:v>
                </c:pt>
                <c:pt idx="24">
                  <c:v>1</c:v>
                </c:pt>
                <c:pt idx="25">
                  <c:v>0.9898478033787338</c:v>
                </c:pt>
                <c:pt idx="26">
                  <c:v>0.9600054412854777</c:v>
                </c:pt>
                <c:pt idx="27">
                  <c:v>0.9122540768285452</c:v>
                </c:pt>
                <c:pt idx="28">
                  <c:v>0.8493658165683124</c:v>
                </c:pt>
                <c:pt idx="29">
                  <c:v>0.7748374288832494</c:v>
                </c:pt>
                <c:pt idx="30">
                  <c:v>0.6925693242051977</c:v>
                </c:pt>
                <c:pt idx="31">
                  <c:v>0.6065306597126334</c:v>
                </c:pt>
                <c:pt idx="32">
                  <c:v>0.5204501210207021</c:v>
                </c:pt>
                <c:pt idx="33">
                  <c:v>0.4375647377002692</c:v>
                </c:pt>
                <c:pt idx="34">
                  <c:v>0.360447788597821</c:v>
                </c:pt>
                <c:pt idx="35">
                  <c:v>0.2909238070461482</c:v>
                </c:pt>
                <c:pt idx="36">
                  <c:v>0.23006629899380907</c:v>
                </c:pt>
                <c:pt idx="37">
                  <c:v>0.17826397958504792</c:v>
                </c:pt>
                <c:pt idx="38">
                  <c:v>0.1353352832366127</c:v>
                </c:pt>
                <c:pt idx="39">
                  <c:v>0.10066889977289777</c:v>
                </c:pt>
                <c:pt idx="40">
                  <c:v>0.0733696513683829</c:v>
                </c:pt>
              </c:numCache>
            </c:numRef>
          </c:val>
          <c:smooth val="1"/>
        </c:ser>
        <c:ser>
          <c:idx val="1"/>
          <c:order val="1"/>
          <c:tx>
            <c:strRef>
              <c:f>Sheet1!$C$1</c:f>
              <c:strCache>
                <c:ptCount val="1"/>
                <c:pt idx="0">
                  <c:v>after decades of size-selective harvesting</c:v>
                </c:pt>
              </c:strCache>
            </c:strRef>
          </c:tx>
          <c:spPr>
            <a:solidFill>
              <a:srgbClr val="B23A48"/>
            </a:solidFill>
            <a:ln w="31750" cap="flat">
              <a:solidFill>
                <a:srgbClr val="B23A4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23A48"/>
              </a:solidFill>
              <a:ln w="9525" cap="flat">
                <a:solidFill>
                  <a:srgbClr val="B23A48"/>
                </a:solidFill>
                <a:prstDash val="solid"/>
                <a:round/>
              </a:ln>
              <a:effectLst/>
            </c:spPr>
          </c:marker>
          <c:cat>
            <c:multiLvlStrRef>
              <c:f>Sheet1!$A$2:$A$42</c:f>
              <c:multiLvlStrCache>
                <c:ptCount val="41"/>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lvl>
              </c:multiLvlStrCache>
            </c:multiLvlStrRef>
          </c:cat>
          <c:val>
            <c:numRef>
              <c:f>Sheet1!$C$2:$C$42</c:f>
              <c:numCache>
                <c:formatCode>General</c:formatCode>
                <c:ptCount val="41"/>
                <c:pt idx="0">
                  <c:v>0.0017981666618475832</c:v>
                </c:pt>
                <c:pt idx="1">
                  <c:v>0.0038659201394728076</c:v>
                </c:pt>
                <c:pt idx="2">
                  <c:v>0.007910959733930247</c:v>
                </c:pt>
                <c:pt idx="3">
                  <c:v>0.015408445571188785</c:v>
                </c:pt>
                <c:pt idx="4">
                  <c:v>0.028565500784550377</c:v>
                </c:pt>
                <c:pt idx="5">
                  <c:v>0.05040553336275365</c:v>
                </c:pt>
                <c:pt idx="6">
                  <c:v>0.08465798862252998</c:v>
                </c:pt>
                <c:pt idx="7">
                  <c:v>0.1353352832366127</c:v>
                </c:pt>
                <c:pt idx="8">
                  <c:v>0.20592424643419874</c:v>
                </c:pt>
                <c:pt idx="9">
                  <c:v>0.29823409618142155</c:v>
                </c:pt>
                <c:pt idx="10">
                  <c:v>0.41111229050718745</c:v>
                </c:pt>
                <c:pt idx="11">
                  <c:v>0.5394075072376266</c:v>
                </c:pt>
                <c:pt idx="12">
                  <c:v>0.6736384553447268</c:v>
                </c:pt>
                <c:pt idx="13">
                  <c:v>0.8007374029168081</c:v>
                </c:pt>
                <c:pt idx="14">
                  <c:v>0.9059551911095096</c:v>
                </c:pt>
                <c:pt idx="15">
                  <c:v>0.9756109800648459</c:v>
                </c:pt>
                <c:pt idx="16">
                  <c:v>1</c:v>
                </c:pt>
                <c:pt idx="17">
                  <c:v>0.9756109800648459</c:v>
                </c:pt>
                <c:pt idx="18">
                  <c:v>0.9059551911095096</c:v>
                </c:pt>
                <c:pt idx="19">
                  <c:v>0.8007374029168081</c:v>
                </c:pt>
                <c:pt idx="20">
                  <c:v>0.6736384553447268</c:v>
                </c:pt>
                <c:pt idx="21">
                  <c:v>0.5394075072376266</c:v>
                </c:pt>
                <c:pt idx="22">
                  <c:v>0.41111229050718745</c:v>
                </c:pt>
                <c:pt idx="23">
                  <c:v>0.29823409618142155</c:v>
                </c:pt>
                <c:pt idx="24">
                  <c:v>0.20592424643419874</c:v>
                </c:pt>
                <c:pt idx="25">
                  <c:v>0.1353352832366127</c:v>
                </c:pt>
                <c:pt idx="26">
                  <c:v>0.08465798862252998</c:v>
                </c:pt>
                <c:pt idx="27">
                  <c:v>0.05040553336275365</c:v>
                </c:pt>
                <c:pt idx="28">
                  <c:v>0.028565500784550377</c:v>
                </c:pt>
                <c:pt idx="29">
                  <c:v>0.015408445571188785</c:v>
                </c:pt>
                <c:pt idx="30">
                  <c:v>0.007910959733930247</c:v>
                </c:pt>
                <c:pt idx="31">
                  <c:v>0.0038659201394728076</c:v>
                </c:pt>
                <c:pt idx="32">
                  <c:v>0.0017981666618475832</c:v>
                </c:pt>
                <c:pt idx="33">
                  <c:v>0.0007960866914957304</c:v>
                </c:pt>
                <c:pt idx="34">
                  <c:v>0.00033546262790251185</c:v>
                </c:pt>
                <c:pt idx="35">
                  <c:v>0.00013454925108033938</c:v>
                </c:pt>
                <c:pt idx="36">
                  <c:v>0.00005136553118975947</c:v>
                </c:pt>
                <c:pt idx="37">
                  <c:v>0.00001866446911352057</c:v>
                </c:pt>
                <c:pt idx="38">
                  <c:v>0.0000064552469066326796</c:v>
                </c:pt>
                <c:pt idx="39">
                  <c:v>0.000002125022016232153</c:v>
                </c:pt>
                <c:pt idx="40">
                  <c:v>6.658361469857315e-7</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b="0" i="0" u="none" strike="noStrike">
                    <a:solidFill>
                      <a:srgbClr val="6B6B6B"/>
                    </a:solidFill>
                    <a:latin typeface="Arial"/>
                  </a:defRPr>
                </a:pPr>
                <a:r>
                  <a:rPr b="0" i="0" u="none" strike="noStrike">
                    <a:solidFill>
                      <a:srgbClr val="6B6B6B"/>
                    </a:solidFill>
                    <a:latin typeface="Arial"/>
                  </a:rPr>
                  <a:t>Body size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2"/>
        <c:crosses val="autoZero"/>
        <c:auto val="1"/>
        <c:lblAlgn val="ctr"/>
        <c:noMultiLvlLbl val="1"/>
        <c:tickLblSkip val="10"/>
      </c:catAx>
      <c:valAx>
        <c:axId val="2094734552"/>
        <c:scaling>
          <c:orientation val="minMax"/>
        </c:scaling>
        <c:delete val="0"/>
        <c:axPos val="l"/>
        <c:majorGridlines>
          <c:spPr>
            <a:ln w="6350" cap="flat">
              <a:solidFill>
                <a:srgbClr val="E5E7EB"/>
              </a:solidFill>
              <a:prstDash val="solid"/>
              <a:round/>
            </a:ln>
          </c:spPr>
        </c:majorGridlines>
        <c:title>
          <c:tx>
            <c:rich>
              <a:bodyPr/>
              <a:lstStyle/>
              <a:p>
                <a:pPr>
                  <a:defRPr b="0" i="0" u="none" strike="noStrike">
                    <a:solidFill>
                      <a:srgbClr val="6B6B6B"/>
                    </a:solidFill>
                    <a:latin typeface="Arial"/>
                  </a:defRPr>
                </a:pPr>
                <a:r>
                  <a:rPr b="0" i="0" u="none" strike="noStrike">
                    <a:solidFill>
                      <a:srgbClr val="6B6B6B"/>
                    </a:solidFill>
                    <a:latin typeface="Arial"/>
                  </a:rPr>
                  <a:t>Density</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for the last block. Everything we have done so far represented a species by a single point: its mean trait value. I told you in Block 1 that this was a choice. This block is about what that choice hides, and about what happens when we put the variance back.
Go back to the definition of a functional trait: a feature measurable at the individual level. Traits are properties of individuals; the species mean is a summary that we compute for convenience. Individuals of the same species differ in body size, in body shape, in diet, in thermal tolerance — sometimes as much as two different species do. Violle and colleagues called the rediscovery of this fact "the return of the variance", in a 2012 paper in Trends in Ecology and Evolution, and the title captures the situation well: community ecology spent two decades building trait-based tools on species means, and is now adding the variance back, one method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question is quantitative: how much variation is there within species, relative to the variation between species? For plants we have a good answer: Siefert and colleagues compiled more than six hundred studies in 2015 and found that intraspecific variation represents on average a quarter of the total trait variation within communities, and about a third of the variation among communities. So for the average trait, three quarters of the variation is between species — the species mean is not a bad summary — but a quarter is inside species, and that is far too much to ignore, especially along environmental gradients where it is precisely the intraspecific part that responds.
For fishes the picture is, if anything, more extreme, for a reason that plants share only partly: indeterminate growth. A single fish species spans one or two orders of magnitude in body mass between the juvenile and the adult, and body size drives everything — prey size, predators, metabolism, habitat use. A juvenile pike and an adult pike are not the same functional entity. Body shape also varies within species with habitat: fishes from fast-flowing reaches are more streamlined than conspecifics from still water; lake fish differ in body depth and fin position between littoral and pelagic habitats. And diet varies among individuals to the point that Bolnick and colleagues, in 2003, documented individual specialisation — individuals using a small subset of the population's niche — in more than a hundred species, fishes prominent among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question is structural: where does the variance sit, and what produces it?
Trait variation is organised hierarchically. Between species, obviously. Between populations of the same species, living in different rivers or lakes. Between individuals within a population. And even within an individual over time — a fish grows, and its shape changes with it. Messier and colleagues, in 2010, showed for leaf traits that a large share of the variance sits at the lowest levels, within populations, and this is what makes sampling design so important: measuring one individual per species tells you nothing about that structure.
Three processes generate the variance. Ontogeny: individuals change as they develop, and for fishes this is the largest source of variation in size and often in shape and diet. Phenotypic plasticity: the same genotype produces different phenotypes in different environments — the streamlined body in fast current is partly plastic, reversible within a generation. And genetic differentiation between populations: local adaptation, which builds up over generations, so that populations in different habitats differ even when reared in common conditions. Sex adds a fourth axis in many species. Distinguishing plasticity from adaptation requires experiments — common gardens, transplants — but for our purposes the important point is that all three produce structured, not random, variance: variance that tracks the environment and therefore carries ecological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should a community ecologist care? Bolnick and colleagues answered in 2011 with a list of mechanisms; I will keep three.
First, functional overlap. Two species whose means are far apart look functionally distinct; if each has a wide distribution of individuals, they overlap, share resources, and compete — the mean-based picture overestimates the distinctness of species and therefore overestimates complementarity. Conversely, individuals within a species that use different resources reduce competition within the species, which is Bolnick's individual specialisation and a route to coexistence that species means cannot represent.
Second, response to the environment. When conditions change, a population can respond by shifting its trait distribution — through plasticity or selection — before any species is replaced. Along a gradient, part of the community's trait response is therefore intraspecific, and a study using species means will attribute the whole response to species turnover and miss this component. For fishes facing warming or flow alteration, this intraspecific response is probably the first one we should expect to see.
Third, the assembly questions of Block 2 change. Whether a community is clustered or overdispersed depends on distances between species; if those distances are computed between means, wide overlapping distributions make communities look more overdispersed than they are. Null models built on species means test a hypothesis about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consequences reach ecosystem functioning. In 2018 Des Roches and colleagues compiled experiments that manipulated either the identity of a species or the variation within a species — different populations, genotypes or phenotypes of the same species — and compared the effects on community and ecosystem responses. The result was that intraspecific effects were of the same order of magnitude as the effects of replacing one species by another, and in some cases larger. Fish were well represented among the systems — stickleback, guppies, alewife — because these are precisely the species in which population differences in morphology and diet are well documented.
Closer to home, Raffard, Santoul, Cucherousset and Blanchet, in Toulouse, published in 2019 a meta-analysis of the community and ecosystem consequences of intraspecific diversity — the number of genotypes or phenotypes within a species — and found consistent, positive effects on ecosystem functions, again comparable to those of species diversity. The message is that a species is not a functional unit: its populations do different things, and losing populations — which happens long before a species goes extinct — has functional consequences. Keep this in mind for the conservation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bring the variance into the tools of Blocks 1 and 2? The cleanest framework is the trait probability density, proposed by Carmona, de Bello, Mason and Lepš in 2016. A species is no longer a point but a probability distribution over the functional space — the density of trait values across its individuals, estimated by a kernel from the measured individuals, or, if only a mean and a variance are available, by a normal distribution. A community is the abundance-weighted sum of the species densities: a distribution over the space. And the three components of functional diversity are recomputed on that distribution: richness as the volume where the density is above a threshold, evenness as the regularity of the density, divergence as its concentration away from the centre.
This does several things at once. It integrates intraspecific variability naturally — two species with the same mean but wide overlapping distributions are close, as they should be. It removes the sensitivity of the convex hull to a single outlier. It works with any number of species. And it scales across levels: the same object describes an individual, a population, a species, a community or a region, so that you can partition functional diversity across those levels. The R package is TPD; funspace, which some of you will try on Thursday, uses the same logic for visualisation. If you go on to work with individual-level data, this is the framework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measure traits on individuals, the first analysis is always a partition of the variance. Two tools.
The first is a variance decomposition of functional diversity itself, proposed by de Bello and colleagues in 2011: the total functional diversity of a community, computed on individuals, is split into a between-species component — what you would get from species means — a within-species component, and their covariation. The ratio tells you directly how much your mean-based analysis misses, and it varies enormously between traits: for body size in fishes the within-species part can dominate.
The second is a hierarchical mixed model: the trait as response, random intercepts for species, for population nested in species, and the residual as within-population variation. The variance components give the share of variation at each level, and you can add fixed effects — habitat, temperature — to ask which level responds to the environment. This is a standard lmer model, and it is what I use in my own work on fish morphology: with several populations per species and a dozen individuals per population, you can ask whether body shape tracks the habitat within species, whether all species respond in the same direction, and how much of the community-level response is intraspecific.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what this looks like for fishes. Here, several species, each represented by many individuals from several populations, placed in a morphological space built on individuals rather than on species means. Three things to notice. First, the clouds of the species are wide, and they overlap: species that would be distinct points in a mean-based space share regions of the space. Second, within a species, individuals from different habitats occupy different parts of the cloud — the intraspecific variation is structured by the environment, not random. Third, the direction of that structure is often shared among species: fast-flowing habitats pull all species towards more streamlined shapes, which is what you expect from a common selective or plastic response to flow.
The consequence for the analyses of Block 2 is direct: a community-level trait–environment relationship computed on species means captures only the turnover part of this response, and a community may appear functionally stable while its populations are shifting. This is one of the reasons why we invest in individual-level morphometrics — landmarks, geometric morphometrics — for fishes, and why the question of how many individuals to measure per species is not a detail.
--- INSTRUCTOR NOTE ---
Replace the placeholder with a figure from your own data; if none is ready, use a published example (e.g. shape divergence between lake and stream populations of a cyprinid or stickleback). Keep the three observations — wide clouds, structured by habitat, shared direction — whatever the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practical guidance, because this is where projects succeed or fail.
Sampling design first. The number of individuals per species matters more than the number of traits: as a rule of thumb, ten to fifteen individuals per population and several populations per species give a usable estimate of within- and between-population variance; a single individual per species gives a mean of unknown quality. Stratify by size class if ontogeny is a concern, and record sex when it can be determined.
Traits next. Not all traits vary equally within species: size-related traits and diet vary a lot, some shape ratios less. Measure traits as ratios or size-correct them, otherwise ontogeny will dominate everything; for shape, geometric morphometrics — landmarks, Procrustes superimposition, then shape coordinates — separates size from shape explicitly.
Measurement protocol. Individual-level data multiply the number of measurements, so repeatability becomes an issue: standardised photographs, a scale bar, a written landmark protocol, and a quantification of operator error — measure a subset twice, or by two people, and compute intra-class correlations. An effect of habitat on shape smaller than the difference between two operators is not a result.
Analysis. Mixed models for variance partitioning and trait–environment relationships at several levels; TPD or hypervolume methods for functional diversity with individuals; geometric morphometrics in geomorph for shape. All of this is in R, and all of it is reproducible if you script it from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close by connecting this block to the extinction discussion of Block 2, because the two are the same story at different levels.
Species do not disappear all at once: they lose populations first, and their trait distributions narrow before they vanish. Fisheries provide the clearest example: size-selective harvesting removes the largest individuals, populations mature earlier and smaller, and within a few decades the size distribution of exploited stocks has shifted — Jørgensen and colleagues, in Science in 2007, called this managing evolving fish stocks. From the point of view of this course, that is a loss of intraspecific functional variance: the large individuals that ate large prey, produced the most eggs and moved the furthest are gone, while the species is still on the list.
The same logic applies to river fragmentation and habitat loss: the populations of a widespread species that occupied the fast-flowing or the large-river habitats are the first to go, and with them a part of the species' functional range that the species mean never showed. So when we ask, as in Block 2, which functions are lost when threatened species disappear, we should add: which functions are already being lost within species that are not yet threatened. The tools of this block — individual-level traits, variance partitioning, TPD — are what make that question answerable. I find this one of the most exciting open questions in functional ecology, and it is one where freshwater fishes, with their indeterminate growth, their population structure and their exposure to harvesting and fragmentation, are an ideal system.
--- INSTRUCTOR NOTE ---
If time allows, ask the room: "In the two-rivers example of slide 2, would measuring individuals rather than species change which river you consider more diverse?"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short. Traits are properties of individuals, and the species mean is a modelling choice with consequences. Intraspecific variability is large — a quarter of within-community variation on average in plants, and more for fish body size — and it is structured by ontogeny, plasticity and local adaptation, so it carries ecological information. Ignoring it overestimates the distinctness of species, hides the intraspecific part of the response to the environment, and misses effects on ecosystem functioning that are as large as those of species replacement. The tools exist — individual-level sampling, variance partitioning with mixed models, trait probability densities — and they open a question that connects directly with conservation: functional variance is lost within species long before species are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5D"/>
        </a:solidFill>
      </p:bgPr>
    </p:bg>
    <p:spTree>
      <p:nvGrpSpPr>
        <p:cNvPr id="1" name=""/>
        <p:cNvGrpSpPr/>
        <p:nvPr/>
      </p:nvGrpSpPr>
      <p:grpSpPr>
        <a:xfrm>
          <a:off x="0" y="0"/>
          <a:ext cx="0" cy="0"/>
          <a:chOff x="0" y="0"/>
          <a:chExt cx="0" cy="0"/>
        </a:xfrm>
      </p:grpSpPr>
      <p:sp>
        <p:nvSpPr>
          <p:cNvPr id="2" name="Text 0"/>
          <p:cNvSpPr txBox="1"/>
          <p:nvPr/>
        </p:nvSpPr>
        <p:spPr>
          <a:xfrm>
            <a:off x="548640" y="2011680"/>
            <a:ext cx="11091672" cy="146304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Block 3 — Intraspecific trait variability: the return of the variance</a:t>
            </a:r>
            <a:endParaRPr lang="en-US" sz="4000" dirty="0"/>
          </a:p>
        </p:txBody>
      </p:sp>
      <p:sp>
        <p:nvSpPr>
          <p:cNvPr id="3" name="Text 1"/>
          <p:cNvSpPr txBox="1"/>
          <p:nvPr/>
        </p:nvSpPr>
        <p:spPr>
          <a:xfrm>
            <a:off x="548640" y="3566160"/>
            <a:ext cx="11091672" cy="1097280"/>
          </a:xfrm>
          <a:prstGeom prst="rect">
            <a:avLst/>
          </a:prstGeom>
          <a:noFill/>
          <a:ln/>
        </p:spPr>
        <p:txBody>
          <a:bodyPr wrap="square" lIns="0" tIns="0" rIns="0" bIns="0" rtlCol="0" anchor="t"/>
          <a:lstStyle/>
          <a:p>
            <a:pPr indent="0" marL="0">
              <a:buNone/>
            </a:pPr>
            <a:r>
              <a:rPr lang="en-US" sz="2000" dirty="0">
                <a:solidFill>
                  <a:srgbClr val="CADCFC"/>
                </a:solidFill>
                <a:latin typeface="Calibri" pitchFamily="34" charset="0"/>
                <a:ea typeface="Calibri" pitchFamily="34" charset="-122"/>
                <a:cs typeface="Calibri" pitchFamily="34" charset="-120"/>
              </a:rPr>
              <a:t>15:45–16:15 · The species mean is a choice · How much, and where, is the variance? · Why it matters: coexistence, environment, functioning · TPD and variance partitioning · A fish case study · Measuring ITV · ITV, extinction and conservation</a:t>
            </a:r>
            <a:endParaRPr lang="en-US" sz="2000" dirty="0"/>
          </a:p>
        </p:txBody>
      </p:sp>
      <p:sp>
        <p:nvSpPr>
          <p:cNvPr id="4" name="Text 2"/>
          <p:cNvSpPr txBox="1"/>
          <p:nvPr/>
        </p:nvSpPr>
        <p:spPr>
          <a:xfrm>
            <a:off x="548640" y="6309360"/>
            <a:ext cx="73152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Block 3 · Intraspecific trait variability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The species mean is a choice</a:t>
            </a:r>
            <a:endParaRPr lang="en-US" sz="3000" dirty="0"/>
          </a:p>
        </p:txBody>
      </p:sp>
      <p:sp>
        <p:nvSpPr>
          <p:cNvPr id="3" name="Text 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Master FBE 2026 · Session 1 · Block 3 · Intraspecific trait variability</a:t>
            </a:r>
            <a:endParaRPr lang="en-US" sz="1000" dirty="0"/>
          </a:p>
        </p:txBody>
      </p:sp>
      <p:sp>
        <p:nvSpPr>
          <p:cNvPr id="4" name="Text 2"/>
          <p:cNvSpPr txBox="1"/>
          <p:nvPr/>
        </p:nvSpPr>
        <p:spPr>
          <a:xfrm>
            <a:off x="1072591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34</a:t>
            </a:r>
            <a:endParaRPr lang="en-US" sz="1000" dirty="0"/>
          </a:p>
        </p:txBody>
      </p:sp>
      <p:sp>
        <p:nvSpPr>
          <p:cNvPr id="5" name="Shape 3"/>
          <p:cNvSpPr/>
          <p:nvPr/>
        </p:nvSpPr>
        <p:spPr>
          <a:xfrm>
            <a:off x="548640" y="1371600"/>
            <a:ext cx="11091672" cy="1005840"/>
          </a:xfrm>
          <a:prstGeom prst="roundRect">
            <a:avLst>
              <a:gd name="adj" fmla="val 9091"/>
            </a:avLst>
          </a:prstGeom>
          <a:solidFill>
            <a:srgbClr val="E8F1F7"/>
          </a:solidFill>
          <a:ln w="12700">
            <a:solidFill>
              <a:srgbClr val="E8F1F7"/>
            </a:solidFill>
            <a:prstDash val="solid"/>
          </a:ln>
        </p:spPr>
      </p:sp>
      <p:sp>
        <p:nvSpPr>
          <p:cNvPr id="6" name="Text 4"/>
          <p:cNvSpPr txBox="1"/>
          <p:nvPr/>
        </p:nvSpPr>
        <p:spPr>
          <a:xfrm>
            <a:off x="777240" y="1417320"/>
            <a:ext cx="10634472" cy="914400"/>
          </a:xfrm>
          <a:prstGeom prst="rect">
            <a:avLst/>
          </a:prstGeom>
          <a:noFill/>
          <a:ln/>
        </p:spPr>
        <p:txBody>
          <a:bodyPr wrap="square" lIns="0" tIns="0" rIns="0" bIns="0" rtlCol="0" anchor="ctr"/>
          <a:lstStyle/>
          <a:p>
            <a:pPr indent="0" marL="0">
              <a:buNone/>
            </a:pPr>
            <a:r>
              <a:rPr lang="en-US" sz="2000" i="1" dirty="0">
                <a:solidFill>
                  <a:srgbClr val="0B3C5D"/>
                </a:solidFill>
                <a:latin typeface="Cambria" pitchFamily="34" charset="0"/>
                <a:ea typeface="Cambria" pitchFamily="34" charset="-122"/>
                <a:cs typeface="Cambria" pitchFamily="34" charset="-120"/>
              </a:rPr>
              <a:t>“Any morphological, physiological or phenological feature </a:t>
            </a:r>
            <a:pPr indent="0" marL="0">
              <a:buNone/>
            </a:pPr>
            <a:r>
              <a:rPr lang="en-US" sz="2000" b="1" i="1" dirty="0">
                <a:solidFill>
                  <a:srgbClr val="D9822B"/>
                </a:solidFill>
                <a:latin typeface="Cambria" pitchFamily="34" charset="0"/>
                <a:ea typeface="Cambria" pitchFamily="34" charset="-122"/>
                <a:cs typeface="Cambria" pitchFamily="34" charset="-120"/>
              </a:rPr>
              <a:t>measurable at the individual level</a:t>
            </a:r>
            <a:pPr indent="0" marL="0">
              <a:buNone/>
            </a:pPr>
            <a:r>
              <a:rPr lang="en-US" sz="2000" i="1" dirty="0">
                <a:solidFill>
                  <a:srgbClr val="0B3C5D"/>
                </a:solidFill>
                <a:latin typeface="Cambria" pitchFamily="34" charset="0"/>
                <a:ea typeface="Cambria" pitchFamily="34" charset="-122"/>
                <a:cs typeface="Cambria" pitchFamily="34" charset="-120"/>
              </a:rPr>
              <a:t>…” — Violle et al. (2007)</a:t>
            </a:r>
            <a:endParaRPr lang="en-US" sz="2000" dirty="0"/>
          </a:p>
        </p:txBody>
      </p:sp>
      <p:graphicFrame>
        <p:nvGraphicFramePr>
          <p:cNvPr id="7" name="Chart 0" descr=""/>
          <p:cNvGraphicFramePr/>
          <p:nvPr/>
        </p:nvGraphicFramePr>
        <p:xfrm>
          <a:off x="548640" y="2560320"/>
          <a:ext cx="5669280" cy="30175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3264408" y="4983480"/>
            <a:ext cx="237744" cy="237744"/>
          </a:xfrm>
          <a:prstGeom prst="ellipse">
            <a:avLst/>
          </a:prstGeom>
          <a:solidFill>
            <a:srgbClr val="D9822B"/>
          </a:solidFill>
          <a:ln w="12700">
            <a:solidFill>
              <a:srgbClr val="D9822B"/>
            </a:solidFill>
            <a:prstDash val="solid"/>
          </a:ln>
        </p:spPr>
      </p:sp>
      <p:sp>
        <p:nvSpPr>
          <p:cNvPr id="9" name="Text 6"/>
          <p:cNvSpPr txBox="1"/>
          <p:nvPr/>
        </p:nvSpPr>
        <p:spPr>
          <a:xfrm>
            <a:off x="3566160" y="4937760"/>
            <a:ext cx="2286000" cy="320040"/>
          </a:xfrm>
          <a:prstGeom prst="rect">
            <a:avLst/>
          </a:prstGeom>
          <a:noFill/>
          <a:ln/>
        </p:spPr>
        <p:txBody>
          <a:bodyPr wrap="square" lIns="0" tIns="0" rIns="0" bIns="0" rtlCol="0" anchor="ctr"/>
          <a:lstStyle/>
          <a:p>
            <a:pPr indent="0" marL="0">
              <a:buNone/>
            </a:pPr>
            <a:r>
              <a:rPr lang="en-US" sz="1100" b="1" dirty="0">
                <a:solidFill>
                  <a:srgbClr val="D9822B"/>
                </a:solidFill>
                <a:latin typeface="Calibri" pitchFamily="34" charset="0"/>
                <a:ea typeface="Calibri" pitchFamily="34" charset="-122"/>
                <a:cs typeface="Calibri" pitchFamily="34" charset="-120"/>
              </a:rPr>
              <a:t>▲ species mean</a:t>
            </a:r>
            <a:endParaRPr lang="en-US" sz="1100" dirty="0"/>
          </a:p>
        </p:txBody>
      </p:sp>
      <p:sp>
        <p:nvSpPr>
          <p:cNvPr id="10" name="Text 7"/>
          <p:cNvSpPr txBox="1"/>
          <p:nvPr/>
        </p:nvSpPr>
        <p:spPr>
          <a:xfrm>
            <a:off x="6492240" y="2560320"/>
            <a:ext cx="5148072" cy="3291840"/>
          </a:xfrm>
          <a:prstGeom prst="rect">
            <a:avLst/>
          </a:prstGeom>
          <a:noFill/>
          <a:ln/>
        </p:spPr>
        <p:txBody>
          <a:bodyPr wrap="square" lIns="50800" tIns="50800" rIns="50800" bIns="50800" rtlCol="0" anchor="t"/>
          <a:lstStyle/>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Traits are properties of individuals; the species mean is a summary computed for convenience</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Individuals of one species differ in size, shape, diet, thermal tolerance — sometimes as much as two species do</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“The return of the variance” (Violle et al. 2012 TREE): two decades of tools built on means; the variance is being added back, one method at a time</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This block: what the mean hides, and how to work without it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How much variation is there within species?</a:t>
            </a:r>
            <a:endParaRPr lang="en-US" sz="3000" dirty="0"/>
          </a:p>
        </p:txBody>
      </p:sp>
      <p:sp>
        <p:nvSpPr>
          <p:cNvPr id="3" name="Text 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Master FBE 2026 · Session 1 · Block 3 · Intraspecific trait variability</a:t>
            </a:r>
            <a:endParaRPr lang="en-US" sz="1000" dirty="0"/>
          </a:p>
        </p:txBody>
      </p:sp>
      <p:sp>
        <p:nvSpPr>
          <p:cNvPr id="4" name="Text 2"/>
          <p:cNvSpPr txBox="1"/>
          <p:nvPr/>
        </p:nvSpPr>
        <p:spPr>
          <a:xfrm>
            <a:off x="1072591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35</a:t>
            </a:r>
            <a:endParaRPr lang="en-US" sz="1000" dirty="0"/>
          </a:p>
        </p:txBody>
      </p:sp>
      <p:graphicFrame>
        <p:nvGraphicFramePr>
          <p:cNvPr id="5" name="Chart 0" descr=""/>
          <p:cNvGraphicFramePr/>
          <p:nvPr/>
        </p:nvGraphicFramePr>
        <p:xfrm>
          <a:off x="548640" y="1371600"/>
          <a:ext cx="5120640" cy="36576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48640" y="5120640"/>
            <a:ext cx="5120640" cy="1097280"/>
          </a:xfrm>
          <a:prstGeom prst="rect">
            <a:avLst/>
          </a:prstGeom>
          <a:noFill/>
          <a:ln/>
        </p:spPr>
        <p:txBody>
          <a:bodyPr wrap="square" lIns="0" tIns="0" rIns="0" bIns="0" rtlCol="0" anchor="ctr"/>
          <a:lstStyle/>
          <a:p>
            <a:pPr indent="0" marL="0">
              <a:buNone/>
            </a:pPr>
            <a:r>
              <a:rPr lang="en-US" sz="1200" dirty="0">
                <a:solidFill>
                  <a:srgbClr val="6B6B6B"/>
                </a:solidFill>
                <a:latin typeface="Calibri" pitchFamily="34" charset="0"/>
                <a:ea typeface="Calibri" pitchFamily="34" charset="-122"/>
                <a:cs typeface="Calibri" pitchFamily="34" charset="-120"/>
              </a:rPr>
              <a:t>Plants: about a quarter of the variation within communities and a third among communities is intraspecific — the mean is not a bad summary, but a quarter is too much to ignore, especially along gradients.</a:t>
            </a:r>
            <a:endParaRPr lang="en-US" sz="1200" dirty="0"/>
          </a:p>
        </p:txBody>
      </p:sp>
      <p:sp>
        <p:nvSpPr>
          <p:cNvPr id="7" name="Text 4"/>
          <p:cNvSpPr txBox="1"/>
          <p:nvPr/>
        </p:nvSpPr>
        <p:spPr>
          <a:xfrm>
            <a:off x="6217920" y="1371600"/>
            <a:ext cx="5486400" cy="411480"/>
          </a:xfrm>
          <a:prstGeom prst="rect">
            <a:avLst/>
          </a:prstGeom>
          <a:noFill/>
          <a:ln/>
        </p:spPr>
        <p:txBody>
          <a:bodyPr wrap="square" lIns="0" tIns="0" rIns="0" bIns="0" rtlCol="0" anchor="ctr"/>
          <a:lstStyle/>
          <a:p>
            <a:pPr indent="0" marL="0">
              <a:buNone/>
            </a:pPr>
            <a:r>
              <a:rPr lang="en-US" sz="1800" b="1" dirty="0">
                <a:solidFill>
                  <a:srgbClr val="0B3C5D"/>
                </a:solidFill>
                <a:latin typeface="Calibri" pitchFamily="34" charset="0"/>
                <a:ea typeface="Calibri" pitchFamily="34" charset="-122"/>
                <a:cs typeface="Calibri" pitchFamily="34" charset="-120"/>
              </a:rPr>
              <a:t>Fishes: if anything, more extreme</a:t>
            </a:r>
            <a:endParaRPr lang="en-US" sz="1800" dirty="0"/>
          </a:p>
        </p:txBody>
      </p:sp>
      <p:sp>
        <p:nvSpPr>
          <p:cNvPr id="8" name="Text 5"/>
          <p:cNvSpPr txBox="1"/>
          <p:nvPr/>
        </p:nvSpPr>
        <p:spPr>
          <a:xfrm>
            <a:off x="6217920" y="1828800"/>
            <a:ext cx="5422392" cy="4206240"/>
          </a:xfrm>
          <a:prstGeom prst="rect">
            <a:avLst/>
          </a:prstGeom>
          <a:noFill/>
          <a:ln/>
        </p:spPr>
        <p:txBody>
          <a:bodyPr wrap="square" lIns="50800" tIns="50800" rIns="50800" bIns="50800" rtlCol="0" anchor="t"/>
          <a:lstStyle/>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Indeterminate growth: one species spans 1–2 orders of magnitude in body mass from juvenile to adult — and size drives prey, predators, metabolism, habitat</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A juvenile pike and an adult pike are not the same functional entity</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Body shape varies with habitat within species: more streamlined in fast-flowing reaches; littoral vs pelagic morphs in lakes</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Diet: individual specialisation documented in &gt; 100 species, fishes prominent (Bolnick et al. 2003)</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Where does the variance come from?</a:t>
            </a:r>
            <a:endParaRPr lang="en-US" sz="3000" dirty="0"/>
          </a:p>
        </p:txBody>
      </p:sp>
      <p:sp>
        <p:nvSpPr>
          <p:cNvPr id="3" name="Text 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Master FBE 2026 · Session 1 · Block 3 · Intraspecific trait variability</a:t>
            </a:r>
            <a:endParaRPr lang="en-US" sz="1000" dirty="0"/>
          </a:p>
        </p:txBody>
      </p:sp>
      <p:sp>
        <p:nvSpPr>
          <p:cNvPr id="4" name="Text 2"/>
          <p:cNvSpPr txBox="1"/>
          <p:nvPr/>
        </p:nvSpPr>
        <p:spPr>
          <a:xfrm>
            <a:off x="1072591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36</a:t>
            </a:r>
            <a:endParaRPr lang="en-US" sz="1000" dirty="0"/>
          </a:p>
        </p:txBody>
      </p:sp>
      <p:sp>
        <p:nvSpPr>
          <p:cNvPr id="5" name="Shape 3"/>
          <p:cNvSpPr/>
          <p:nvPr/>
        </p:nvSpPr>
        <p:spPr>
          <a:xfrm>
            <a:off x="548640" y="1463040"/>
            <a:ext cx="5120640" cy="777240"/>
          </a:xfrm>
          <a:prstGeom prst="roundRect">
            <a:avLst>
              <a:gd name="adj" fmla="val 14118"/>
            </a:avLst>
          </a:prstGeom>
          <a:solidFill>
            <a:srgbClr val="0B3C5D"/>
          </a:solidFill>
          <a:ln w="12700">
            <a:solidFill>
              <a:srgbClr val="0B3C5D"/>
            </a:solidFill>
            <a:prstDash val="solid"/>
          </a:ln>
        </p:spPr>
      </p:sp>
      <p:sp>
        <p:nvSpPr>
          <p:cNvPr id="6" name="Text 4"/>
          <p:cNvSpPr txBox="1"/>
          <p:nvPr/>
        </p:nvSpPr>
        <p:spPr>
          <a:xfrm>
            <a:off x="548640" y="1463040"/>
            <a:ext cx="5120640" cy="777240"/>
          </a:xfrm>
          <a:prstGeom prst="rect">
            <a:avLst/>
          </a:prstGeom>
          <a:noFill/>
          <a:ln/>
        </p:spPr>
        <p:txBody>
          <a:bodyPr wrap="square" lIns="25400" tIns="25400" rIns="25400" bIns="254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Among species</a:t>
            </a:r>
            <a:endParaRPr lang="en-US" sz="1300" dirty="0"/>
          </a:p>
        </p:txBody>
      </p:sp>
      <p:sp>
        <p:nvSpPr>
          <p:cNvPr id="7" name="Shape 5"/>
          <p:cNvSpPr/>
          <p:nvPr/>
        </p:nvSpPr>
        <p:spPr>
          <a:xfrm>
            <a:off x="960120" y="2423160"/>
            <a:ext cx="4297680" cy="777240"/>
          </a:xfrm>
          <a:prstGeom prst="roundRect">
            <a:avLst>
              <a:gd name="adj" fmla="val 14118"/>
            </a:avLst>
          </a:prstGeom>
          <a:solidFill>
            <a:srgbClr val="1D6F9E"/>
          </a:solidFill>
          <a:ln w="12700">
            <a:solidFill>
              <a:srgbClr val="1D6F9E"/>
            </a:solidFill>
            <a:prstDash val="solid"/>
          </a:ln>
        </p:spPr>
      </p:sp>
      <p:sp>
        <p:nvSpPr>
          <p:cNvPr id="8" name="Text 6"/>
          <p:cNvSpPr txBox="1"/>
          <p:nvPr/>
        </p:nvSpPr>
        <p:spPr>
          <a:xfrm>
            <a:off x="960120" y="2423160"/>
            <a:ext cx="4297680" cy="777240"/>
          </a:xfrm>
          <a:prstGeom prst="rect">
            <a:avLst/>
          </a:prstGeom>
          <a:noFill/>
          <a:ln/>
        </p:spPr>
        <p:txBody>
          <a:bodyPr wrap="square" lIns="25400" tIns="25400" rIns="25400" bIns="254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Among populations (rivers, lakes)</a:t>
            </a:r>
            <a:endParaRPr lang="en-US" sz="1300" dirty="0"/>
          </a:p>
        </p:txBody>
      </p:sp>
      <p:sp>
        <p:nvSpPr>
          <p:cNvPr id="9" name="Shape 7"/>
          <p:cNvSpPr/>
          <p:nvPr/>
        </p:nvSpPr>
        <p:spPr>
          <a:xfrm>
            <a:off x="1371600" y="3383280"/>
            <a:ext cx="3474720" cy="777240"/>
          </a:xfrm>
          <a:prstGeom prst="roundRect">
            <a:avLst>
              <a:gd name="adj" fmla="val 14118"/>
            </a:avLst>
          </a:prstGeom>
          <a:solidFill>
            <a:srgbClr val="4F8FB5"/>
          </a:solidFill>
          <a:ln w="12700">
            <a:solidFill>
              <a:srgbClr val="4F8FB5"/>
            </a:solidFill>
            <a:prstDash val="solid"/>
          </a:ln>
        </p:spPr>
      </p:sp>
      <p:sp>
        <p:nvSpPr>
          <p:cNvPr id="10" name="Text 8"/>
          <p:cNvSpPr txBox="1"/>
          <p:nvPr/>
        </p:nvSpPr>
        <p:spPr>
          <a:xfrm>
            <a:off x="1371600" y="3383280"/>
            <a:ext cx="3474720" cy="777240"/>
          </a:xfrm>
          <a:prstGeom prst="rect">
            <a:avLst/>
          </a:prstGeom>
          <a:noFill/>
          <a:ln/>
        </p:spPr>
        <p:txBody>
          <a:bodyPr wrap="square" lIns="25400" tIns="25400" rIns="25400" bIns="254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Among individuals within a population</a:t>
            </a:r>
            <a:endParaRPr lang="en-US" sz="1300" dirty="0"/>
          </a:p>
        </p:txBody>
      </p:sp>
      <p:sp>
        <p:nvSpPr>
          <p:cNvPr id="11" name="Shape 9"/>
          <p:cNvSpPr/>
          <p:nvPr/>
        </p:nvSpPr>
        <p:spPr>
          <a:xfrm>
            <a:off x="1783080" y="4343400"/>
            <a:ext cx="2651760" cy="777240"/>
          </a:xfrm>
          <a:prstGeom prst="roundRect">
            <a:avLst>
              <a:gd name="adj" fmla="val 14118"/>
            </a:avLst>
          </a:prstGeom>
          <a:solidFill>
            <a:srgbClr val="8FB8D3"/>
          </a:solidFill>
          <a:ln w="12700">
            <a:solidFill>
              <a:srgbClr val="8FB8D3"/>
            </a:solidFill>
            <a:prstDash val="solid"/>
          </a:ln>
        </p:spPr>
      </p:sp>
      <p:sp>
        <p:nvSpPr>
          <p:cNvPr id="12" name="Text 10"/>
          <p:cNvSpPr txBox="1"/>
          <p:nvPr/>
        </p:nvSpPr>
        <p:spPr>
          <a:xfrm>
            <a:off x="1783080" y="4343400"/>
            <a:ext cx="2651760" cy="777240"/>
          </a:xfrm>
          <a:prstGeom prst="rect">
            <a:avLst/>
          </a:prstGeom>
          <a:noFill/>
          <a:ln/>
        </p:spPr>
        <p:txBody>
          <a:bodyPr wrap="square" lIns="25400" tIns="25400" rIns="25400" bIns="254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Within an individual over time (growth)</a:t>
            </a:r>
            <a:endParaRPr lang="en-US" sz="1300" dirty="0"/>
          </a:p>
        </p:txBody>
      </p:sp>
      <p:sp>
        <p:nvSpPr>
          <p:cNvPr id="13" name="Text 11"/>
          <p:cNvSpPr txBox="1"/>
          <p:nvPr/>
        </p:nvSpPr>
        <p:spPr>
          <a:xfrm>
            <a:off x="548640" y="5394960"/>
            <a:ext cx="5120640" cy="731520"/>
          </a:xfrm>
          <a:prstGeom prst="rect">
            <a:avLst/>
          </a:prstGeom>
          <a:noFill/>
          <a:ln/>
        </p:spPr>
        <p:txBody>
          <a:bodyPr wrap="square" lIns="0" tIns="0" rIns="0" bIns="0" rtlCol="0" anchor="ctr"/>
          <a:lstStyle/>
          <a:p>
            <a:pPr indent="0" marL="0">
              <a:buNone/>
            </a:pPr>
            <a:r>
              <a:rPr lang="en-US" sz="1200" dirty="0">
                <a:solidFill>
                  <a:srgbClr val="6B6B6B"/>
                </a:solidFill>
                <a:latin typeface="Calibri" pitchFamily="34" charset="0"/>
                <a:ea typeface="Calibri" pitchFamily="34" charset="-122"/>
                <a:cs typeface="Calibri" pitchFamily="34" charset="-120"/>
              </a:rPr>
              <a:t>Hierarchical structure (Messier et al. 2010): a large share of the variance sits at the lowest levels</a:t>
            </a:r>
            <a:endParaRPr lang="en-US" sz="1200" dirty="0"/>
          </a:p>
        </p:txBody>
      </p:sp>
      <p:sp>
        <p:nvSpPr>
          <p:cNvPr id="14" name="Shape 12"/>
          <p:cNvSpPr/>
          <p:nvPr/>
        </p:nvSpPr>
        <p:spPr>
          <a:xfrm>
            <a:off x="6217920" y="1463040"/>
            <a:ext cx="5422392" cy="960120"/>
          </a:xfrm>
          <a:prstGeom prst="roundRect">
            <a:avLst>
              <a:gd name="adj" fmla="val 9524"/>
            </a:avLst>
          </a:prstGeom>
          <a:solidFill>
            <a:srgbClr val="E8F1F7"/>
          </a:solidFill>
          <a:ln w="12700">
            <a:solidFill>
              <a:srgbClr val="E8F1F7"/>
            </a:solidFill>
            <a:prstDash val="solid"/>
          </a:ln>
        </p:spPr>
      </p:sp>
      <p:sp>
        <p:nvSpPr>
          <p:cNvPr id="15" name="Text 13"/>
          <p:cNvSpPr txBox="1"/>
          <p:nvPr/>
        </p:nvSpPr>
        <p:spPr>
          <a:xfrm>
            <a:off x="6400800" y="1508760"/>
            <a:ext cx="5120640" cy="365760"/>
          </a:xfrm>
          <a:prstGeom prst="rect">
            <a:avLst/>
          </a:prstGeom>
          <a:noFill/>
          <a:ln/>
        </p:spPr>
        <p:txBody>
          <a:bodyPr wrap="square" lIns="0" tIns="0" rIns="0" bIns="0" rtlCol="0" anchor="ctr"/>
          <a:lstStyle/>
          <a:p>
            <a:pPr indent="0" marL="0">
              <a:buNone/>
            </a:pPr>
            <a:r>
              <a:rPr lang="en-US" sz="1500" b="1" dirty="0">
                <a:solidFill>
                  <a:srgbClr val="0B3C5D"/>
                </a:solidFill>
                <a:latin typeface="Calibri" pitchFamily="34" charset="0"/>
                <a:ea typeface="Calibri" pitchFamily="34" charset="-122"/>
                <a:cs typeface="Calibri" pitchFamily="34" charset="-120"/>
              </a:rPr>
              <a:t>Ontogeny</a:t>
            </a:r>
            <a:endParaRPr lang="en-US" sz="1500" dirty="0"/>
          </a:p>
        </p:txBody>
      </p:sp>
      <p:sp>
        <p:nvSpPr>
          <p:cNvPr id="16" name="Text 14"/>
          <p:cNvSpPr txBox="1"/>
          <p:nvPr/>
        </p:nvSpPr>
        <p:spPr>
          <a:xfrm>
            <a:off x="6400800" y="1847088"/>
            <a:ext cx="51206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Individuals change as they develop — the largest source for fish size, often for shape and diet</a:t>
            </a:r>
            <a:endParaRPr lang="en-US" sz="1200" dirty="0"/>
          </a:p>
        </p:txBody>
      </p:sp>
      <p:sp>
        <p:nvSpPr>
          <p:cNvPr id="17" name="Shape 15"/>
          <p:cNvSpPr/>
          <p:nvPr/>
        </p:nvSpPr>
        <p:spPr>
          <a:xfrm>
            <a:off x="6217920" y="2560320"/>
            <a:ext cx="5422392" cy="960120"/>
          </a:xfrm>
          <a:prstGeom prst="roundRect">
            <a:avLst>
              <a:gd name="adj" fmla="val 9524"/>
            </a:avLst>
          </a:prstGeom>
          <a:solidFill>
            <a:srgbClr val="E8F1F7"/>
          </a:solidFill>
          <a:ln w="12700">
            <a:solidFill>
              <a:srgbClr val="E8F1F7"/>
            </a:solidFill>
            <a:prstDash val="solid"/>
          </a:ln>
        </p:spPr>
      </p:sp>
      <p:sp>
        <p:nvSpPr>
          <p:cNvPr id="18" name="Text 16"/>
          <p:cNvSpPr txBox="1"/>
          <p:nvPr/>
        </p:nvSpPr>
        <p:spPr>
          <a:xfrm>
            <a:off x="6400800" y="2606040"/>
            <a:ext cx="5120640" cy="365760"/>
          </a:xfrm>
          <a:prstGeom prst="rect">
            <a:avLst/>
          </a:prstGeom>
          <a:noFill/>
          <a:ln/>
        </p:spPr>
        <p:txBody>
          <a:bodyPr wrap="square" lIns="0" tIns="0" rIns="0" bIns="0" rtlCol="0" anchor="ctr"/>
          <a:lstStyle/>
          <a:p>
            <a:pPr indent="0" marL="0">
              <a:buNone/>
            </a:pPr>
            <a:r>
              <a:rPr lang="en-US" sz="1500" b="1" dirty="0">
                <a:solidFill>
                  <a:srgbClr val="0B3C5D"/>
                </a:solidFill>
                <a:latin typeface="Calibri" pitchFamily="34" charset="0"/>
                <a:ea typeface="Calibri" pitchFamily="34" charset="-122"/>
                <a:cs typeface="Calibri" pitchFamily="34" charset="-120"/>
              </a:rPr>
              <a:t>Phenotypic plasticity</a:t>
            </a:r>
            <a:endParaRPr lang="en-US" sz="1500" dirty="0"/>
          </a:p>
        </p:txBody>
      </p:sp>
      <p:sp>
        <p:nvSpPr>
          <p:cNvPr id="19" name="Text 17"/>
          <p:cNvSpPr txBox="1"/>
          <p:nvPr/>
        </p:nvSpPr>
        <p:spPr>
          <a:xfrm>
            <a:off x="6400800" y="2944368"/>
            <a:ext cx="51206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Same genotype, different phenotypes in different environments — reversible within a generation (e.g. streamlining in current)</a:t>
            </a:r>
            <a:endParaRPr lang="en-US" sz="1200" dirty="0"/>
          </a:p>
        </p:txBody>
      </p:sp>
      <p:sp>
        <p:nvSpPr>
          <p:cNvPr id="20" name="Shape 18"/>
          <p:cNvSpPr/>
          <p:nvPr/>
        </p:nvSpPr>
        <p:spPr>
          <a:xfrm>
            <a:off x="6217920" y="3657600"/>
            <a:ext cx="5422392" cy="960120"/>
          </a:xfrm>
          <a:prstGeom prst="roundRect">
            <a:avLst>
              <a:gd name="adj" fmla="val 9524"/>
            </a:avLst>
          </a:prstGeom>
          <a:solidFill>
            <a:srgbClr val="E8F1F7"/>
          </a:solidFill>
          <a:ln w="12700">
            <a:solidFill>
              <a:srgbClr val="E8F1F7"/>
            </a:solidFill>
            <a:prstDash val="solid"/>
          </a:ln>
        </p:spPr>
      </p:sp>
      <p:sp>
        <p:nvSpPr>
          <p:cNvPr id="21" name="Text 19"/>
          <p:cNvSpPr txBox="1"/>
          <p:nvPr/>
        </p:nvSpPr>
        <p:spPr>
          <a:xfrm>
            <a:off x="6400800" y="3703320"/>
            <a:ext cx="5120640" cy="365760"/>
          </a:xfrm>
          <a:prstGeom prst="rect">
            <a:avLst/>
          </a:prstGeom>
          <a:noFill/>
          <a:ln/>
        </p:spPr>
        <p:txBody>
          <a:bodyPr wrap="square" lIns="0" tIns="0" rIns="0" bIns="0" rtlCol="0" anchor="ctr"/>
          <a:lstStyle/>
          <a:p>
            <a:pPr indent="0" marL="0">
              <a:buNone/>
            </a:pPr>
            <a:r>
              <a:rPr lang="en-US" sz="1500" b="1" dirty="0">
                <a:solidFill>
                  <a:srgbClr val="0B3C5D"/>
                </a:solidFill>
                <a:latin typeface="Calibri" pitchFamily="34" charset="0"/>
                <a:ea typeface="Calibri" pitchFamily="34" charset="-122"/>
                <a:cs typeface="Calibri" pitchFamily="34" charset="-120"/>
              </a:rPr>
              <a:t>Genetic differentiation</a:t>
            </a:r>
            <a:endParaRPr lang="en-US" sz="1500" dirty="0"/>
          </a:p>
        </p:txBody>
      </p:sp>
      <p:sp>
        <p:nvSpPr>
          <p:cNvPr id="22" name="Text 20"/>
          <p:cNvSpPr txBox="1"/>
          <p:nvPr/>
        </p:nvSpPr>
        <p:spPr>
          <a:xfrm>
            <a:off x="6400800" y="4041648"/>
            <a:ext cx="51206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Local adaptation between populations, built over generations; persists in common-garden conditions</a:t>
            </a:r>
            <a:endParaRPr lang="en-US" sz="1200" dirty="0"/>
          </a:p>
        </p:txBody>
      </p:sp>
      <p:sp>
        <p:nvSpPr>
          <p:cNvPr id="23" name="Shape 21"/>
          <p:cNvSpPr/>
          <p:nvPr/>
        </p:nvSpPr>
        <p:spPr>
          <a:xfrm>
            <a:off x="6217920" y="4754880"/>
            <a:ext cx="5422392" cy="960120"/>
          </a:xfrm>
          <a:prstGeom prst="roundRect">
            <a:avLst>
              <a:gd name="adj" fmla="val 9524"/>
            </a:avLst>
          </a:prstGeom>
          <a:solidFill>
            <a:srgbClr val="E8F1F7"/>
          </a:solidFill>
          <a:ln w="12700">
            <a:solidFill>
              <a:srgbClr val="E8F1F7"/>
            </a:solidFill>
            <a:prstDash val="solid"/>
          </a:ln>
        </p:spPr>
      </p:sp>
      <p:sp>
        <p:nvSpPr>
          <p:cNvPr id="24" name="Text 22"/>
          <p:cNvSpPr txBox="1"/>
          <p:nvPr/>
        </p:nvSpPr>
        <p:spPr>
          <a:xfrm>
            <a:off x="6400800" y="4800600"/>
            <a:ext cx="5120640" cy="365760"/>
          </a:xfrm>
          <a:prstGeom prst="rect">
            <a:avLst/>
          </a:prstGeom>
          <a:noFill/>
          <a:ln/>
        </p:spPr>
        <p:txBody>
          <a:bodyPr wrap="square" lIns="0" tIns="0" rIns="0" bIns="0" rtlCol="0" anchor="ctr"/>
          <a:lstStyle/>
          <a:p>
            <a:pPr indent="0" marL="0">
              <a:buNone/>
            </a:pPr>
            <a:r>
              <a:rPr lang="en-US" sz="1500" b="1" dirty="0">
                <a:solidFill>
                  <a:srgbClr val="0B3C5D"/>
                </a:solidFill>
                <a:latin typeface="Calibri" pitchFamily="34" charset="0"/>
                <a:ea typeface="Calibri" pitchFamily="34" charset="-122"/>
                <a:cs typeface="Calibri" pitchFamily="34" charset="-120"/>
              </a:rPr>
              <a:t>(+ sex)</a:t>
            </a:r>
            <a:endParaRPr lang="en-US" sz="1500" dirty="0"/>
          </a:p>
        </p:txBody>
      </p:sp>
      <p:sp>
        <p:nvSpPr>
          <p:cNvPr id="25" name="Text 23"/>
          <p:cNvSpPr txBox="1"/>
          <p:nvPr/>
        </p:nvSpPr>
        <p:spPr>
          <a:xfrm>
            <a:off x="6400800" y="5138928"/>
            <a:ext cx="51206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fourth axis in many species</a:t>
            </a:r>
            <a:endParaRPr lang="en-US" sz="1200" dirty="0"/>
          </a:p>
        </p:txBody>
      </p:sp>
      <p:sp>
        <p:nvSpPr>
          <p:cNvPr id="26" name="Shape 24"/>
          <p:cNvSpPr/>
          <p:nvPr/>
        </p:nvSpPr>
        <p:spPr>
          <a:xfrm>
            <a:off x="6217920" y="5852160"/>
            <a:ext cx="5422392" cy="457200"/>
          </a:xfrm>
          <a:prstGeom prst="roundRect">
            <a:avLst>
              <a:gd name="adj" fmla="val 16000"/>
            </a:avLst>
          </a:prstGeom>
          <a:solidFill>
            <a:srgbClr val="E8F1F7"/>
          </a:solidFill>
          <a:ln w="12700">
            <a:solidFill>
              <a:srgbClr val="E8F1F7"/>
            </a:solidFill>
            <a:prstDash val="solid"/>
          </a:ln>
        </p:spPr>
      </p:sp>
      <p:sp>
        <p:nvSpPr>
          <p:cNvPr id="27" name="Text 25"/>
          <p:cNvSpPr txBox="1"/>
          <p:nvPr/>
        </p:nvSpPr>
        <p:spPr>
          <a:xfrm>
            <a:off x="6355080" y="5852160"/>
            <a:ext cx="5148072" cy="457200"/>
          </a:xfrm>
          <a:prstGeom prst="rect">
            <a:avLst/>
          </a:prstGeom>
          <a:noFill/>
          <a:ln/>
        </p:spPr>
        <p:txBody>
          <a:bodyPr wrap="square" lIns="50800" tIns="50800" rIns="50800" bIns="50800" rtlCol="0" anchor="ctr"/>
          <a:lstStyle/>
          <a:p>
            <a:pPr indent="0" marL="0">
              <a:buNone/>
            </a:pPr>
            <a:r>
              <a:rPr lang="en-US" sz="1200" dirty="0">
                <a:solidFill>
                  <a:srgbClr val="0B3C5D"/>
                </a:solidFill>
                <a:latin typeface="Calibri" pitchFamily="34" charset="0"/>
                <a:ea typeface="Calibri" pitchFamily="34" charset="-122"/>
                <a:cs typeface="Calibri" pitchFamily="34" charset="-120"/>
              </a:rPr>
              <a:t>All three produce structured, not random, variance: it tracks the environment and carries ecological information.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Why it matters (1): coexistence and niche overlap</a:t>
            </a:r>
            <a:endParaRPr lang="en-US" sz="3000" dirty="0"/>
          </a:p>
        </p:txBody>
      </p:sp>
      <p:sp>
        <p:nvSpPr>
          <p:cNvPr id="3" name="Text 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Master FBE 2026 · Session 1 · Block 3 · Intraspecific trait variability</a:t>
            </a:r>
            <a:endParaRPr lang="en-US" sz="1000" dirty="0"/>
          </a:p>
        </p:txBody>
      </p:sp>
      <p:sp>
        <p:nvSpPr>
          <p:cNvPr id="4" name="Text 2"/>
          <p:cNvSpPr txBox="1"/>
          <p:nvPr/>
        </p:nvSpPr>
        <p:spPr>
          <a:xfrm>
            <a:off x="1072591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37</a:t>
            </a:r>
            <a:endParaRPr lang="en-US" sz="1000" dirty="0"/>
          </a:p>
        </p:txBody>
      </p:sp>
      <p:graphicFrame>
        <p:nvGraphicFramePr>
          <p:cNvPr id="5" name="Chart 0" descr=""/>
          <p:cNvGraphicFramePr/>
          <p:nvPr/>
        </p:nvGraphicFramePr>
        <p:xfrm>
          <a:off x="548640" y="1371600"/>
          <a:ext cx="5669280" cy="40233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2606040" y="4709160"/>
            <a:ext cx="219456" cy="219456"/>
          </a:xfrm>
          <a:prstGeom prst="ellipse">
            <a:avLst/>
          </a:prstGeom>
          <a:solidFill>
            <a:srgbClr val="1D6F9E"/>
          </a:solidFill>
          <a:ln w="12700">
            <a:solidFill>
              <a:srgbClr val="1D6F9E"/>
            </a:solidFill>
            <a:prstDash val="solid"/>
          </a:ln>
        </p:spPr>
      </p:sp>
      <p:sp>
        <p:nvSpPr>
          <p:cNvPr id="7" name="Shape 4"/>
          <p:cNvSpPr/>
          <p:nvPr/>
        </p:nvSpPr>
        <p:spPr>
          <a:xfrm>
            <a:off x="4032504" y="4709160"/>
            <a:ext cx="219456" cy="219456"/>
          </a:xfrm>
          <a:prstGeom prst="ellipse">
            <a:avLst/>
          </a:prstGeom>
          <a:solidFill>
            <a:srgbClr val="D9822B"/>
          </a:solidFill>
          <a:ln w="12700">
            <a:solidFill>
              <a:srgbClr val="D9822B"/>
            </a:solidFill>
            <a:prstDash val="solid"/>
          </a:ln>
        </p:spPr>
      </p:sp>
      <p:sp>
        <p:nvSpPr>
          <p:cNvPr id="8" name="Text 5"/>
          <p:cNvSpPr txBox="1"/>
          <p:nvPr/>
        </p:nvSpPr>
        <p:spPr>
          <a:xfrm>
            <a:off x="6492240" y="1371600"/>
            <a:ext cx="5148072" cy="4480560"/>
          </a:xfrm>
          <a:prstGeom prst="rect">
            <a:avLst/>
          </a:prstGeom>
          <a:noFill/>
          <a:ln/>
        </p:spPr>
        <p:txBody>
          <a:bodyPr wrap="square" lIns="50800" tIns="50800" rIns="50800" bIns="50800" rtlCol="0" anchor="t"/>
          <a:lstStyle/>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Overlap: species means overestimate functional distinctness → overestimate complementarity; wide distributions share resources and compete</a:t>
            </a:r>
            <a:endParaRPr lang="en-US" sz="1400" dirty="0"/>
          </a:p>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Individual specialisation reduces competition within species — a route to coexistence that means cannot represent</a:t>
            </a:r>
            <a:endParaRPr lang="en-US" sz="1400" dirty="0"/>
          </a:p>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Response to the environment: populations shift their distribution (plasticity, selection) before any species is replaced — the intraspecific part of a gradient response is invisible to species means</a:t>
            </a:r>
            <a:endParaRPr lang="en-US" sz="1400" dirty="0"/>
          </a:p>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Assembly (Block 2): clustering/overdispersion computed on means tests a hypothesis about means</a:t>
            </a:r>
            <a:endParaRPr lang="en-US" sz="1400" dirty="0"/>
          </a:p>
        </p:txBody>
      </p:sp>
      <p:sp>
        <p:nvSpPr>
          <p:cNvPr id="9" name="Text 6"/>
          <p:cNvSpPr txBox="1"/>
          <p:nvPr/>
        </p:nvSpPr>
        <p:spPr>
          <a:xfrm>
            <a:off x="548640" y="5577840"/>
            <a:ext cx="5486400" cy="274320"/>
          </a:xfrm>
          <a:prstGeom prst="rect">
            <a:avLst/>
          </a:prstGeom>
          <a:noFill/>
          <a:ln/>
        </p:spPr>
        <p:txBody>
          <a:bodyPr wrap="square" lIns="0" tIns="0" rIns="0" bIns="0" rtlCol="0" anchor="ctr"/>
          <a:lstStyle/>
          <a:p>
            <a:pPr indent="0" marL="0">
              <a:buNone/>
            </a:pPr>
            <a:r>
              <a:rPr lang="en-US" sz="1100" dirty="0">
                <a:solidFill>
                  <a:srgbClr val="6B6B6B"/>
                </a:solidFill>
                <a:latin typeface="Calibri" pitchFamily="34" charset="0"/>
                <a:ea typeface="Calibri" pitchFamily="34" charset="-122"/>
                <a:cs typeface="Calibri" pitchFamily="34" charset="-120"/>
              </a:rPr>
              <a:t>Bolnick et al. (2011) TREE 26: 183–192</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Why it matters (2): ecosystem functioning</a:t>
            </a:r>
            <a:endParaRPr lang="en-US" sz="3000" dirty="0"/>
          </a:p>
        </p:txBody>
      </p:sp>
      <p:sp>
        <p:nvSpPr>
          <p:cNvPr id="3" name="Text 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Master FBE 2026 · Session 1 · Block 3 · Intraspecific trait variability</a:t>
            </a:r>
            <a:endParaRPr lang="en-US" sz="1000" dirty="0"/>
          </a:p>
        </p:txBody>
      </p:sp>
      <p:sp>
        <p:nvSpPr>
          <p:cNvPr id="4" name="Text 2"/>
          <p:cNvSpPr txBox="1"/>
          <p:nvPr/>
        </p:nvSpPr>
        <p:spPr>
          <a:xfrm>
            <a:off x="1072591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38</a:t>
            </a:r>
            <a:endParaRPr lang="en-US" sz="1000" dirty="0"/>
          </a:p>
        </p:txBody>
      </p:sp>
      <p:sp>
        <p:nvSpPr>
          <p:cNvPr id="5" name="Shape 3"/>
          <p:cNvSpPr/>
          <p:nvPr/>
        </p:nvSpPr>
        <p:spPr>
          <a:xfrm>
            <a:off x="548640" y="1371600"/>
            <a:ext cx="5669280" cy="4023360"/>
          </a:xfrm>
          <a:prstGeom prst="rect">
            <a:avLst/>
          </a:prstGeom>
          <a:solidFill>
            <a:srgbClr val="F3F4F6"/>
          </a:solidFill>
          <a:ln w="12700">
            <a:solidFill>
              <a:srgbClr val="BBBBBB"/>
            </a:solidFill>
            <a:prstDash val="dash"/>
          </a:ln>
        </p:spPr>
      </p:sp>
      <p:sp>
        <p:nvSpPr>
          <p:cNvPr id="6" name="Text 4"/>
          <p:cNvSpPr txBox="1"/>
          <p:nvPr/>
        </p:nvSpPr>
        <p:spPr>
          <a:xfrm>
            <a:off x="731520" y="1371600"/>
            <a:ext cx="5303520" cy="4023360"/>
          </a:xfrm>
          <a:prstGeom prst="rect">
            <a:avLst/>
          </a:prstGeom>
          <a:noFill/>
          <a:ln/>
        </p:spPr>
        <p:txBody>
          <a:bodyPr wrap="square" rtlCol="0" anchor="ctr"/>
          <a:lstStyle/>
          <a:p>
            <a:pPr algn="ctr" indent="0" marL="0">
              <a:buNone/>
            </a:pPr>
            <a:r>
              <a:rPr lang="en-US" sz="1200" i="1" dirty="0">
                <a:solidFill>
                  <a:srgbClr val="6B6B6B"/>
                </a:solidFill>
                <a:latin typeface="Calibri" pitchFamily="34" charset="0"/>
                <a:ea typeface="Calibri" pitchFamily="34" charset="-122"/>
                <a:cs typeface="Calibri" pitchFamily="34" charset="-120"/>
              </a:rPr>
              <a:t>[Figure to insert]</a:t>
            </a:r>
            <a:endParaRPr lang="en-US" sz="1200" dirty="0"/>
          </a:p>
          <a:p>
            <a:pPr algn="ctr" indent="0" marL="0">
              <a:buNone/>
            </a:pPr>
            <a:r>
              <a:rPr lang="en-US" sz="1200" i="1" dirty="0">
                <a:solidFill>
                  <a:srgbClr val="6B6B6B"/>
                </a:solidFill>
                <a:latin typeface="Calibri" pitchFamily="34" charset="0"/>
                <a:ea typeface="Calibri" pitchFamily="34" charset="-122"/>
                <a:cs typeface="Calibri" pitchFamily="34" charset="-120"/>
              </a:rPr>
              <a:t>Des Roches et al. (2018) Nat. Ecol. Evol. — effect sizes of intraspecific variation vs species replacement on community and ecosystem responses</a:t>
            </a:r>
            <a:endParaRPr lang="en-US" sz="1200" dirty="0"/>
          </a:p>
        </p:txBody>
      </p:sp>
      <p:sp>
        <p:nvSpPr>
          <p:cNvPr id="7" name="Shape 5"/>
          <p:cNvSpPr/>
          <p:nvPr/>
        </p:nvSpPr>
        <p:spPr>
          <a:xfrm>
            <a:off x="6492240" y="1371600"/>
            <a:ext cx="5148072" cy="1920240"/>
          </a:xfrm>
          <a:prstGeom prst="roundRect">
            <a:avLst>
              <a:gd name="adj" fmla="val 4762"/>
            </a:avLst>
          </a:prstGeom>
          <a:solidFill>
            <a:srgbClr val="E8F1F7"/>
          </a:solidFill>
          <a:ln w="12700">
            <a:solidFill>
              <a:srgbClr val="E8F1F7"/>
            </a:solidFill>
            <a:prstDash val="solid"/>
          </a:ln>
        </p:spPr>
      </p:sp>
      <p:sp>
        <p:nvSpPr>
          <p:cNvPr id="8" name="Text 6"/>
          <p:cNvSpPr txBox="1"/>
          <p:nvPr/>
        </p:nvSpPr>
        <p:spPr>
          <a:xfrm>
            <a:off x="6675120" y="1463040"/>
            <a:ext cx="4937760" cy="365760"/>
          </a:xfrm>
          <a:prstGeom prst="rect">
            <a:avLst/>
          </a:prstGeom>
          <a:noFill/>
          <a:ln/>
        </p:spPr>
        <p:txBody>
          <a:bodyPr wrap="square" lIns="0" tIns="0" rIns="0" bIns="0" rtlCol="0" anchor="ctr"/>
          <a:lstStyle/>
          <a:p>
            <a:pPr indent="0" marL="0">
              <a:buNone/>
            </a:pPr>
            <a:r>
              <a:rPr lang="en-US" sz="1500" b="1" dirty="0">
                <a:solidFill>
                  <a:srgbClr val="0B3C5D"/>
                </a:solidFill>
                <a:latin typeface="Calibri" pitchFamily="34" charset="0"/>
                <a:ea typeface="Calibri" pitchFamily="34" charset="-122"/>
                <a:cs typeface="Calibri" pitchFamily="34" charset="-120"/>
              </a:rPr>
              <a:t>Des Roches et al. 2018</a:t>
            </a:r>
            <a:endParaRPr lang="en-US" sz="1500" dirty="0"/>
          </a:p>
        </p:txBody>
      </p:sp>
      <p:sp>
        <p:nvSpPr>
          <p:cNvPr id="9" name="Text 7"/>
          <p:cNvSpPr txBox="1"/>
          <p:nvPr/>
        </p:nvSpPr>
        <p:spPr>
          <a:xfrm>
            <a:off x="6675120" y="1828800"/>
            <a:ext cx="4937760" cy="141732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Experiments manipulating populations / genotypes / phenotypes of one species vs species identity: intraspecific effects of the same order as species replacement, sometimes larger. Fish well represented (stickleback, guppy, alewife).</a:t>
            </a:r>
            <a:endParaRPr lang="en-US" sz="1200" dirty="0"/>
          </a:p>
        </p:txBody>
      </p:sp>
      <p:sp>
        <p:nvSpPr>
          <p:cNvPr id="10" name="Shape 8"/>
          <p:cNvSpPr/>
          <p:nvPr/>
        </p:nvSpPr>
        <p:spPr>
          <a:xfrm>
            <a:off x="6492240" y="3474720"/>
            <a:ext cx="5148072" cy="1920240"/>
          </a:xfrm>
          <a:prstGeom prst="roundRect">
            <a:avLst>
              <a:gd name="adj" fmla="val 4762"/>
            </a:avLst>
          </a:prstGeom>
          <a:solidFill>
            <a:srgbClr val="E8F1F7"/>
          </a:solidFill>
          <a:ln w="12700">
            <a:solidFill>
              <a:srgbClr val="E8F1F7"/>
            </a:solidFill>
            <a:prstDash val="solid"/>
          </a:ln>
        </p:spPr>
      </p:sp>
      <p:sp>
        <p:nvSpPr>
          <p:cNvPr id="11" name="Text 9"/>
          <p:cNvSpPr txBox="1"/>
          <p:nvPr/>
        </p:nvSpPr>
        <p:spPr>
          <a:xfrm>
            <a:off x="6675120" y="3566160"/>
            <a:ext cx="4937760" cy="365760"/>
          </a:xfrm>
          <a:prstGeom prst="rect">
            <a:avLst/>
          </a:prstGeom>
          <a:noFill/>
          <a:ln/>
        </p:spPr>
        <p:txBody>
          <a:bodyPr wrap="square" lIns="0" tIns="0" rIns="0" bIns="0" rtlCol="0" anchor="ctr"/>
          <a:lstStyle/>
          <a:p>
            <a:pPr indent="0" marL="0">
              <a:buNone/>
            </a:pPr>
            <a:r>
              <a:rPr lang="en-US" sz="1500" b="1" dirty="0">
                <a:solidFill>
                  <a:srgbClr val="0B3C5D"/>
                </a:solidFill>
                <a:latin typeface="Calibri" pitchFamily="34" charset="0"/>
                <a:ea typeface="Calibri" pitchFamily="34" charset="-122"/>
                <a:cs typeface="Calibri" pitchFamily="34" charset="-120"/>
              </a:rPr>
              <a:t>Raffard et al. 2019 (Toulouse)</a:t>
            </a:r>
            <a:endParaRPr lang="en-US" sz="1500" dirty="0"/>
          </a:p>
        </p:txBody>
      </p:sp>
      <p:sp>
        <p:nvSpPr>
          <p:cNvPr id="12" name="Text 10"/>
          <p:cNvSpPr txBox="1"/>
          <p:nvPr/>
        </p:nvSpPr>
        <p:spPr>
          <a:xfrm>
            <a:off x="6675120" y="3931920"/>
            <a:ext cx="4937760" cy="141732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Meta-analysis of intraspecific diversity (number of genotypes/phenotypes) → consistent positive effects on ecosystem functions, comparable to species diversity.</a:t>
            </a:r>
            <a:endParaRPr lang="en-US" sz="1200" dirty="0"/>
          </a:p>
        </p:txBody>
      </p:sp>
      <p:sp>
        <p:nvSpPr>
          <p:cNvPr id="13" name="Shape 11"/>
          <p:cNvSpPr/>
          <p:nvPr/>
        </p:nvSpPr>
        <p:spPr>
          <a:xfrm>
            <a:off x="548640" y="5577840"/>
            <a:ext cx="11091672" cy="640080"/>
          </a:xfrm>
          <a:prstGeom prst="roundRect">
            <a:avLst>
              <a:gd name="adj" fmla="val 11429"/>
            </a:avLst>
          </a:prstGeom>
          <a:solidFill>
            <a:srgbClr val="E8F1F7"/>
          </a:solidFill>
          <a:ln w="12700">
            <a:solidFill>
              <a:srgbClr val="E8F1F7"/>
            </a:solidFill>
            <a:prstDash val="solid"/>
          </a:ln>
        </p:spPr>
      </p:sp>
      <p:sp>
        <p:nvSpPr>
          <p:cNvPr id="14" name="Text 12"/>
          <p:cNvSpPr txBox="1"/>
          <p:nvPr/>
        </p:nvSpPr>
        <p:spPr>
          <a:xfrm>
            <a:off x="685800" y="5577840"/>
            <a:ext cx="10817352" cy="640080"/>
          </a:xfrm>
          <a:prstGeom prst="rect">
            <a:avLst/>
          </a:prstGeom>
          <a:noFill/>
          <a:ln/>
        </p:spPr>
        <p:txBody>
          <a:bodyPr wrap="square" lIns="50800" tIns="50800" rIns="50800" bIns="50800" rtlCol="0" anchor="ctr"/>
          <a:lstStyle/>
          <a:p>
            <a:pPr indent="0" marL="0">
              <a:buNone/>
            </a:pPr>
            <a:r>
              <a:rPr lang="en-US" sz="1600" dirty="0">
                <a:solidFill>
                  <a:srgbClr val="0B3C5D"/>
                </a:solidFill>
                <a:latin typeface="Calibri" pitchFamily="34" charset="0"/>
                <a:ea typeface="Calibri" pitchFamily="34" charset="-122"/>
                <a:cs typeface="Calibri" pitchFamily="34" charset="-120"/>
              </a:rPr>
              <a:t>A species is not a functional unit: its populations do different things, and populations are lost long before species are.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Incorporating ITV: from points to distributions (TPD)</a:t>
            </a:r>
            <a:endParaRPr lang="en-US" sz="3000" dirty="0"/>
          </a:p>
        </p:txBody>
      </p:sp>
      <p:sp>
        <p:nvSpPr>
          <p:cNvPr id="3" name="Text 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Master FBE 2026 · Session 1 · Block 3 · Intraspecific trait variability</a:t>
            </a:r>
            <a:endParaRPr lang="en-US" sz="1000" dirty="0"/>
          </a:p>
        </p:txBody>
      </p:sp>
      <p:sp>
        <p:nvSpPr>
          <p:cNvPr id="4" name="Text 2"/>
          <p:cNvSpPr txBox="1"/>
          <p:nvPr/>
        </p:nvSpPr>
        <p:spPr>
          <a:xfrm>
            <a:off x="1072591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39</a:t>
            </a:r>
            <a:endParaRPr lang="en-US" sz="1000" dirty="0"/>
          </a:p>
        </p:txBody>
      </p:sp>
      <p:graphicFrame>
        <p:nvGraphicFramePr>
          <p:cNvPr id="5" name="Chart 0" descr=""/>
          <p:cNvGraphicFramePr/>
          <p:nvPr/>
        </p:nvGraphicFramePr>
        <p:xfrm>
          <a:off x="548640" y="137160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675120" y="1371600"/>
            <a:ext cx="4965192" cy="4480560"/>
          </a:xfrm>
          <a:prstGeom prst="rect">
            <a:avLst/>
          </a:prstGeom>
          <a:noFill/>
          <a:ln/>
        </p:spPr>
        <p:txBody>
          <a:bodyPr wrap="square" lIns="50800" tIns="50800" rIns="50800" bIns="50800" rtlCol="0" anchor="t"/>
          <a:lstStyle/>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Carmona, de Bello, Mason &amp; Lepš (2016) TREE: a species = a probability density over the space (kernel from individuals, or normal from mean ± SD)</a:t>
            </a:r>
            <a:endParaRPr lang="en-US" sz="1400" dirty="0"/>
          </a:p>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Community = abundance-weighted sum of species densities; richness, evenness, divergence recomputed on the density</a:t>
            </a:r>
            <a:endParaRPr lang="en-US" sz="1400" dirty="0"/>
          </a:p>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Integrates ITV; no outlier sensitivity; any number of species; scales from individuals to regions and partitions FD across levels</a:t>
            </a:r>
            <a:endParaRPr lang="en-US" sz="1400" dirty="0"/>
          </a:p>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R: package TPD; funspace uses the same logic (Group A extension)</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Partitioning the variance: within vs between species</a:t>
            </a:r>
            <a:endParaRPr lang="en-US" sz="3000" dirty="0"/>
          </a:p>
        </p:txBody>
      </p:sp>
      <p:sp>
        <p:nvSpPr>
          <p:cNvPr id="3" name="Text 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Master FBE 2026 · Session 1 · Block 3 · Intraspecific trait variability</a:t>
            </a:r>
            <a:endParaRPr lang="en-US" sz="1000" dirty="0"/>
          </a:p>
        </p:txBody>
      </p:sp>
      <p:sp>
        <p:nvSpPr>
          <p:cNvPr id="4" name="Text 2"/>
          <p:cNvSpPr txBox="1"/>
          <p:nvPr/>
        </p:nvSpPr>
        <p:spPr>
          <a:xfrm>
            <a:off x="1072591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40</a:t>
            </a:r>
            <a:endParaRPr lang="en-US" sz="1000" dirty="0"/>
          </a:p>
        </p:txBody>
      </p:sp>
      <p:graphicFrame>
        <p:nvGraphicFramePr>
          <p:cNvPr id="5" name="Chart 0" descr=""/>
          <p:cNvGraphicFramePr/>
          <p:nvPr/>
        </p:nvGraphicFramePr>
        <p:xfrm>
          <a:off x="548640" y="137160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675120" y="1371600"/>
            <a:ext cx="4965192" cy="365760"/>
          </a:xfrm>
          <a:prstGeom prst="rect">
            <a:avLst/>
          </a:prstGeom>
          <a:noFill/>
          <a:ln/>
        </p:spPr>
        <p:txBody>
          <a:bodyPr wrap="square" lIns="0" tIns="0" rIns="0" bIns="0" rtlCol="0" anchor="ctr"/>
          <a:lstStyle/>
          <a:p>
            <a:pPr indent="0" marL="0">
              <a:buNone/>
            </a:pPr>
            <a:r>
              <a:rPr lang="en-US" sz="1500" b="1" dirty="0">
                <a:solidFill>
                  <a:srgbClr val="0B3C5D"/>
                </a:solidFill>
                <a:latin typeface="Calibri" pitchFamily="34" charset="0"/>
                <a:ea typeface="Calibri" pitchFamily="34" charset="-122"/>
                <a:cs typeface="Calibri" pitchFamily="34" charset="-120"/>
              </a:rPr>
              <a:t>Tool 1 — decompose FD itself (de Bello et al. 2011 MEE)</a:t>
            </a:r>
            <a:endParaRPr lang="en-US" sz="1500" dirty="0"/>
          </a:p>
        </p:txBody>
      </p:sp>
      <p:sp>
        <p:nvSpPr>
          <p:cNvPr id="7" name="Text 4"/>
          <p:cNvSpPr txBox="1"/>
          <p:nvPr/>
        </p:nvSpPr>
        <p:spPr>
          <a:xfrm>
            <a:off x="6675120" y="1737360"/>
            <a:ext cx="4965192" cy="1097280"/>
          </a:xfrm>
          <a:prstGeom prst="rect">
            <a:avLst/>
          </a:prstGeom>
          <a:noFill/>
          <a:ln/>
        </p:spPr>
        <p:txBody>
          <a:bodyPr wrap="square" lIns="0" tIns="0" rIns="0" bIns="0" rtlCol="0" anchor="t"/>
          <a:lstStyle/>
          <a:p>
            <a:pPr indent="0" marL="0">
              <a:buNone/>
            </a:pPr>
            <a:r>
              <a:rPr lang="en-US" sz="1300" dirty="0">
                <a:solidFill>
                  <a:srgbClr val="222222"/>
                </a:solidFill>
                <a:latin typeface="Calibri" pitchFamily="34" charset="0"/>
                <a:ea typeface="Calibri" pitchFamily="34" charset="-122"/>
                <a:cs typeface="Calibri" pitchFamily="34" charset="-120"/>
              </a:rPr>
              <a:t>FD(individuals) = between-species + within-species + covariation → how much a mean-based analysis misses; trait-dependent (fish body size: within-species can dominate)</a:t>
            </a:r>
            <a:endParaRPr lang="en-US" sz="1300" dirty="0"/>
          </a:p>
        </p:txBody>
      </p:sp>
      <p:sp>
        <p:nvSpPr>
          <p:cNvPr id="8" name="Text 5"/>
          <p:cNvSpPr txBox="1"/>
          <p:nvPr/>
        </p:nvSpPr>
        <p:spPr>
          <a:xfrm>
            <a:off x="6675120" y="2926080"/>
            <a:ext cx="4965192" cy="365760"/>
          </a:xfrm>
          <a:prstGeom prst="rect">
            <a:avLst/>
          </a:prstGeom>
          <a:noFill/>
          <a:ln/>
        </p:spPr>
        <p:txBody>
          <a:bodyPr wrap="square" lIns="0" tIns="0" rIns="0" bIns="0" rtlCol="0" anchor="ctr"/>
          <a:lstStyle/>
          <a:p>
            <a:pPr indent="0" marL="0">
              <a:buNone/>
            </a:pPr>
            <a:r>
              <a:rPr lang="en-US" sz="1500" b="1" dirty="0">
                <a:solidFill>
                  <a:srgbClr val="0B3C5D"/>
                </a:solidFill>
                <a:latin typeface="Calibri" pitchFamily="34" charset="0"/>
                <a:ea typeface="Calibri" pitchFamily="34" charset="-122"/>
                <a:cs typeface="Calibri" pitchFamily="34" charset="-120"/>
              </a:rPr>
              <a:t>Tool 2 — hierarchical mixed model</a:t>
            </a:r>
            <a:endParaRPr lang="en-US" sz="1500" dirty="0"/>
          </a:p>
        </p:txBody>
      </p:sp>
      <p:sp>
        <p:nvSpPr>
          <p:cNvPr id="9" name="Shape 6"/>
          <p:cNvSpPr/>
          <p:nvPr/>
        </p:nvSpPr>
        <p:spPr>
          <a:xfrm>
            <a:off x="6675120" y="3291840"/>
            <a:ext cx="4965192" cy="640080"/>
          </a:xfrm>
          <a:prstGeom prst="roundRect">
            <a:avLst>
              <a:gd name="adj" fmla="val 8571"/>
            </a:avLst>
          </a:prstGeom>
          <a:solidFill>
            <a:srgbClr val="F3F3F3"/>
          </a:solidFill>
          <a:ln w="12700">
            <a:solidFill>
              <a:srgbClr val="DDDDDD"/>
            </a:solidFill>
            <a:prstDash val="solid"/>
          </a:ln>
        </p:spPr>
      </p:sp>
      <p:sp>
        <p:nvSpPr>
          <p:cNvPr id="10" name="Text 7"/>
          <p:cNvSpPr txBox="1"/>
          <p:nvPr/>
        </p:nvSpPr>
        <p:spPr>
          <a:xfrm>
            <a:off x="6812280" y="3291840"/>
            <a:ext cx="4690872" cy="640080"/>
          </a:xfrm>
          <a:prstGeom prst="rect">
            <a:avLst/>
          </a:prstGeom>
          <a:noFill/>
          <a:ln/>
        </p:spPr>
        <p:txBody>
          <a:bodyPr wrap="square" lIns="0" tIns="0" rIns="0" bIns="0" rtlCol="0" anchor="ctr"/>
          <a:lstStyle/>
          <a:p>
            <a:pPr indent="0" marL="0">
              <a:buNone/>
            </a:pPr>
            <a:r>
              <a:rPr lang="en-US" sz="1200" dirty="0">
                <a:solidFill>
                  <a:srgbClr val="222222"/>
                </a:solidFill>
                <a:latin typeface="Courier New" pitchFamily="34" charset="0"/>
                <a:ea typeface="Courier New" pitchFamily="34" charset="-122"/>
                <a:cs typeface="Courier New" pitchFamily="34" charset="-120"/>
              </a:rPr>
              <a:t>lmer(trait ~ habitat + (1 | species / population), data = ind)</a:t>
            </a:r>
            <a:endParaRPr lang="en-US" sz="1200" dirty="0"/>
          </a:p>
        </p:txBody>
      </p:sp>
      <p:sp>
        <p:nvSpPr>
          <p:cNvPr id="11" name="Text 8"/>
          <p:cNvSpPr txBox="1"/>
          <p:nvPr/>
        </p:nvSpPr>
        <p:spPr>
          <a:xfrm>
            <a:off x="6675120" y="4023360"/>
            <a:ext cx="4965192" cy="1828800"/>
          </a:xfrm>
          <a:prstGeom prst="rect">
            <a:avLst/>
          </a:prstGeom>
          <a:noFill/>
          <a:ln/>
        </p:spPr>
        <p:txBody>
          <a:bodyPr wrap="square" lIns="0" tIns="0" rIns="0" bIns="0" rtlCol="0" anchor="t"/>
          <a:lstStyle/>
          <a:p>
            <a:pPr indent="0" marL="0">
              <a:buNone/>
            </a:pPr>
            <a:r>
              <a:rPr lang="en-US" sz="1300" dirty="0">
                <a:solidFill>
                  <a:srgbClr val="222222"/>
                </a:solidFill>
                <a:latin typeface="Calibri" pitchFamily="34" charset="0"/>
                <a:ea typeface="Calibri" pitchFamily="34" charset="-122"/>
                <a:cs typeface="Calibri" pitchFamily="34" charset="-120"/>
              </a:rPr>
              <a:t>Random intercepts: species, population in species; residual = within population. Variance components = share at each level; fixed effects (habitat, temperature) ask which level responds. With several populations per species and ~12 individuals per population: does shape track habitat within species? In the same direction for all species?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Fish case study: body shape varies within species along gradients</a:t>
            </a:r>
            <a:endParaRPr lang="en-US" sz="2600" dirty="0"/>
          </a:p>
        </p:txBody>
      </p:sp>
      <p:sp>
        <p:nvSpPr>
          <p:cNvPr id="3" name="Text 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Master FBE 2026 · Session 1 · Block 3 · Intraspecific trait variability</a:t>
            </a:r>
            <a:endParaRPr lang="en-US" sz="1000" dirty="0"/>
          </a:p>
        </p:txBody>
      </p:sp>
      <p:sp>
        <p:nvSpPr>
          <p:cNvPr id="4" name="Text 2"/>
          <p:cNvSpPr txBox="1"/>
          <p:nvPr/>
        </p:nvSpPr>
        <p:spPr>
          <a:xfrm>
            <a:off x="1072591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41</a:t>
            </a:r>
            <a:endParaRPr lang="en-US" sz="1000" dirty="0"/>
          </a:p>
        </p:txBody>
      </p:sp>
      <p:sp>
        <p:nvSpPr>
          <p:cNvPr id="5" name="Shape 3"/>
          <p:cNvSpPr/>
          <p:nvPr/>
        </p:nvSpPr>
        <p:spPr>
          <a:xfrm>
            <a:off x="548640" y="1371600"/>
            <a:ext cx="6583680" cy="4480560"/>
          </a:xfrm>
          <a:prstGeom prst="rect">
            <a:avLst/>
          </a:prstGeom>
          <a:solidFill>
            <a:srgbClr val="F3F4F6"/>
          </a:solidFill>
          <a:ln w="12700">
            <a:solidFill>
              <a:srgbClr val="BBBBBB"/>
            </a:solidFill>
            <a:prstDash val="dash"/>
          </a:ln>
        </p:spPr>
      </p:sp>
      <p:sp>
        <p:nvSpPr>
          <p:cNvPr id="6" name="Text 4"/>
          <p:cNvSpPr txBox="1"/>
          <p:nvPr/>
        </p:nvSpPr>
        <p:spPr>
          <a:xfrm>
            <a:off x="731520" y="1371600"/>
            <a:ext cx="6217920" cy="4480560"/>
          </a:xfrm>
          <a:prstGeom prst="rect">
            <a:avLst/>
          </a:prstGeom>
          <a:noFill/>
          <a:ln/>
        </p:spPr>
        <p:txBody>
          <a:bodyPr wrap="square" rtlCol="0" anchor="ctr"/>
          <a:lstStyle/>
          <a:p>
            <a:pPr algn="ctr" indent="0" marL="0">
              <a:buNone/>
            </a:pPr>
            <a:r>
              <a:rPr lang="en-US" sz="1200" i="1" dirty="0">
                <a:solidFill>
                  <a:srgbClr val="6B6B6B"/>
                </a:solidFill>
                <a:latin typeface="Calibri" pitchFamily="34" charset="0"/>
                <a:ea typeface="Calibri" pitchFamily="34" charset="-122"/>
                <a:cs typeface="Calibri" pitchFamily="34" charset="-120"/>
              </a:rPr>
              <a:t>[Figure to insert]</a:t>
            </a:r>
            <a:endParaRPr lang="en-US" sz="1200" dirty="0"/>
          </a:p>
          <a:p>
            <a:pPr algn="ctr" indent="0" marL="0">
              <a:buNone/>
            </a:pPr>
            <a:r>
              <a:rPr lang="en-US" sz="1200" i="1" dirty="0">
                <a:solidFill>
                  <a:srgbClr val="6B6B6B"/>
                </a:solidFill>
                <a:latin typeface="Calibri" pitchFamily="34" charset="0"/>
                <a:ea typeface="Calibri" pitchFamily="34" charset="-122"/>
                <a:cs typeface="Calibri" pitchFamily="34" charset="-120"/>
              </a:rPr>
              <a:t>Your figure: individual-level morphospace of several species, individuals coloured by population / habitat (INTRAIT), or mixed-model variance partition; alternative: published lake–stream shape divergence</a:t>
            </a:r>
            <a:endParaRPr lang="en-US" sz="1200" dirty="0"/>
          </a:p>
        </p:txBody>
      </p:sp>
      <p:sp>
        <p:nvSpPr>
          <p:cNvPr id="7" name="Shape 5"/>
          <p:cNvSpPr/>
          <p:nvPr/>
        </p:nvSpPr>
        <p:spPr>
          <a:xfrm>
            <a:off x="7406640" y="1463040"/>
            <a:ext cx="548640" cy="548640"/>
          </a:xfrm>
          <a:prstGeom prst="roundRect">
            <a:avLst>
              <a:gd name="adj" fmla="val 20000"/>
            </a:avLst>
          </a:prstGeom>
          <a:solidFill>
            <a:srgbClr val="D9822B"/>
          </a:solidFill>
          <a:ln w="12700">
            <a:solidFill>
              <a:srgbClr val="D9822B"/>
            </a:solidFill>
            <a:prstDash val="solid"/>
          </a:ln>
        </p:spPr>
      </p:sp>
      <p:sp>
        <p:nvSpPr>
          <p:cNvPr id="8" name="Text 6"/>
          <p:cNvSpPr txBox="1"/>
          <p:nvPr/>
        </p:nvSpPr>
        <p:spPr>
          <a:xfrm>
            <a:off x="7406640" y="1463040"/>
            <a:ext cx="548640" cy="54864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8092440" y="1371600"/>
            <a:ext cx="3547872" cy="365760"/>
          </a:xfrm>
          <a:prstGeom prst="rect">
            <a:avLst/>
          </a:prstGeom>
          <a:noFill/>
          <a:ln/>
        </p:spPr>
        <p:txBody>
          <a:bodyPr wrap="square" lIns="0" tIns="0" rIns="0" bIns="0" rtlCol="0" anchor="ctr"/>
          <a:lstStyle/>
          <a:p>
            <a:pPr indent="0" marL="0">
              <a:buNone/>
            </a:pPr>
            <a:r>
              <a:rPr lang="en-US" sz="1500" b="1" dirty="0">
                <a:solidFill>
                  <a:srgbClr val="0B3C5D"/>
                </a:solidFill>
                <a:latin typeface="Calibri" pitchFamily="34" charset="0"/>
                <a:ea typeface="Calibri" pitchFamily="34" charset="-122"/>
                <a:cs typeface="Calibri" pitchFamily="34" charset="-120"/>
              </a:rPr>
              <a:t>Wide clouds that overlap</a:t>
            </a:r>
            <a:endParaRPr lang="en-US" sz="1500" dirty="0"/>
          </a:p>
        </p:txBody>
      </p:sp>
      <p:sp>
        <p:nvSpPr>
          <p:cNvPr id="10" name="Text 8"/>
          <p:cNvSpPr txBox="1"/>
          <p:nvPr/>
        </p:nvSpPr>
        <p:spPr>
          <a:xfrm>
            <a:off x="8092440" y="1737360"/>
            <a:ext cx="3547872" cy="82296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Species that are distinct points in a mean-based space share regions of the individual-level space</a:t>
            </a:r>
            <a:endParaRPr lang="en-US" sz="1200" dirty="0"/>
          </a:p>
        </p:txBody>
      </p:sp>
      <p:sp>
        <p:nvSpPr>
          <p:cNvPr id="11" name="Shape 9"/>
          <p:cNvSpPr/>
          <p:nvPr/>
        </p:nvSpPr>
        <p:spPr>
          <a:xfrm>
            <a:off x="7406640" y="2697480"/>
            <a:ext cx="548640" cy="548640"/>
          </a:xfrm>
          <a:prstGeom prst="roundRect">
            <a:avLst>
              <a:gd name="adj" fmla="val 20000"/>
            </a:avLst>
          </a:prstGeom>
          <a:solidFill>
            <a:srgbClr val="D9822B"/>
          </a:solidFill>
          <a:ln w="12700">
            <a:solidFill>
              <a:srgbClr val="D9822B"/>
            </a:solidFill>
            <a:prstDash val="solid"/>
          </a:ln>
        </p:spPr>
      </p:sp>
      <p:sp>
        <p:nvSpPr>
          <p:cNvPr id="12" name="Text 10"/>
          <p:cNvSpPr txBox="1"/>
          <p:nvPr/>
        </p:nvSpPr>
        <p:spPr>
          <a:xfrm>
            <a:off x="7406640" y="2697480"/>
            <a:ext cx="548640" cy="54864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8092440" y="2606040"/>
            <a:ext cx="3547872" cy="365760"/>
          </a:xfrm>
          <a:prstGeom prst="rect">
            <a:avLst/>
          </a:prstGeom>
          <a:noFill/>
          <a:ln/>
        </p:spPr>
        <p:txBody>
          <a:bodyPr wrap="square" lIns="0" tIns="0" rIns="0" bIns="0" rtlCol="0" anchor="ctr"/>
          <a:lstStyle/>
          <a:p>
            <a:pPr indent="0" marL="0">
              <a:buNone/>
            </a:pPr>
            <a:r>
              <a:rPr lang="en-US" sz="1500" b="1" dirty="0">
                <a:solidFill>
                  <a:srgbClr val="0B3C5D"/>
                </a:solidFill>
                <a:latin typeface="Calibri" pitchFamily="34" charset="0"/>
                <a:ea typeface="Calibri" pitchFamily="34" charset="-122"/>
                <a:cs typeface="Calibri" pitchFamily="34" charset="-120"/>
              </a:rPr>
              <a:t>Structured by habitat</a:t>
            </a:r>
            <a:endParaRPr lang="en-US" sz="1500" dirty="0"/>
          </a:p>
        </p:txBody>
      </p:sp>
      <p:sp>
        <p:nvSpPr>
          <p:cNvPr id="14" name="Text 12"/>
          <p:cNvSpPr txBox="1"/>
          <p:nvPr/>
        </p:nvSpPr>
        <p:spPr>
          <a:xfrm>
            <a:off x="8092440" y="2971800"/>
            <a:ext cx="3547872" cy="82296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Within a species, individuals from different habitats occupy different parts of the cloud</a:t>
            </a:r>
            <a:endParaRPr lang="en-US" sz="1200" dirty="0"/>
          </a:p>
        </p:txBody>
      </p:sp>
      <p:sp>
        <p:nvSpPr>
          <p:cNvPr id="15" name="Shape 13"/>
          <p:cNvSpPr/>
          <p:nvPr/>
        </p:nvSpPr>
        <p:spPr>
          <a:xfrm>
            <a:off x="7406640" y="3931920"/>
            <a:ext cx="548640" cy="548640"/>
          </a:xfrm>
          <a:prstGeom prst="roundRect">
            <a:avLst>
              <a:gd name="adj" fmla="val 20000"/>
            </a:avLst>
          </a:prstGeom>
          <a:solidFill>
            <a:srgbClr val="D9822B"/>
          </a:solidFill>
          <a:ln w="12700">
            <a:solidFill>
              <a:srgbClr val="D9822B"/>
            </a:solidFill>
            <a:prstDash val="solid"/>
          </a:ln>
        </p:spPr>
      </p:sp>
      <p:sp>
        <p:nvSpPr>
          <p:cNvPr id="16" name="Text 14"/>
          <p:cNvSpPr txBox="1"/>
          <p:nvPr/>
        </p:nvSpPr>
        <p:spPr>
          <a:xfrm>
            <a:off x="7406640" y="3931920"/>
            <a:ext cx="548640" cy="54864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8092440" y="3840480"/>
            <a:ext cx="3547872" cy="365760"/>
          </a:xfrm>
          <a:prstGeom prst="rect">
            <a:avLst/>
          </a:prstGeom>
          <a:noFill/>
          <a:ln/>
        </p:spPr>
        <p:txBody>
          <a:bodyPr wrap="square" lIns="0" tIns="0" rIns="0" bIns="0" rtlCol="0" anchor="ctr"/>
          <a:lstStyle/>
          <a:p>
            <a:pPr indent="0" marL="0">
              <a:buNone/>
            </a:pPr>
            <a:r>
              <a:rPr lang="en-US" sz="1500" b="1" dirty="0">
                <a:solidFill>
                  <a:srgbClr val="0B3C5D"/>
                </a:solidFill>
                <a:latin typeface="Calibri" pitchFamily="34" charset="0"/>
                <a:ea typeface="Calibri" pitchFamily="34" charset="-122"/>
                <a:cs typeface="Calibri" pitchFamily="34" charset="-120"/>
              </a:rPr>
              <a:t>Shared direction</a:t>
            </a:r>
            <a:endParaRPr lang="en-US" sz="1500" dirty="0"/>
          </a:p>
        </p:txBody>
      </p:sp>
      <p:sp>
        <p:nvSpPr>
          <p:cNvPr id="18" name="Text 16"/>
          <p:cNvSpPr txBox="1"/>
          <p:nvPr/>
        </p:nvSpPr>
        <p:spPr>
          <a:xfrm>
            <a:off x="8092440" y="4206240"/>
            <a:ext cx="3547872" cy="82296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Fast-flowing habitats pull all species towards streamlined shapes — a common plastic or selective response</a:t>
            </a:r>
            <a:endParaRPr lang="en-US" sz="1200" dirty="0"/>
          </a:p>
        </p:txBody>
      </p:sp>
      <p:sp>
        <p:nvSpPr>
          <p:cNvPr id="19" name="Shape 17"/>
          <p:cNvSpPr/>
          <p:nvPr/>
        </p:nvSpPr>
        <p:spPr>
          <a:xfrm>
            <a:off x="7406640" y="5120640"/>
            <a:ext cx="4233672" cy="731520"/>
          </a:xfrm>
          <a:prstGeom prst="roundRect">
            <a:avLst>
              <a:gd name="adj" fmla="val 10000"/>
            </a:avLst>
          </a:prstGeom>
          <a:solidFill>
            <a:srgbClr val="E8F1F7"/>
          </a:solidFill>
          <a:ln w="12700">
            <a:solidFill>
              <a:srgbClr val="E8F1F7"/>
            </a:solidFill>
            <a:prstDash val="solid"/>
          </a:ln>
        </p:spPr>
      </p:sp>
      <p:sp>
        <p:nvSpPr>
          <p:cNvPr id="20" name="Text 18"/>
          <p:cNvSpPr txBox="1"/>
          <p:nvPr/>
        </p:nvSpPr>
        <p:spPr>
          <a:xfrm>
            <a:off x="7543800" y="5120640"/>
            <a:ext cx="3959352" cy="731520"/>
          </a:xfrm>
          <a:prstGeom prst="rect">
            <a:avLst/>
          </a:prstGeom>
          <a:noFill/>
          <a:ln/>
        </p:spPr>
        <p:txBody>
          <a:bodyPr wrap="square" lIns="50800" tIns="50800" rIns="50800" bIns="50800" rtlCol="0" anchor="ctr"/>
          <a:lstStyle/>
          <a:p>
            <a:pPr indent="0" marL="0">
              <a:buNone/>
            </a:pPr>
            <a:r>
              <a:rPr lang="en-US" sz="1200" dirty="0">
                <a:solidFill>
                  <a:srgbClr val="0B3C5D"/>
                </a:solidFill>
                <a:latin typeface="Calibri" pitchFamily="34" charset="0"/>
                <a:ea typeface="Calibri" pitchFamily="34" charset="-122"/>
                <a:cs typeface="Calibri" pitchFamily="34" charset="-120"/>
              </a:rPr>
              <a:t>A community may look functionally stable on species means while its populations are shifting.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Measuring ITV in practice: design and methods</a:t>
            </a:r>
            <a:endParaRPr lang="en-US" sz="3000" dirty="0"/>
          </a:p>
        </p:txBody>
      </p:sp>
      <p:sp>
        <p:nvSpPr>
          <p:cNvPr id="3" name="Text 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Master FBE 2026 · Session 1 · Block 3 · Intraspecific trait variability</a:t>
            </a:r>
            <a:endParaRPr lang="en-US" sz="1000" dirty="0"/>
          </a:p>
        </p:txBody>
      </p:sp>
      <p:sp>
        <p:nvSpPr>
          <p:cNvPr id="4" name="Text 2"/>
          <p:cNvSpPr txBox="1"/>
          <p:nvPr/>
        </p:nvSpPr>
        <p:spPr>
          <a:xfrm>
            <a:off x="1072591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42</a:t>
            </a:r>
            <a:endParaRPr lang="en-US" sz="1000" dirty="0"/>
          </a:p>
        </p:txBody>
      </p:sp>
      <p:sp>
        <p:nvSpPr>
          <p:cNvPr id="5" name="Shape 3"/>
          <p:cNvSpPr/>
          <p:nvPr/>
        </p:nvSpPr>
        <p:spPr>
          <a:xfrm>
            <a:off x="548640" y="1371600"/>
            <a:ext cx="5440680" cy="1965960"/>
          </a:xfrm>
          <a:prstGeom prst="roundRect">
            <a:avLst>
              <a:gd name="adj" fmla="val 4651"/>
            </a:avLst>
          </a:prstGeom>
          <a:solidFill>
            <a:srgbClr val="E8F1F7"/>
          </a:solidFill>
          <a:ln w="12700">
            <a:solidFill>
              <a:srgbClr val="E8F1F7"/>
            </a:solidFill>
            <a:prstDash val="solid"/>
          </a:ln>
        </p:spPr>
      </p:sp>
      <p:sp>
        <p:nvSpPr>
          <p:cNvPr id="6" name="Text 4"/>
          <p:cNvSpPr txBox="1"/>
          <p:nvPr/>
        </p:nvSpPr>
        <p:spPr>
          <a:xfrm>
            <a:off x="777240" y="1508760"/>
            <a:ext cx="5029200" cy="411480"/>
          </a:xfrm>
          <a:prstGeom prst="rect">
            <a:avLst/>
          </a:prstGeom>
          <a:noFill/>
          <a:ln/>
        </p:spPr>
        <p:txBody>
          <a:bodyPr wrap="square" lIns="0" tIns="0" rIns="0" bIns="0" rtlCol="0" anchor="ctr"/>
          <a:lstStyle/>
          <a:p>
            <a:pPr indent="0" marL="0">
              <a:buNone/>
            </a:pPr>
            <a:r>
              <a:rPr lang="en-US" sz="1800" b="1" dirty="0">
                <a:solidFill>
                  <a:srgbClr val="0B3C5D"/>
                </a:solidFill>
                <a:latin typeface="Cambria" pitchFamily="34" charset="0"/>
                <a:ea typeface="Cambria" pitchFamily="34" charset="-122"/>
                <a:cs typeface="Cambria" pitchFamily="34" charset="-120"/>
              </a:rPr>
              <a:t>Sampling design</a:t>
            </a:r>
            <a:endParaRPr lang="en-US" sz="1800" dirty="0"/>
          </a:p>
        </p:txBody>
      </p:sp>
      <p:sp>
        <p:nvSpPr>
          <p:cNvPr id="7" name="Text 5"/>
          <p:cNvSpPr txBox="1"/>
          <p:nvPr/>
        </p:nvSpPr>
        <p:spPr>
          <a:xfrm>
            <a:off x="777240" y="1965960"/>
            <a:ext cx="5029200" cy="1280160"/>
          </a:xfrm>
          <a:prstGeom prst="rect">
            <a:avLst/>
          </a:prstGeom>
          <a:noFill/>
          <a:ln/>
        </p:spPr>
        <p:txBody>
          <a:bodyPr wrap="square" lIns="0" tIns="0" rIns="0" bIns="0" rtlCol="0" anchor="t"/>
          <a:lstStyle/>
          <a:p>
            <a:pPr indent="0" marL="0">
              <a:buNone/>
            </a:pPr>
            <a:r>
              <a:rPr lang="en-US" sz="1300" dirty="0">
                <a:solidFill>
                  <a:srgbClr val="222222"/>
                </a:solidFill>
                <a:latin typeface="Calibri" pitchFamily="34" charset="0"/>
                <a:ea typeface="Calibri" pitchFamily="34" charset="-122"/>
                <a:cs typeface="Calibri" pitchFamily="34" charset="-120"/>
              </a:rPr>
              <a:t>10–15 individuals per population, several populations per species; stratify by size class; record sex</a:t>
            </a:r>
            <a:endParaRPr lang="en-US" sz="1300" dirty="0"/>
          </a:p>
        </p:txBody>
      </p:sp>
      <p:sp>
        <p:nvSpPr>
          <p:cNvPr id="8" name="Shape 6"/>
          <p:cNvSpPr/>
          <p:nvPr/>
        </p:nvSpPr>
        <p:spPr>
          <a:xfrm>
            <a:off x="6217920" y="1371600"/>
            <a:ext cx="5440680" cy="1965960"/>
          </a:xfrm>
          <a:prstGeom prst="roundRect">
            <a:avLst>
              <a:gd name="adj" fmla="val 4651"/>
            </a:avLst>
          </a:prstGeom>
          <a:solidFill>
            <a:srgbClr val="E8F1F7"/>
          </a:solidFill>
          <a:ln w="12700">
            <a:solidFill>
              <a:srgbClr val="E8F1F7"/>
            </a:solidFill>
            <a:prstDash val="solid"/>
          </a:ln>
        </p:spPr>
      </p:sp>
      <p:sp>
        <p:nvSpPr>
          <p:cNvPr id="9" name="Text 7"/>
          <p:cNvSpPr txBox="1"/>
          <p:nvPr/>
        </p:nvSpPr>
        <p:spPr>
          <a:xfrm>
            <a:off x="6446520" y="1508760"/>
            <a:ext cx="5029200" cy="411480"/>
          </a:xfrm>
          <a:prstGeom prst="rect">
            <a:avLst/>
          </a:prstGeom>
          <a:noFill/>
          <a:ln/>
        </p:spPr>
        <p:txBody>
          <a:bodyPr wrap="square" lIns="0" tIns="0" rIns="0" bIns="0" rtlCol="0" anchor="ctr"/>
          <a:lstStyle/>
          <a:p>
            <a:pPr indent="0" marL="0">
              <a:buNone/>
            </a:pPr>
            <a:r>
              <a:rPr lang="en-US" sz="1800" b="1" dirty="0">
                <a:solidFill>
                  <a:srgbClr val="0B3C5D"/>
                </a:solidFill>
                <a:latin typeface="Cambria" pitchFamily="34" charset="0"/>
                <a:ea typeface="Cambria" pitchFamily="34" charset="-122"/>
                <a:cs typeface="Cambria" pitchFamily="34" charset="-120"/>
              </a:rPr>
              <a:t>Traits</a:t>
            </a:r>
            <a:endParaRPr lang="en-US" sz="1800" dirty="0"/>
          </a:p>
        </p:txBody>
      </p:sp>
      <p:sp>
        <p:nvSpPr>
          <p:cNvPr id="10" name="Text 8"/>
          <p:cNvSpPr txBox="1"/>
          <p:nvPr/>
        </p:nvSpPr>
        <p:spPr>
          <a:xfrm>
            <a:off x="6446520" y="1965960"/>
            <a:ext cx="5029200" cy="1280160"/>
          </a:xfrm>
          <a:prstGeom prst="rect">
            <a:avLst/>
          </a:prstGeom>
          <a:noFill/>
          <a:ln/>
        </p:spPr>
        <p:txBody>
          <a:bodyPr wrap="square" lIns="0" tIns="0" rIns="0" bIns="0" rtlCol="0" anchor="t"/>
          <a:lstStyle/>
          <a:p>
            <a:pPr indent="0" marL="0">
              <a:buNone/>
            </a:pPr>
            <a:r>
              <a:rPr lang="en-US" sz="1300" dirty="0">
                <a:solidFill>
                  <a:srgbClr val="222222"/>
                </a:solidFill>
                <a:latin typeface="Calibri" pitchFamily="34" charset="0"/>
                <a:ea typeface="Calibri" pitchFamily="34" charset="-122"/>
                <a:cs typeface="Calibri" pitchFamily="34" charset="-120"/>
              </a:rPr>
              <a:t>Size-related traits and diet vary most; use ratios or size-correct; geometric morphometrics separates size from shape</a:t>
            </a:r>
            <a:endParaRPr lang="en-US" sz="1300" dirty="0"/>
          </a:p>
        </p:txBody>
      </p:sp>
      <p:sp>
        <p:nvSpPr>
          <p:cNvPr id="11" name="Shape 9"/>
          <p:cNvSpPr/>
          <p:nvPr/>
        </p:nvSpPr>
        <p:spPr>
          <a:xfrm>
            <a:off x="548640" y="3520440"/>
            <a:ext cx="5440680" cy="1965960"/>
          </a:xfrm>
          <a:prstGeom prst="roundRect">
            <a:avLst>
              <a:gd name="adj" fmla="val 4651"/>
            </a:avLst>
          </a:prstGeom>
          <a:solidFill>
            <a:srgbClr val="E8F1F7"/>
          </a:solidFill>
          <a:ln w="12700">
            <a:solidFill>
              <a:srgbClr val="E8F1F7"/>
            </a:solidFill>
            <a:prstDash val="solid"/>
          </a:ln>
        </p:spPr>
      </p:sp>
      <p:sp>
        <p:nvSpPr>
          <p:cNvPr id="12" name="Text 10"/>
          <p:cNvSpPr txBox="1"/>
          <p:nvPr/>
        </p:nvSpPr>
        <p:spPr>
          <a:xfrm>
            <a:off x="777240" y="3657600"/>
            <a:ext cx="5029200" cy="411480"/>
          </a:xfrm>
          <a:prstGeom prst="rect">
            <a:avLst/>
          </a:prstGeom>
          <a:noFill/>
          <a:ln/>
        </p:spPr>
        <p:txBody>
          <a:bodyPr wrap="square" lIns="0" tIns="0" rIns="0" bIns="0" rtlCol="0" anchor="ctr"/>
          <a:lstStyle/>
          <a:p>
            <a:pPr indent="0" marL="0">
              <a:buNone/>
            </a:pPr>
            <a:r>
              <a:rPr lang="en-US" sz="1800" b="1" dirty="0">
                <a:solidFill>
                  <a:srgbClr val="0B3C5D"/>
                </a:solidFill>
                <a:latin typeface="Cambria" pitchFamily="34" charset="0"/>
                <a:ea typeface="Cambria" pitchFamily="34" charset="-122"/>
                <a:cs typeface="Cambria" pitchFamily="34" charset="-120"/>
              </a:rPr>
              <a:t>Measurement protocol</a:t>
            </a:r>
            <a:endParaRPr lang="en-US" sz="1800" dirty="0"/>
          </a:p>
        </p:txBody>
      </p:sp>
      <p:sp>
        <p:nvSpPr>
          <p:cNvPr id="13" name="Text 11"/>
          <p:cNvSpPr txBox="1"/>
          <p:nvPr/>
        </p:nvSpPr>
        <p:spPr>
          <a:xfrm>
            <a:off x="777240" y="4114800"/>
            <a:ext cx="5029200" cy="1280160"/>
          </a:xfrm>
          <a:prstGeom prst="rect">
            <a:avLst/>
          </a:prstGeom>
          <a:noFill/>
          <a:ln/>
        </p:spPr>
        <p:txBody>
          <a:bodyPr wrap="square" lIns="0" tIns="0" rIns="0" bIns="0" rtlCol="0" anchor="t"/>
          <a:lstStyle/>
          <a:p>
            <a:pPr indent="0" marL="0">
              <a:buNone/>
            </a:pPr>
            <a:r>
              <a:rPr lang="en-US" sz="1300" dirty="0">
                <a:solidFill>
                  <a:srgbClr val="222222"/>
                </a:solidFill>
                <a:latin typeface="Calibri" pitchFamily="34" charset="0"/>
                <a:ea typeface="Calibri" pitchFamily="34" charset="-122"/>
                <a:cs typeface="Calibri" pitchFamily="34" charset="-120"/>
              </a:rPr>
              <a:t>Standardised photographs, scale bar, written landmark protocol; quantify operator error (repeat a subset, ICC)</a:t>
            </a:r>
            <a:endParaRPr lang="en-US" sz="1300" dirty="0"/>
          </a:p>
        </p:txBody>
      </p:sp>
      <p:sp>
        <p:nvSpPr>
          <p:cNvPr id="14" name="Shape 12"/>
          <p:cNvSpPr/>
          <p:nvPr/>
        </p:nvSpPr>
        <p:spPr>
          <a:xfrm>
            <a:off x="6217920" y="3520440"/>
            <a:ext cx="5440680" cy="1965960"/>
          </a:xfrm>
          <a:prstGeom prst="roundRect">
            <a:avLst>
              <a:gd name="adj" fmla="val 4651"/>
            </a:avLst>
          </a:prstGeom>
          <a:solidFill>
            <a:srgbClr val="E8F1F7"/>
          </a:solidFill>
          <a:ln w="12700">
            <a:solidFill>
              <a:srgbClr val="E8F1F7"/>
            </a:solidFill>
            <a:prstDash val="solid"/>
          </a:ln>
        </p:spPr>
      </p:sp>
      <p:sp>
        <p:nvSpPr>
          <p:cNvPr id="15" name="Text 13"/>
          <p:cNvSpPr txBox="1"/>
          <p:nvPr/>
        </p:nvSpPr>
        <p:spPr>
          <a:xfrm>
            <a:off x="6446520" y="3657600"/>
            <a:ext cx="5029200" cy="411480"/>
          </a:xfrm>
          <a:prstGeom prst="rect">
            <a:avLst/>
          </a:prstGeom>
          <a:noFill/>
          <a:ln/>
        </p:spPr>
        <p:txBody>
          <a:bodyPr wrap="square" lIns="0" tIns="0" rIns="0" bIns="0" rtlCol="0" anchor="ctr"/>
          <a:lstStyle/>
          <a:p>
            <a:pPr indent="0" marL="0">
              <a:buNone/>
            </a:pPr>
            <a:r>
              <a:rPr lang="en-US" sz="1800" b="1" dirty="0">
                <a:solidFill>
                  <a:srgbClr val="0B3C5D"/>
                </a:solidFill>
                <a:latin typeface="Cambria" pitchFamily="34" charset="0"/>
                <a:ea typeface="Cambria" pitchFamily="34" charset="-122"/>
                <a:cs typeface="Cambria" pitchFamily="34" charset="-120"/>
              </a:rPr>
              <a:t>Analysis</a:t>
            </a:r>
            <a:endParaRPr lang="en-US" sz="1800" dirty="0"/>
          </a:p>
        </p:txBody>
      </p:sp>
      <p:sp>
        <p:nvSpPr>
          <p:cNvPr id="16" name="Text 14"/>
          <p:cNvSpPr txBox="1"/>
          <p:nvPr/>
        </p:nvSpPr>
        <p:spPr>
          <a:xfrm>
            <a:off x="6446520" y="4114800"/>
            <a:ext cx="5029200" cy="1280160"/>
          </a:xfrm>
          <a:prstGeom prst="rect">
            <a:avLst/>
          </a:prstGeom>
          <a:noFill/>
          <a:ln/>
        </p:spPr>
        <p:txBody>
          <a:bodyPr wrap="square" lIns="0" tIns="0" rIns="0" bIns="0" rtlCol="0" anchor="t"/>
          <a:lstStyle/>
          <a:p>
            <a:pPr indent="0" marL="0">
              <a:buNone/>
            </a:pPr>
            <a:r>
              <a:rPr lang="en-US" sz="1300" dirty="0">
                <a:solidFill>
                  <a:srgbClr val="222222"/>
                </a:solidFill>
                <a:latin typeface="Calibri" pitchFamily="34" charset="0"/>
                <a:ea typeface="Calibri" pitchFamily="34" charset="-122"/>
                <a:cs typeface="Calibri" pitchFamily="34" charset="-120"/>
              </a:rPr>
              <a:t>Mixed models (variance partitioning, trait–environment at several levels); TPD / hypervolumes; geomorph for shape — all scripted in R</a:t>
            </a:r>
            <a:endParaRPr lang="en-US" sz="1300" dirty="0"/>
          </a:p>
        </p:txBody>
      </p:sp>
      <p:sp>
        <p:nvSpPr>
          <p:cNvPr id="17" name="Shape 15"/>
          <p:cNvSpPr/>
          <p:nvPr/>
        </p:nvSpPr>
        <p:spPr>
          <a:xfrm>
            <a:off x="548640" y="5715000"/>
            <a:ext cx="11091672" cy="548640"/>
          </a:xfrm>
          <a:prstGeom prst="roundRect">
            <a:avLst>
              <a:gd name="adj" fmla="val 13333"/>
            </a:avLst>
          </a:prstGeom>
          <a:solidFill>
            <a:srgbClr val="E8F1F7"/>
          </a:solidFill>
          <a:ln w="12700">
            <a:solidFill>
              <a:srgbClr val="E8F1F7"/>
            </a:solidFill>
            <a:prstDash val="solid"/>
          </a:ln>
        </p:spPr>
      </p:sp>
      <p:sp>
        <p:nvSpPr>
          <p:cNvPr id="18" name="Text 16"/>
          <p:cNvSpPr txBox="1"/>
          <p:nvPr/>
        </p:nvSpPr>
        <p:spPr>
          <a:xfrm>
            <a:off x="685800" y="5715000"/>
            <a:ext cx="10817352" cy="548640"/>
          </a:xfrm>
          <a:prstGeom prst="rect">
            <a:avLst/>
          </a:prstGeom>
          <a:noFill/>
          <a:ln/>
        </p:spPr>
        <p:txBody>
          <a:bodyPr wrap="square" lIns="50800" tIns="50800" rIns="50800" bIns="50800" rtlCol="0" anchor="ctr"/>
          <a:lstStyle/>
          <a:p>
            <a:pPr indent="0" marL="0">
              <a:buNone/>
            </a:pPr>
            <a:r>
              <a:rPr lang="en-US" sz="1600" dirty="0">
                <a:solidFill>
                  <a:srgbClr val="0B3C5D"/>
                </a:solidFill>
                <a:latin typeface="Calibri" pitchFamily="34" charset="0"/>
                <a:ea typeface="Calibri" pitchFamily="34" charset="-122"/>
                <a:cs typeface="Calibri" pitchFamily="34" charset="-120"/>
              </a:rPr>
              <a:t>An effect of habitat on shape smaller than the difference between two operators is not a result.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ITV, extinction and conservation: losing variance before losing species</a:t>
            </a:r>
            <a:endParaRPr lang="en-US" sz="2600" dirty="0"/>
          </a:p>
        </p:txBody>
      </p:sp>
      <p:sp>
        <p:nvSpPr>
          <p:cNvPr id="3" name="Text 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Master FBE 2026 · Session 1 · Block 3 · Intraspecific trait variability</a:t>
            </a:r>
            <a:endParaRPr lang="en-US" sz="1000" dirty="0"/>
          </a:p>
        </p:txBody>
      </p:sp>
      <p:sp>
        <p:nvSpPr>
          <p:cNvPr id="4" name="Text 2"/>
          <p:cNvSpPr txBox="1"/>
          <p:nvPr/>
        </p:nvSpPr>
        <p:spPr>
          <a:xfrm>
            <a:off x="1072591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43</a:t>
            </a:r>
            <a:endParaRPr lang="en-US" sz="1000" dirty="0"/>
          </a:p>
        </p:txBody>
      </p:sp>
      <p:graphicFrame>
        <p:nvGraphicFramePr>
          <p:cNvPr id="5" name="Chart 0" descr=""/>
          <p:cNvGraphicFramePr/>
          <p:nvPr/>
        </p:nvGraphicFramePr>
        <p:xfrm>
          <a:off x="548640" y="1371600"/>
          <a:ext cx="5669280" cy="40233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492240" y="1371600"/>
            <a:ext cx="5148072" cy="4480560"/>
          </a:xfrm>
          <a:prstGeom prst="rect">
            <a:avLst/>
          </a:prstGeom>
          <a:noFill/>
          <a:ln/>
        </p:spPr>
        <p:txBody>
          <a:bodyPr wrap="square" lIns="50800" tIns="50800" rIns="50800" bIns="50800" rtlCol="0" anchor="t"/>
          <a:lstStyle/>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Species lose populations first; their trait distributions narrow before they vanish</a:t>
            </a:r>
            <a:endParaRPr lang="en-US" sz="1400" dirty="0"/>
          </a:p>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Fisheries: size-selective harvest → earlier, smaller maturation; the large individuals (large prey, most eggs, longest movements) are gone while the species is still on the list</a:t>
            </a:r>
            <a:endParaRPr lang="en-US" sz="1400" dirty="0"/>
          </a:p>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Fragmentation and habitat loss remove the populations of the fast-flowing or large-river habitats — a part of the species’ functional range that the mean never showed</a:t>
            </a:r>
            <a:endParaRPr lang="en-US" sz="1400" dirty="0"/>
          </a:p>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Block 2 asked which functions are lost with threatened species; add: which functions are already being lost within species that are not yet threatened</a:t>
            </a:r>
            <a:endParaRPr lang="en-US" sz="1400" dirty="0"/>
          </a:p>
        </p:txBody>
      </p:sp>
      <p:sp>
        <p:nvSpPr>
          <p:cNvPr id="7" name="Shape 4"/>
          <p:cNvSpPr/>
          <p:nvPr/>
        </p:nvSpPr>
        <p:spPr>
          <a:xfrm>
            <a:off x="548640" y="5577840"/>
            <a:ext cx="11091672" cy="640080"/>
          </a:xfrm>
          <a:prstGeom prst="roundRect">
            <a:avLst>
              <a:gd name="adj" fmla="val 11429"/>
            </a:avLst>
          </a:prstGeom>
          <a:solidFill>
            <a:srgbClr val="E8F1F7"/>
          </a:solidFill>
          <a:ln w="12700">
            <a:solidFill>
              <a:srgbClr val="E8F1F7"/>
            </a:solidFill>
            <a:prstDash val="solid"/>
          </a:ln>
        </p:spPr>
      </p:sp>
      <p:sp>
        <p:nvSpPr>
          <p:cNvPr id="8" name="Text 5"/>
          <p:cNvSpPr txBox="1"/>
          <p:nvPr/>
        </p:nvSpPr>
        <p:spPr>
          <a:xfrm>
            <a:off x="685800" y="5577840"/>
            <a:ext cx="10817352" cy="640080"/>
          </a:xfrm>
          <a:prstGeom prst="rect">
            <a:avLst/>
          </a:prstGeom>
          <a:noFill/>
          <a:ln/>
        </p:spPr>
        <p:txBody>
          <a:bodyPr wrap="square" lIns="50800" tIns="50800" rIns="50800" bIns="50800" rtlCol="0" anchor="ctr"/>
          <a:lstStyle/>
          <a:p>
            <a:pPr indent="0" marL="0">
              <a:buNone/>
            </a:pPr>
            <a:r>
              <a:rPr lang="en-US" sz="1600" dirty="0">
                <a:solidFill>
                  <a:srgbClr val="0B3C5D"/>
                </a:solidFill>
                <a:latin typeface="Calibri" pitchFamily="34" charset="0"/>
                <a:ea typeface="Calibri" pitchFamily="34" charset="-122"/>
                <a:cs typeface="Calibri" pitchFamily="34" charset="-120"/>
              </a:rPr>
              <a:t>Freshwater fishes — indeterminate growth, population structure, harvesting, fragmentation — are an ideal system for this open question.</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Block 3 — take-home</a:t>
            </a:r>
            <a:endParaRPr lang="en-US" sz="3000" dirty="0"/>
          </a:p>
        </p:txBody>
      </p:sp>
      <p:sp>
        <p:nvSpPr>
          <p:cNvPr id="3" name="Text 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Master FBE 2026 · Session 1 · Block 3 · Intraspecific trait variability</a:t>
            </a:r>
            <a:endParaRPr lang="en-US" sz="1000" dirty="0"/>
          </a:p>
        </p:txBody>
      </p:sp>
      <p:sp>
        <p:nvSpPr>
          <p:cNvPr id="4" name="Text 2"/>
          <p:cNvSpPr txBox="1"/>
          <p:nvPr/>
        </p:nvSpPr>
        <p:spPr>
          <a:xfrm>
            <a:off x="1072591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44</a:t>
            </a:r>
            <a:endParaRPr lang="en-US" sz="1000" dirty="0"/>
          </a:p>
        </p:txBody>
      </p:sp>
      <p:sp>
        <p:nvSpPr>
          <p:cNvPr id="5" name="Shape 3"/>
          <p:cNvSpPr/>
          <p:nvPr/>
        </p:nvSpPr>
        <p:spPr>
          <a:xfrm>
            <a:off x="548640" y="1600200"/>
            <a:ext cx="640080" cy="640080"/>
          </a:xfrm>
          <a:prstGeom prst="roundRect">
            <a:avLst>
              <a:gd name="adj" fmla="val 17143"/>
            </a:avLst>
          </a:prstGeom>
          <a:solidFill>
            <a:srgbClr val="D9822B"/>
          </a:solidFill>
          <a:ln w="12700">
            <a:solidFill>
              <a:srgbClr val="D9822B"/>
            </a:solidFill>
            <a:prstDash val="solid"/>
          </a:ln>
        </p:spPr>
      </p:sp>
      <p:sp>
        <p:nvSpPr>
          <p:cNvPr id="6" name="Text 4"/>
          <p:cNvSpPr txBox="1"/>
          <p:nvPr/>
        </p:nvSpPr>
        <p:spPr>
          <a:xfrm>
            <a:off x="548640" y="1600200"/>
            <a:ext cx="640080" cy="640080"/>
          </a:xfrm>
          <a:prstGeom prst="rect">
            <a:avLst/>
          </a:prstGeom>
          <a:noFill/>
          <a:ln/>
        </p:spPr>
        <p:txBody>
          <a:bodyPr wrap="square" lIns="25400" tIns="25400" rIns="25400" bIns="254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1463040" y="1463040"/>
            <a:ext cx="10177272" cy="914400"/>
          </a:xfrm>
          <a:prstGeom prst="rect">
            <a:avLst/>
          </a:prstGeom>
          <a:noFill/>
          <a:ln/>
        </p:spPr>
        <p:txBody>
          <a:bodyPr wrap="square" lIns="0" tIns="0" rIns="0" bIns="0" rtlCol="0" anchor="ctr"/>
          <a:lstStyle/>
          <a:p>
            <a:pPr indent="0" marL="0">
              <a:buNone/>
            </a:pPr>
            <a:r>
              <a:rPr lang="en-US" sz="1800" dirty="0">
                <a:solidFill>
                  <a:srgbClr val="222222"/>
                </a:solidFill>
                <a:latin typeface="Calibri" pitchFamily="34" charset="0"/>
                <a:ea typeface="Calibri" pitchFamily="34" charset="-122"/>
                <a:cs typeface="Calibri" pitchFamily="34" charset="-120"/>
              </a:rPr>
              <a:t>Traits are properties of individuals; the species mean is a modelling choice with consequences</a:t>
            </a:r>
            <a:endParaRPr lang="en-US" sz="1800" dirty="0"/>
          </a:p>
        </p:txBody>
      </p:sp>
      <p:sp>
        <p:nvSpPr>
          <p:cNvPr id="8" name="Shape 6"/>
          <p:cNvSpPr/>
          <p:nvPr/>
        </p:nvSpPr>
        <p:spPr>
          <a:xfrm>
            <a:off x="548640" y="2651760"/>
            <a:ext cx="640080" cy="640080"/>
          </a:xfrm>
          <a:prstGeom prst="roundRect">
            <a:avLst>
              <a:gd name="adj" fmla="val 17143"/>
            </a:avLst>
          </a:prstGeom>
          <a:solidFill>
            <a:srgbClr val="D9822B"/>
          </a:solidFill>
          <a:ln w="12700">
            <a:solidFill>
              <a:srgbClr val="D9822B"/>
            </a:solidFill>
            <a:prstDash val="solid"/>
          </a:ln>
        </p:spPr>
      </p:sp>
      <p:sp>
        <p:nvSpPr>
          <p:cNvPr id="9" name="Text 7"/>
          <p:cNvSpPr txBox="1"/>
          <p:nvPr/>
        </p:nvSpPr>
        <p:spPr>
          <a:xfrm>
            <a:off x="548640" y="2651760"/>
            <a:ext cx="640080" cy="640080"/>
          </a:xfrm>
          <a:prstGeom prst="rect">
            <a:avLst/>
          </a:prstGeom>
          <a:noFill/>
          <a:ln/>
        </p:spPr>
        <p:txBody>
          <a:bodyPr wrap="square" lIns="25400" tIns="25400" rIns="25400" bIns="254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1463040" y="2514600"/>
            <a:ext cx="10177272" cy="914400"/>
          </a:xfrm>
          <a:prstGeom prst="rect">
            <a:avLst/>
          </a:prstGeom>
          <a:noFill/>
          <a:ln/>
        </p:spPr>
        <p:txBody>
          <a:bodyPr wrap="square" lIns="0" tIns="0" rIns="0" bIns="0" rtlCol="0" anchor="ctr"/>
          <a:lstStyle/>
          <a:p>
            <a:pPr indent="0" marL="0">
              <a:buNone/>
            </a:pPr>
            <a:r>
              <a:rPr lang="en-US" sz="1800" dirty="0">
                <a:solidFill>
                  <a:srgbClr val="222222"/>
                </a:solidFill>
                <a:latin typeface="Calibri" pitchFamily="34" charset="0"/>
                <a:ea typeface="Calibri" pitchFamily="34" charset="-122"/>
                <a:cs typeface="Calibri" pitchFamily="34" charset="-120"/>
              </a:rPr>
              <a:t>ITV is large (≈ a quarter of within-community variation in plants; more for fish size) and structured: ontogeny, plasticity, local adaptation</a:t>
            </a:r>
            <a:endParaRPr lang="en-US" sz="1800" dirty="0"/>
          </a:p>
        </p:txBody>
      </p:sp>
      <p:sp>
        <p:nvSpPr>
          <p:cNvPr id="11" name="Shape 9"/>
          <p:cNvSpPr/>
          <p:nvPr/>
        </p:nvSpPr>
        <p:spPr>
          <a:xfrm>
            <a:off x="548640" y="3703320"/>
            <a:ext cx="640080" cy="640080"/>
          </a:xfrm>
          <a:prstGeom prst="roundRect">
            <a:avLst>
              <a:gd name="adj" fmla="val 17143"/>
            </a:avLst>
          </a:prstGeom>
          <a:solidFill>
            <a:srgbClr val="D9822B"/>
          </a:solidFill>
          <a:ln w="12700">
            <a:solidFill>
              <a:srgbClr val="D9822B"/>
            </a:solidFill>
            <a:prstDash val="solid"/>
          </a:ln>
        </p:spPr>
      </p:sp>
      <p:sp>
        <p:nvSpPr>
          <p:cNvPr id="12" name="Text 10"/>
          <p:cNvSpPr txBox="1"/>
          <p:nvPr/>
        </p:nvSpPr>
        <p:spPr>
          <a:xfrm>
            <a:off x="548640" y="3703320"/>
            <a:ext cx="640080" cy="640080"/>
          </a:xfrm>
          <a:prstGeom prst="rect">
            <a:avLst/>
          </a:prstGeom>
          <a:noFill/>
          <a:ln/>
        </p:spPr>
        <p:txBody>
          <a:bodyPr wrap="square" lIns="25400" tIns="25400" rIns="25400" bIns="254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3" name="Text 11"/>
          <p:cNvSpPr txBox="1"/>
          <p:nvPr/>
        </p:nvSpPr>
        <p:spPr>
          <a:xfrm>
            <a:off x="1463040" y="3566160"/>
            <a:ext cx="10177272" cy="914400"/>
          </a:xfrm>
          <a:prstGeom prst="rect">
            <a:avLst/>
          </a:prstGeom>
          <a:noFill/>
          <a:ln/>
        </p:spPr>
        <p:txBody>
          <a:bodyPr wrap="square" lIns="0" tIns="0" rIns="0" bIns="0" rtlCol="0" anchor="ctr"/>
          <a:lstStyle/>
          <a:p>
            <a:pPr indent="0" marL="0">
              <a:buNone/>
            </a:pPr>
            <a:r>
              <a:rPr lang="en-US" sz="1800" dirty="0">
                <a:solidFill>
                  <a:srgbClr val="222222"/>
                </a:solidFill>
                <a:latin typeface="Calibri" pitchFamily="34" charset="0"/>
                <a:ea typeface="Calibri" pitchFamily="34" charset="-122"/>
                <a:cs typeface="Calibri" pitchFamily="34" charset="-120"/>
              </a:rPr>
              <a:t>It changes overlap and coexistence, hides the intraspecific part of trait–environment responses, and affects functioning as much as species replacement</a:t>
            </a:r>
            <a:endParaRPr lang="en-US" sz="1800" dirty="0"/>
          </a:p>
        </p:txBody>
      </p:sp>
      <p:sp>
        <p:nvSpPr>
          <p:cNvPr id="14" name="Shape 12"/>
          <p:cNvSpPr/>
          <p:nvPr/>
        </p:nvSpPr>
        <p:spPr>
          <a:xfrm>
            <a:off x="548640" y="4754880"/>
            <a:ext cx="640080" cy="640080"/>
          </a:xfrm>
          <a:prstGeom prst="roundRect">
            <a:avLst>
              <a:gd name="adj" fmla="val 17143"/>
            </a:avLst>
          </a:prstGeom>
          <a:solidFill>
            <a:srgbClr val="D9822B"/>
          </a:solidFill>
          <a:ln w="12700">
            <a:solidFill>
              <a:srgbClr val="D9822B"/>
            </a:solidFill>
            <a:prstDash val="solid"/>
          </a:ln>
        </p:spPr>
      </p:sp>
      <p:sp>
        <p:nvSpPr>
          <p:cNvPr id="15" name="Text 13"/>
          <p:cNvSpPr txBox="1"/>
          <p:nvPr/>
        </p:nvSpPr>
        <p:spPr>
          <a:xfrm>
            <a:off x="548640" y="4754880"/>
            <a:ext cx="640080" cy="640080"/>
          </a:xfrm>
          <a:prstGeom prst="rect">
            <a:avLst/>
          </a:prstGeom>
          <a:noFill/>
          <a:ln/>
        </p:spPr>
        <p:txBody>
          <a:bodyPr wrap="square" lIns="25400" tIns="25400" rIns="25400" bIns="254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6" name="Text 14"/>
          <p:cNvSpPr txBox="1"/>
          <p:nvPr/>
        </p:nvSpPr>
        <p:spPr>
          <a:xfrm>
            <a:off x="1463040" y="4617720"/>
            <a:ext cx="10177272" cy="914400"/>
          </a:xfrm>
          <a:prstGeom prst="rect">
            <a:avLst/>
          </a:prstGeom>
          <a:noFill/>
          <a:ln/>
        </p:spPr>
        <p:txBody>
          <a:bodyPr wrap="square" lIns="0" tIns="0" rIns="0" bIns="0" rtlCol="0" anchor="ctr"/>
          <a:lstStyle/>
          <a:p>
            <a:pPr indent="0" marL="0">
              <a:buNone/>
            </a:pPr>
            <a:r>
              <a:rPr lang="en-US" sz="1800" dirty="0">
                <a:solidFill>
                  <a:srgbClr val="222222"/>
                </a:solidFill>
                <a:latin typeface="Calibri" pitchFamily="34" charset="0"/>
                <a:ea typeface="Calibri" pitchFamily="34" charset="-122"/>
                <a:cs typeface="Calibri" pitchFamily="34" charset="-120"/>
              </a:rPr>
              <a:t>Tools exist — individual sampling, mixed models, TPD — and functional variance is lost within species long before species are lost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FBE 2026 · Block 3 · ITV</dc:title>
  <dc:subject>PptxGenJS Presentation</dc:subject>
  <dc:creator>Aurèle Toussaint</dc:creator>
  <cp:lastModifiedBy>Aurèle Toussaint</cp:lastModifiedBy>
  <cp:revision>1</cp:revision>
  <dcterms:created xsi:type="dcterms:W3CDTF">2026-09-11T09:14:57Z</dcterms:created>
  <dcterms:modified xsi:type="dcterms:W3CDTF">2026-09-11T09:14:57Z</dcterms:modified>
</cp:coreProperties>
</file>
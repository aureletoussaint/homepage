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and welcome. My name is Aurèle Toussaint; I am a CNRS researcher at the CRBE here in Toulouse, and I work on the functional diversity of freshwater fishes — how fish faunas are organised in terms of what species do, how this organisation varies across the planet, and what happens to it when species disappear. Over the next two sessions, I would like to give you a working knowledge of the approach that underlies all of that work: the trait-based approach.
Today is a lecture: three blocks of about fifty, fifty and thirty minutes, with two breaks. Thursday afternoon is entirely practical: you will work in three groups, in R, on a real question with real data, you will present your results to each other, and you will finish with a short written exam. So everything I say today has one purpose: to make sure that on Thursday, when you type dbFD() or compute a standardised effect size, you know exactly what the number you obtain means, and what it does not mean.
--- INSTRUCTOR NOTE ---
1 min. Do not read the syllabus; simply say it is on the course page and that the exercise sheets will be handed out at the end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a simple thought experiment. Imagine two rivers. In the first, you catch fifteen species; in the second, you also catch fifteen species. From the point of view of species richness, the two rivers are identical. But now suppose that in the first river the fifteen species are all small, fusiform, mid-water invertivores — fifteen variations on the same theme — while in the second river you have a large piscivore, a bottom-feeding detritivore with a sucker mouth, a surface-feeding insectivore, a deep-bodied fruit-eater, an eel-shaped burrower, and so on. Same richness, completely different rivers: different ways of using energy, different sensitivities to change, different consequences if a species disappears.
Species richness cannot see this difference. Trait-based ecology was built precisely to see it. That is the whole point of this course: to move from counting who is there to describing what they do, and to do it quantitatively.
--- INSTRUCTOR NOTE ---
2 min. You can ask the room: "Which of these two rivers would lose more if you removed one species at random?" — take one or two answers, no discussion yet; you will come back to this in Blocks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practical reasons why this approach has become central in community ecology over the last twenty years.
First, traits describe communities by function. A body length, a mouth position, a gill-raker density are things an organism does something with; they connect the species list to processes: feeding, swimming, growing, reproducing.
Second, traits are a common currency. A river in the Amazon and a river in the Loire basin share essentially no species. You cannot compare their species lists; but you can compare their distributions of body sizes, of body shapes, of trophic positions. Traits allow comparisons across regions, across continents, and even across taxonomic groups — you will see plant examples this afternoon because the framework matured in plant ecology, and the concepts transfer directly to fishes.
Third, traits link composition to the environment on one side and to ecosystem functioning on the other. Which traits allow a species to persist under a given temperature or flow regime? And once a community is assembled, which traits determine how much biomass it produces, how much nutrient it recycles? This double link is the response–effect framework, and we will formalise it in the first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freshwater fishes, apart from the fact that they are what I work on? Three reasons. Freshwater fishes represent roughly half of all fish species, close to eighteen thousand species, living in less than one per cent of the Earth's surface. They are extraordinarily diverse morphologically: from a two-metre arapaima to a centimetre-long killifish, from a flat catfish glued to the bottom to a piranha with a body like a coin. This diversity of forms has a direct mechanistic meaning: body shape constrains how a fish swims and where it can feed. And finally, freshwater fishes are among the most threatened vertebrates on Earth — dams, pollution, overfishing, invasive species — which makes the question of what we lose functionally when species go extinct a very concrete one. So fishes are both a beautiful system to learn the method and a system where the method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road map for the afternoon, and it is also the structure of any trait-based analysis you will ever run.
Step one: we start with a table — species in rows, traits in columns — and we turn it into a functional space, a low-dimensional space in which each species is a point and distances mean functional dissimilarity. This is Block 1, and it is what Group A will do on Thursday.
Step two: we place communities in this space and summarise them — the community-weighted mean for the dominant strategy, the functional diversity indices for how much of the space is filled and how — and then we ask whether what we observe is different from what we would expect by chance, using null models, and what happens to the space when species are removed. This is Block 2, and it is what Groups B and C will do on Thursday, plus the conservation part that concerns all of you.
Step three, which is the last block of the afternoon, puts back what the first two steps set aside: the variation among individuals within species. Traits are measured on individuals; the species mean is a choice, and we will see what that choice hides and how to work without it.
Keep this diagram in mind; I will come back to it at each transition.
--- INSTRUCTOR NOTE ---
Total for Block 0: ~12 min. Move on to Block 1 at 13:45 at the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48640" y="1463040"/>
            <a:ext cx="11091672" cy="10972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Introduction to Functional Ecology in R</a:t>
            </a:r>
            <a:endParaRPr lang="en-US" sz="4000" dirty="0"/>
          </a:p>
        </p:txBody>
      </p:sp>
      <p:sp>
        <p:nvSpPr>
          <p:cNvPr id="3" name="Text 1"/>
          <p:cNvSpPr txBox="1"/>
          <p:nvPr/>
        </p:nvSpPr>
        <p:spPr>
          <a:xfrm>
            <a:off x="548640" y="2560320"/>
            <a:ext cx="11091672" cy="64008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The trait-based approach in community ecology</a:t>
            </a:r>
            <a:endParaRPr lang="en-US" sz="2400" dirty="0"/>
          </a:p>
        </p:txBody>
      </p:sp>
      <p:sp>
        <p:nvSpPr>
          <p:cNvPr id="4" name="Text 2"/>
          <p:cNvSpPr txBox="1"/>
          <p:nvPr/>
        </p:nvSpPr>
        <p:spPr>
          <a:xfrm>
            <a:off x="548640" y="3840480"/>
            <a:ext cx="11091672" cy="1828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Session 1 — Lecture · Tuesday 22 September 2026 · 13:30–16:30</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Session 2 — R practical · Thursday 24 September 2026 · 14:00–17:00</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 </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Aurèle Toussaint · CNRS · Centre de Recherche sur la Biodiversité et l’Environnement (CRBE), Toulouse</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aurele.toussaint@cnrs.fr</a:t>
            </a:r>
            <a:endParaRPr lang="en-US" sz="1600" dirty="0"/>
          </a:p>
        </p:txBody>
      </p:sp>
      <p:sp>
        <p:nvSpPr>
          <p:cNvPr id="5" name="Text 3"/>
          <p:cNvSpPr txBox="1"/>
          <p:nvPr/>
        </p:nvSpPr>
        <p:spPr>
          <a:xfrm>
            <a:off x="548640" y="621792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Master FBE · EUR TULIP-GS · Université de Toulouse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Two rivers, fifteen species each</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0 · Introduction</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371600"/>
            <a:ext cx="5120640" cy="365760"/>
          </a:xfrm>
          <a:prstGeom prst="rect">
            <a:avLst/>
          </a:prstGeom>
          <a:noFill/>
          <a:ln/>
        </p:spPr>
        <p:txBody>
          <a:bodyPr wrap="square" lIns="0" tIns="0" rIns="0" bIns="0" rtlCol="0" anchor="ctr"/>
          <a:lstStyle/>
          <a:p>
            <a:pPr indent="0" marL="0">
              <a:buNone/>
            </a:pPr>
            <a:r>
              <a:rPr lang="en-US" sz="1800" b="1" dirty="0">
                <a:solidFill>
                  <a:srgbClr val="0B3C5D"/>
                </a:solidFill>
                <a:latin typeface="Calibri" pitchFamily="34" charset="0"/>
                <a:ea typeface="Calibri" pitchFamily="34" charset="-122"/>
                <a:cs typeface="Calibri" pitchFamily="34" charset="-120"/>
              </a:rPr>
              <a:t>River 1 — S = 15</a:t>
            </a:r>
            <a:endParaRPr lang="en-US" sz="1800" dirty="0"/>
          </a:p>
        </p:txBody>
      </p:sp>
      <p:sp>
        <p:nvSpPr>
          <p:cNvPr id="6" name="Shape 4"/>
          <p:cNvSpPr/>
          <p:nvPr/>
        </p:nvSpPr>
        <p:spPr>
          <a:xfrm>
            <a:off x="548640" y="1783080"/>
            <a:ext cx="5120640" cy="3108960"/>
          </a:xfrm>
          <a:prstGeom prst="rect">
            <a:avLst/>
          </a:prstGeom>
          <a:solidFill>
            <a:srgbClr val="FFFFFF"/>
          </a:solidFill>
          <a:ln w="12700">
            <a:solidFill>
              <a:srgbClr val="BBBBBB"/>
            </a:solidFill>
            <a:prstDash val="solid"/>
          </a:ln>
        </p:spPr>
      </p:sp>
      <p:sp>
        <p:nvSpPr>
          <p:cNvPr id="7" name="Shape 5"/>
          <p:cNvSpPr/>
          <p:nvPr/>
        </p:nvSpPr>
        <p:spPr>
          <a:xfrm>
            <a:off x="3048852" y="3325066"/>
            <a:ext cx="100584" cy="100584"/>
          </a:xfrm>
          <a:prstGeom prst="ellipse">
            <a:avLst/>
          </a:prstGeom>
          <a:solidFill>
            <a:srgbClr val="1D6F9E"/>
          </a:solidFill>
          <a:ln w="12700">
            <a:solidFill>
              <a:srgbClr val="1D6F9E"/>
            </a:solidFill>
            <a:prstDash val="solid"/>
          </a:ln>
        </p:spPr>
      </p:sp>
      <p:sp>
        <p:nvSpPr>
          <p:cNvPr id="8" name="Shape 6"/>
          <p:cNvSpPr/>
          <p:nvPr/>
        </p:nvSpPr>
        <p:spPr>
          <a:xfrm>
            <a:off x="2664865" y="3128075"/>
            <a:ext cx="100584" cy="100584"/>
          </a:xfrm>
          <a:prstGeom prst="ellipse">
            <a:avLst/>
          </a:prstGeom>
          <a:solidFill>
            <a:srgbClr val="1D6F9E"/>
          </a:solidFill>
          <a:ln w="12700">
            <a:solidFill>
              <a:srgbClr val="1D6F9E"/>
            </a:solidFill>
            <a:prstDash val="solid"/>
          </a:ln>
        </p:spPr>
      </p:sp>
      <p:sp>
        <p:nvSpPr>
          <p:cNvPr id="9" name="Shape 7"/>
          <p:cNvSpPr/>
          <p:nvPr/>
        </p:nvSpPr>
        <p:spPr>
          <a:xfrm>
            <a:off x="3000508" y="3291237"/>
            <a:ext cx="100584" cy="100584"/>
          </a:xfrm>
          <a:prstGeom prst="ellipse">
            <a:avLst/>
          </a:prstGeom>
          <a:solidFill>
            <a:srgbClr val="1D6F9E"/>
          </a:solidFill>
          <a:ln w="12700">
            <a:solidFill>
              <a:srgbClr val="1D6F9E"/>
            </a:solidFill>
            <a:prstDash val="solid"/>
          </a:ln>
        </p:spPr>
      </p:sp>
      <p:sp>
        <p:nvSpPr>
          <p:cNvPr id="10" name="Shape 8"/>
          <p:cNvSpPr/>
          <p:nvPr/>
        </p:nvSpPr>
        <p:spPr>
          <a:xfrm>
            <a:off x="2627057" y="3522847"/>
            <a:ext cx="100584" cy="100584"/>
          </a:xfrm>
          <a:prstGeom prst="ellipse">
            <a:avLst/>
          </a:prstGeom>
          <a:solidFill>
            <a:srgbClr val="1D6F9E"/>
          </a:solidFill>
          <a:ln w="12700">
            <a:solidFill>
              <a:srgbClr val="1D6F9E"/>
            </a:solidFill>
            <a:prstDash val="solid"/>
          </a:ln>
        </p:spPr>
      </p:sp>
      <p:sp>
        <p:nvSpPr>
          <p:cNvPr id="11" name="Shape 9"/>
          <p:cNvSpPr/>
          <p:nvPr/>
        </p:nvSpPr>
        <p:spPr>
          <a:xfrm>
            <a:off x="3150246" y="3231819"/>
            <a:ext cx="100584" cy="100584"/>
          </a:xfrm>
          <a:prstGeom prst="ellipse">
            <a:avLst/>
          </a:prstGeom>
          <a:solidFill>
            <a:srgbClr val="1D6F9E"/>
          </a:solidFill>
          <a:ln w="12700">
            <a:solidFill>
              <a:srgbClr val="1D6F9E"/>
            </a:solidFill>
            <a:prstDash val="solid"/>
          </a:ln>
        </p:spPr>
      </p:sp>
      <p:sp>
        <p:nvSpPr>
          <p:cNvPr id="12" name="Shape 10"/>
          <p:cNvSpPr/>
          <p:nvPr/>
        </p:nvSpPr>
        <p:spPr>
          <a:xfrm>
            <a:off x="2837906" y="3462150"/>
            <a:ext cx="100584" cy="100584"/>
          </a:xfrm>
          <a:prstGeom prst="ellipse">
            <a:avLst/>
          </a:prstGeom>
          <a:solidFill>
            <a:srgbClr val="1D6F9E"/>
          </a:solidFill>
          <a:ln w="12700">
            <a:solidFill>
              <a:srgbClr val="1D6F9E"/>
            </a:solidFill>
            <a:prstDash val="solid"/>
          </a:ln>
        </p:spPr>
      </p:sp>
      <p:sp>
        <p:nvSpPr>
          <p:cNvPr id="13" name="Shape 11"/>
          <p:cNvSpPr/>
          <p:nvPr/>
        </p:nvSpPr>
        <p:spPr>
          <a:xfrm>
            <a:off x="3219908" y="3023990"/>
            <a:ext cx="100584" cy="100584"/>
          </a:xfrm>
          <a:prstGeom prst="ellipse">
            <a:avLst/>
          </a:prstGeom>
          <a:solidFill>
            <a:srgbClr val="1D6F9E"/>
          </a:solidFill>
          <a:ln w="12700">
            <a:solidFill>
              <a:srgbClr val="1D6F9E"/>
            </a:solidFill>
            <a:prstDash val="solid"/>
          </a:ln>
        </p:spPr>
      </p:sp>
      <p:sp>
        <p:nvSpPr>
          <p:cNvPr id="14" name="Shape 12"/>
          <p:cNvSpPr/>
          <p:nvPr/>
        </p:nvSpPr>
        <p:spPr>
          <a:xfrm>
            <a:off x="3057184" y="3122542"/>
            <a:ext cx="100584" cy="100584"/>
          </a:xfrm>
          <a:prstGeom prst="ellipse">
            <a:avLst/>
          </a:prstGeom>
          <a:solidFill>
            <a:srgbClr val="1D6F9E"/>
          </a:solidFill>
          <a:ln w="12700">
            <a:solidFill>
              <a:srgbClr val="1D6F9E"/>
            </a:solidFill>
            <a:prstDash val="solid"/>
          </a:ln>
        </p:spPr>
      </p:sp>
      <p:sp>
        <p:nvSpPr>
          <p:cNvPr id="15" name="Shape 13"/>
          <p:cNvSpPr/>
          <p:nvPr/>
        </p:nvSpPr>
        <p:spPr>
          <a:xfrm>
            <a:off x="3234782" y="3074601"/>
            <a:ext cx="100584" cy="100584"/>
          </a:xfrm>
          <a:prstGeom prst="ellipse">
            <a:avLst/>
          </a:prstGeom>
          <a:solidFill>
            <a:srgbClr val="1D6F9E"/>
          </a:solidFill>
          <a:ln w="12700">
            <a:solidFill>
              <a:srgbClr val="1D6F9E"/>
            </a:solidFill>
            <a:prstDash val="solid"/>
          </a:ln>
        </p:spPr>
      </p:sp>
      <p:sp>
        <p:nvSpPr>
          <p:cNvPr id="16" name="Shape 14"/>
          <p:cNvSpPr/>
          <p:nvPr/>
        </p:nvSpPr>
        <p:spPr>
          <a:xfrm>
            <a:off x="3120525" y="3279344"/>
            <a:ext cx="100584" cy="100584"/>
          </a:xfrm>
          <a:prstGeom prst="ellipse">
            <a:avLst/>
          </a:prstGeom>
          <a:solidFill>
            <a:srgbClr val="1D6F9E"/>
          </a:solidFill>
          <a:ln w="12700">
            <a:solidFill>
              <a:srgbClr val="1D6F9E"/>
            </a:solidFill>
            <a:prstDash val="solid"/>
          </a:ln>
        </p:spPr>
      </p:sp>
      <p:sp>
        <p:nvSpPr>
          <p:cNvPr id="17" name="Shape 15"/>
          <p:cNvSpPr/>
          <p:nvPr/>
        </p:nvSpPr>
        <p:spPr>
          <a:xfrm>
            <a:off x="2727056" y="3007507"/>
            <a:ext cx="100584" cy="100584"/>
          </a:xfrm>
          <a:prstGeom prst="ellipse">
            <a:avLst/>
          </a:prstGeom>
          <a:solidFill>
            <a:srgbClr val="1D6F9E"/>
          </a:solidFill>
          <a:ln w="12700">
            <a:solidFill>
              <a:srgbClr val="1D6F9E"/>
            </a:solidFill>
            <a:prstDash val="solid"/>
          </a:ln>
        </p:spPr>
      </p:sp>
      <p:sp>
        <p:nvSpPr>
          <p:cNvPr id="18" name="Shape 16"/>
          <p:cNvSpPr/>
          <p:nvPr/>
        </p:nvSpPr>
        <p:spPr>
          <a:xfrm>
            <a:off x="3508383" y="3579439"/>
            <a:ext cx="100584" cy="100584"/>
          </a:xfrm>
          <a:prstGeom prst="ellipse">
            <a:avLst/>
          </a:prstGeom>
          <a:solidFill>
            <a:srgbClr val="1D6F9E"/>
          </a:solidFill>
          <a:ln w="12700">
            <a:solidFill>
              <a:srgbClr val="1D6F9E"/>
            </a:solidFill>
            <a:prstDash val="solid"/>
          </a:ln>
        </p:spPr>
      </p:sp>
      <p:sp>
        <p:nvSpPr>
          <p:cNvPr id="19" name="Shape 17"/>
          <p:cNvSpPr/>
          <p:nvPr/>
        </p:nvSpPr>
        <p:spPr>
          <a:xfrm>
            <a:off x="2670283" y="3252588"/>
            <a:ext cx="100584" cy="100584"/>
          </a:xfrm>
          <a:prstGeom prst="ellipse">
            <a:avLst/>
          </a:prstGeom>
          <a:solidFill>
            <a:srgbClr val="1D6F9E"/>
          </a:solidFill>
          <a:ln w="12700">
            <a:solidFill>
              <a:srgbClr val="1D6F9E"/>
            </a:solidFill>
            <a:prstDash val="solid"/>
          </a:ln>
        </p:spPr>
      </p:sp>
      <p:sp>
        <p:nvSpPr>
          <p:cNvPr id="20" name="Shape 18"/>
          <p:cNvSpPr/>
          <p:nvPr/>
        </p:nvSpPr>
        <p:spPr>
          <a:xfrm>
            <a:off x="3525364" y="3093979"/>
            <a:ext cx="100584" cy="100584"/>
          </a:xfrm>
          <a:prstGeom prst="ellipse">
            <a:avLst/>
          </a:prstGeom>
          <a:solidFill>
            <a:srgbClr val="1D6F9E"/>
          </a:solidFill>
          <a:ln w="12700">
            <a:solidFill>
              <a:srgbClr val="1D6F9E"/>
            </a:solidFill>
            <a:prstDash val="solid"/>
          </a:ln>
        </p:spPr>
      </p:sp>
      <p:sp>
        <p:nvSpPr>
          <p:cNvPr id="21" name="Shape 19"/>
          <p:cNvSpPr/>
          <p:nvPr/>
        </p:nvSpPr>
        <p:spPr>
          <a:xfrm>
            <a:off x="2975958" y="3318552"/>
            <a:ext cx="100584" cy="100584"/>
          </a:xfrm>
          <a:prstGeom prst="ellipse">
            <a:avLst/>
          </a:prstGeom>
          <a:solidFill>
            <a:srgbClr val="1D6F9E"/>
          </a:solidFill>
          <a:ln w="12700">
            <a:solidFill>
              <a:srgbClr val="1D6F9E"/>
            </a:solidFill>
            <a:prstDash val="solid"/>
          </a:ln>
        </p:spPr>
      </p:sp>
      <p:sp>
        <p:nvSpPr>
          <p:cNvPr id="22" name="Text 20"/>
          <p:cNvSpPr txBox="1"/>
          <p:nvPr/>
        </p:nvSpPr>
        <p:spPr>
          <a:xfrm>
            <a:off x="548640" y="4937760"/>
            <a:ext cx="5120640" cy="457200"/>
          </a:xfrm>
          <a:prstGeom prst="rect">
            <a:avLst/>
          </a:prstGeom>
          <a:noFill/>
          <a:ln/>
        </p:spPr>
        <p:txBody>
          <a:bodyPr wrap="square" lIns="0" tIns="0" rIns="0" bIns="0" rtlCol="0" anchor="ctr"/>
          <a:lstStyle/>
          <a:p>
            <a:pPr indent="0" marL="0">
              <a:buNone/>
            </a:pPr>
            <a:r>
              <a:rPr lang="en-US" sz="1400" dirty="0">
                <a:solidFill>
                  <a:srgbClr val="6B6B6B"/>
                </a:solidFill>
                <a:latin typeface="Calibri" pitchFamily="34" charset="0"/>
                <a:ea typeface="Calibri" pitchFamily="34" charset="-122"/>
                <a:cs typeface="Calibri" pitchFamily="34" charset="-120"/>
              </a:rPr>
              <a:t>Fifteen small, fusiform, mid-water invertivores</a:t>
            </a:r>
            <a:endParaRPr lang="en-US" sz="1400" dirty="0"/>
          </a:p>
        </p:txBody>
      </p:sp>
      <p:sp>
        <p:nvSpPr>
          <p:cNvPr id="23" name="Text 21"/>
          <p:cNvSpPr txBox="1"/>
          <p:nvPr/>
        </p:nvSpPr>
        <p:spPr>
          <a:xfrm>
            <a:off x="6492240" y="1371600"/>
            <a:ext cx="5120640" cy="365760"/>
          </a:xfrm>
          <a:prstGeom prst="rect">
            <a:avLst/>
          </a:prstGeom>
          <a:noFill/>
          <a:ln/>
        </p:spPr>
        <p:txBody>
          <a:bodyPr wrap="square" lIns="0" tIns="0" rIns="0" bIns="0" rtlCol="0" anchor="ctr"/>
          <a:lstStyle/>
          <a:p>
            <a:pPr indent="0" marL="0">
              <a:buNone/>
            </a:pPr>
            <a:r>
              <a:rPr lang="en-US" sz="1800" b="1" dirty="0">
                <a:solidFill>
                  <a:srgbClr val="0B3C5D"/>
                </a:solidFill>
                <a:latin typeface="Calibri" pitchFamily="34" charset="0"/>
                <a:ea typeface="Calibri" pitchFamily="34" charset="-122"/>
                <a:cs typeface="Calibri" pitchFamily="34" charset="-120"/>
              </a:rPr>
              <a:t>River 2 — S = 15</a:t>
            </a:r>
            <a:endParaRPr lang="en-US" sz="1800" dirty="0"/>
          </a:p>
        </p:txBody>
      </p:sp>
      <p:sp>
        <p:nvSpPr>
          <p:cNvPr id="24" name="Shape 22"/>
          <p:cNvSpPr/>
          <p:nvPr/>
        </p:nvSpPr>
        <p:spPr>
          <a:xfrm>
            <a:off x="6492240" y="1783080"/>
            <a:ext cx="5120640" cy="3108960"/>
          </a:xfrm>
          <a:prstGeom prst="rect">
            <a:avLst/>
          </a:prstGeom>
          <a:solidFill>
            <a:srgbClr val="FFFFFF"/>
          </a:solidFill>
          <a:ln w="12700">
            <a:solidFill>
              <a:srgbClr val="BBBBBB"/>
            </a:solidFill>
            <a:prstDash val="solid"/>
          </a:ln>
        </p:spPr>
      </p:sp>
      <p:sp>
        <p:nvSpPr>
          <p:cNvPr id="25" name="Shape 23"/>
          <p:cNvSpPr/>
          <p:nvPr/>
        </p:nvSpPr>
        <p:spPr>
          <a:xfrm>
            <a:off x="9741542" y="2714888"/>
            <a:ext cx="100584" cy="100584"/>
          </a:xfrm>
          <a:prstGeom prst="ellipse">
            <a:avLst/>
          </a:prstGeom>
          <a:solidFill>
            <a:srgbClr val="D9822B"/>
          </a:solidFill>
          <a:ln w="12700">
            <a:solidFill>
              <a:srgbClr val="D9822B"/>
            </a:solidFill>
            <a:prstDash val="solid"/>
          </a:ln>
        </p:spPr>
      </p:sp>
      <p:sp>
        <p:nvSpPr>
          <p:cNvPr id="26" name="Shape 24"/>
          <p:cNvSpPr/>
          <p:nvPr/>
        </p:nvSpPr>
        <p:spPr>
          <a:xfrm>
            <a:off x="7584493" y="4555473"/>
            <a:ext cx="100584" cy="100584"/>
          </a:xfrm>
          <a:prstGeom prst="ellipse">
            <a:avLst/>
          </a:prstGeom>
          <a:solidFill>
            <a:srgbClr val="D9822B"/>
          </a:solidFill>
          <a:ln w="12700">
            <a:solidFill>
              <a:srgbClr val="D9822B"/>
            </a:solidFill>
            <a:prstDash val="solid"/>
          </a:ln>
        </p:spPr>
      </p:sp>
      <p:sp>
        <p:nvSpPr>
          <p:cNvPr id="27" name="Shape 25"/>
          <p:cNvSpPr/>
          <p:nvPr/>
        </p:nvSpPr>
        <p:spPr>
          <a:xfrm>
            <a:off x="8768504" y="2588924"/>
            <a:ext cx="100584" cy="100584"/>
          </a:xfrm>
          <a:prstGeom prst="ellipse">
            <a:avLst/>
          </a:prstGeom>
          <a:solidFill>
            <a:srgbClr val="D9822B"/>
          </a:solidFill>
          <a:ln w="12700">
            <a:solidFill>
              <a:srgbClr val="D9822B"/>
            </a:solidFill>
            <a:prstDash val="solid"/>
          </a:ln>
        </p:spPr>
      </p:sp>
      <p:sp>
        <p:nvSpPr>
          <p:cNvPr id="28" name="Shape 26"/>
          <p:cNvSpPr/>
          <p:nvPr/>
        </p:nvSpPr>
        <p:spPr>
          <a:xfrm>
            <a:off x="9204649" y="2844323"/>
            <a:ext cx="100584" cy="100584"/>
          </a:xfrm>
          <a:prstGeom prst="ellipse">
            <a:avLst/>
          </a:prstGeom>
          <a:solidFill>
            <a:srgbClr val="D9822B"/>
          </a:solidFill>
          <a:ln w="12700">
            <a:solidFill>
              <a:srgbClr val="D9822B"/>
            </a:solidFill>
            <a:prstDash val="solid"/>
          </a:ln>
        </p:spPr>
      </p:sp>
      <p:sp>
        <p:nvSpPr>
          <p:cNvPr id="29" name="Shape 27"/>
          <p:cNvSpPr/>
          <p:nvPr/>
        </p:nvSpPr>
        <p:spPr>
          <a:xfrm>
            <a:off x="7512251" y="3999784"/>
            <a:ext cx="100584" cy="100584"/>
          </a:xfrm>
          <a:prstGeom prst="ellipse">
            <a:avLst/>
          </a:prstGeom>
          <a:solidFill>
            <a:srgbClr val="D9822B"/>
          </a:solidFill>
          <a:ln w="12700">
            <a:solidFill>
              <a:srgbClr val="D9822B"/>
            </a:solidFill>
            <a:prstDash val="solid"/>
          </a:ln>
        </p:spPr>
      </p:sp>
      <p:sp>
        <p:nvSpPr>
          <p:cNvPr id="30" name="Shape 28"/>
          <p:cNvSpPr/>
          <p:nvPr/>
        </p:nvSpPr>
        <p:spPr>
          <a:xfrm>
            <a:off x="8364369" y="2895685"/>
            <a:ext cx="100584" cy="100584"/>
          </a:xfrm>
          <a:prstGeom prst="ellipse">
            <a:avLst/>
          </a:prstGeom>
          <a:solidFill>
            <a:srgbClr val="D9822B"/>
          </a:solidFill>
          <a:ln w="12700">
            <a:solidFill>
              <a:srgbClr val="D9822B"/>
            </a:solidFill>
            <a:prstDash val="solid"/>
          </a:ln>
        </p:spPr>
      </p:sp>
      <p:sp>
        <p:nvSpPr>
          <p:cNvPr id="31" name="Shape 29"/>
          <p:cNvSpPr/>
          <p:nvPr/>
        </p:nvSpPr>
        <p:spPr>
          <a:xfrm>
            <a:off x="7194150" y="4400424"/>
            <a:ext cx="100584" cy="100584"/>
          </a:xfrm>
          <a:prstGeom prst="ellipse">
            <a:avLst/>
          </a:prstGeom>
          <a:solidFill>
            <a:srgbClr val="D9822B"/>
          </a:solidFill>
          <a:ln w="12700">
            <a:solidFill>
              <a:srgbClr val="D9822B"/>
            </a:solidFill>
            <a:prstDash val="solid"/>
          </a:ln>
        </p:spPr>
      </p:sp>
      <p:sp>
        <p:nvSpPr>
          <p:cNvPr id="32" name="Shape 30"/>
          <p:cNvSpPr/>
          <p:nvPr/>
        </p:nvSpPr>
        <p:spPr>
          <a:xfrm>
            <a:off x="7878108" y="4290424"/>
            <a:ext cx="100584" cy="100584"/>
          </a:xfrm>
          <a:prstGeom prst="ellipse">
            <a:avLst/>
          </a:prstGeom>
          <a:solidFill>
            <a:srgbClr val="D9822B"/>
          </a:solidFill>
          <a:ln w="12700">
            <a:solidFill>
              <a:srgbClr val="D9822B"/>
            </a:solidFill>
            <a:prstDash val="solid"/>
          </a:ln>
        </p:spPr>
      </p:sp>
      <p:sp>
        <p:nvSpPr>
          <p:cNvPr id="33" name="Shape 31"/>
          <p:cNvSpPr/>
          <p:nvPr/>
        </p:nvSpPr>
        <p:spPr>
          <a:xfrm>
            <a:off x="8876259" y="2597925"/>
            <a:ext cx="100584" cy="100584"/>
          </a:xfrm>
          <a:prstGeom prst="ellipse">
            <a:avLst/>
          </a:prstGeom>
          <a:solidFill>
            <a:srgbClr val="D9822B"/>
          </a:solidFill>
          <a:ln w="12700">
            <a:solidFill>
              <a:srgbClr val="D9822B"/>
            </a:solidFill>
            <a:prstDash val="solid"/>
          </a:ln>
        </p:spPr>
      </p:sp>
      <p:sp>
        <p:nvSpPr>
          <p:cNvPr id="34" name="Shape 32"/>
          <p:cNvSpPr/>
          <p:nvPr/>
        </p:nvSpPr>
        <p:spPr>
          <a:xfrm>
            <a:off x="9445161" y="3030649"/>
            <a:ext cx="100584" cy="100584"/>
          </a:xfrm>
          <a:prstGeom prst="ellipse">
            <a:avLst/>
          </a:prstGeom>
          <a:solidFill>
            <a:srgbClr val="D9822B"/>
          </a:solidFill>
          <a:ln w="12700">
            <a:solidFill>
              <a:srgbClr val="D9822B"/>
            </a:solidFill>
            <a:prstDash val="solid"/>
          </a:ln>
        </p:spPr>
      </p:sp>
      <p:sp>
        <p:nvSpPr>
          <p:cNvPr id="35" name="Shape 33"/>
          <p:cNvSpPr/>
          <p:nvPr/>
        </p:nvSpPr>
        <p:spPr>
          <a:xfrm>
            <a:off x="10115844" y="3686374"/>
            <a:ext cx="100584" cy="100584"/>
          </a:xfrm>
          <a:prstGeom prst="ellipse">
            <a:avLst/>
          </a:prstGeom>
          <a:solidFill>
            <a:srgbClr val="D9822B"/>
          </a:solidFill>
          <a:ln w="12700">
            <a:solidFill>
              <a:srgbClr val="D9822B"/>
            </a:solidFill>
            <a:prstDash val="solid"/>
          </a:ln>
        </p:spPr>
      </p:sp>
      <p:sp>
        <p:nvSpPr>
          <p:cNvPr id="36" name="Shape 34"/>
          <p:cNvSpPr/>
          <p:nvPr/>
        </p:nvSpPr>
        <p:spPr>
          <a:xfrm>
            <a:off x="7436617" y="2566154"/>
            <a:ext cx="100584" cy="100584"/>
          </a:xfrm>
          <a:prstGeom prst="ellipse">
            <a:avLst/>
          </a:prstGeom>
          <a:solidFill>
            <a:srgbClr val="D9822B"/>
          </a:solidFill>
          <a:ln w="12700">
            <a:solidFill>
              <a:srgbClr val="D9822B"/>
            </a:solidFill>
            <a:prstDash val="solid"/>
          </a:ln>
        </p:spPr>
      </p:sp>
      <p:sp>
        <p:nvSpPr>
          <p:cNvPr id="37" name="Shape 35"/>
          <p:cNvSpPr/>
          <p:nvPr/>
        </p:nvSpPr>
        <p:spPr>
          <a:xfrm>
            <a:off x="8788787" y="2217033"/>
            <a:ext cx="100584" cy="100584"/>
          </a:xfrm>
          <a:prstGeom prst="ellipse">
            <a:avLst/>
          </a:prstGeom>
          <a:solidFill>
            <a:srgbClr val="D9822B"/>
          </a:solidFill>
          <a:ln w="12700">
            <a:solidFill>
              <a:srgbClr val="D9822B"/>
            </a:solidFill>
            <a:prstDash val="solid"/>
          </a:ln>
        </p:spPr>
      </p:sp>
      <p:sp>
        <p:nvSpPr>
          <p:cNvPr id="38" name="Shape 36"/>
          <p:cNvSpPr/>
          <p:nvPr/>
        </p:nvSpPr>
        <p:spPr>
          <a:xfrm>
            <a:off x="7056562" y="3058144"/>
            <a:ext cx="100584" cy="100584"/>
          </a:xfrm>
          <a:prstGeom prst="ellipse">
            <a:avLst/>
          </a:prstGeom>
          <a:solidFill>
            <a:srgbClr val="D9822B"/>
          </a:solidFill>
          <a:ln w="12700">
            <a:solidFill>
              <a:srgbClr val="D9822B"/>
            </a:solidFill>
            <a:prstDash val="solid"/>
          </a:ln>
        </p:spPr>
      </p:sp>
      <p:sp>
        <p:nvSpPr>
          <p:cNvPr id="39" name="Shape 37"/>
          <p:cNvSpPr/>
          <p:nvPr/>
        </p:nvSpPr>
        <p:spPr>
          <a:xfrm>
            <a:off x="9780558" y="3670881"/>
            <a:ext cx="100584" cy="100584"/>
          </a:xfrm>
          <a:prstGeom prst="ellipse">
            <a:avLst/>
          </a:prstGeom>
          <a:solidFill>
            <a:srgbClr val="D9822B"/>
          </a:solidFill>
          <a:ln w="12700">
            <a:solidFill>
              <a:srgbClr val="D9822B"/>
            </a:solidFill>
            <a:prstDash val="solid"/>
          </a:ln>
        </p:spPr>
      </p:sp>
      <p:sp>
        <p:nvSpPr>
          <p:cNvPr id="40" name="Text 38"/>
          <p:cNvSpPr txBox="1"/>
          <p:nvPr/>
        </p:nvSpPr>
        <p:spPr>
          <a:xfrm>
            <a:off x="6492240" y="4937760"/>
            <a:ext cx="5120640" cy="548640"/>
          </a:xfrm>
          <a:prstGeom prst="rect">
            <a:avLst/>
          </a:prstGeom>
          <a:noFill/>
          <a:ln/>
        </p:spPr>
        <p:txBody>
          <a:bodyPr wrap="square" lIns="0" tIns="0" rIns="0" bIns="0" rtlCol="0" anchor="ctr"/>
          <a:lstStyle/>
          <a:p>
            <a:pPr indent="0" marL="0">
              <a:buNone/>
            </a:pPr>
            <a:r>
              <a:rPr lang="en-US" sz="1400" dirty="0">
                <a:solidFill>
                  <a:srgbClr val="6B6B6B"/>
                </a:solidFill>
                <a:latin typeface="Calibri" pitchFamily="34" charset="0"/>
                <a:ea typeface="Calibri" pitchFamily="34" charset="-122"/>
                <a:cs typeface="Calibri" pitchFamily="34" charset="-120"/>
              </a:rPr>
              <a:t>A piscivore, a sucker-mouthed detritivore, a surface insectivore, a frugivore, an eel-shaped burrower…</a:t>
            </a:r>
            <a:endParaRPr lang="en-US" sz="1400" dirty="0"/>
          </a:p>
        </p:txBody>
      </p:sp>
      <p:sp>
        <p:nvSpPr>
          <p:cNvPr id="41" name="Shape 39"/>
          <p:cNvSpPr/>
          <p:nvPr/>
        </p:nvSpPr>
        <p:spPr>
          <a:xfrm>
            <a:off x="548640" y="5577840"/>
            <a:ext cx="11091672" cy="640080"/>
          </a:xfrm>
          <a:prstGeom prst="roundRect">
            <a:avLst>
              <a:gd name="adj" fmla="val 11429"/>
            </a:avLst>
          </a:prstGeom>
          <a:solidFill>
            <a:srgbClr val="E8F1F7"/>
          </a:solidFill>
          <a:ln w="12700">
            <a:solidFill>
              <a:srgbClr val="E8F1F7"/>
            </a:solidFill>
            <a:prstDash val="solid"/>
          </a:ln>
        </p:spPr>
      </p:sp>
      <p:sp>
        <p:nvSpPr>
          <p:cNvPr id="42" name="Text 40"/>
          <p:cNvSpPr txBox="1"/>
          <p:nvPr/>
        </p:nvSpPr>
        <p:spPr>
          <a:xfrm>
            <a:off x="685800" y="5577840"/>
            <a:ext cx="10817352" cy="640080"/>
          </a:xfrm>
          <a:prstGeom prst="rect">
            <a:avLst/>
          </a:prstGeom>
          <a:noFill/>
          <a:ln/>
        </p:spPr>
        <p:txBody>
          <a:bodyPr wrap="square" lIns="50800" tIns="50800" rIns="50800" bIns="50800" rtlCol="0" anchor="ctr"/>
          <a:lstStyle/>
          <a:p>
            <a:pPr indent="0" marL="0">
              <a:buNone/>
            </a:pPr>
            <a:r>
              <a:rPr lang="en-US" sz="1600" dirty="0">
                <a:solidFill>
                  <a:srgbClr val="0B3C5D"/>
                </a:solidFill>
                <a:latin typeface="Calibri" pitchFamily="34" charset="0"/>
                <a:ea typeface="Calibri" pitchFamily="34" charset="-122"/>
                <a:cs typeface="Calibri" pitchFamily="34" charset="-120"/>
              </a:rPr>
              <a:t>Same species richness — completely different rivers. Which one would lose more if one species disappeared?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Why traits? Three things traits let us do</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0 · Introduction</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731520" cy="731520"/>
          </a:xfrm>
          <a:prstGeom prst="roundRect">
            <a:avLst>
              <a:gd name="adj" fmla="val 15000"/>
            </a:avLst>
          </a:prstGeom>
          <a:solidFill>
            <a:srgbClr val="D9822B"/>
          </a:solidFill>
          <a:ln w="12700">
            <a:solidFill>
              <a:srgbClr val="D9822B"/>
            </a:solidFill>
            <a:prstDash val="solid"/>
          </a:ln>
        </p:spPr>
      </p:sp>
      <p:sp>
        <p:nvSpPr>
          <p:cNvPr id="6" name="Text 4"/>
          <p:cNvSpPr txBox="1"/>
          <p:nvPr/>
        </p:nvSpPr>
        <p:spPr>
          <a:xfrm>
            <a:off x="548640" y="1554480"/>
            <a:ext cx="731520" cy="7315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5"/>
          <p:cNvSpPr txBox="1"/>
          <p:nvPr/>
        </p:nvSpPr>
        <p:spPr>
          <a:xfrm>
            <a:off x="1554480" y="1463040"/>
            <a:ext cx="10085832" cy="457200"/>
          </a:xfrm>
          <a:prstGeom prst="rect">
            <a:avLst/>
          </a:prstGeom>
          <a:noFill/>
          <a:ln/>
        </p:spPr>
        <p:txBody>
          <a:bodyPr wrap="square" lIns="0" tIns="0" rIns="0" bIns="0" rtlCol="0" anchor="ctr"/>
          <a:lstStyle/>
          <a:p>
            <a:pPr indent="0" marL="0">
              <a:buNone/>
            </a:pPr>
            <a:r>
              <a:rPr lang="en-US" sz="2000" b="1" dirty="0">
                <a:solidFill>
                  <a:srgbClr val="0B3C5D"/>
                </a:solidFill>
                <a:latin typeface="Calibri" pitchFamily="34" charset="0"/>
                <a:ea typeface="Calibri" pitchFamily="34" charset="-122"/>
                <a:cs typeface="Calibri" pitchFamily="34" charset="-120"/>
              </a:rPr>
              <a:t>Describe communities by function</a:t>
            </a:r>
            <a:endParaRPr lang="en-US" sz="2000" dirty="0"/>
          </a:p>
        </p:txBody>
      </p:sp>
      <p:sp>
        <p:nvSpPr>
          <p:cNvPr id="8" name="Text 6"/>
          <p:cNvSpPr txBox="1"/>
          <p:nvPr/>
        </p:nvSpPr>
        <p:spPr>
          <a:xfrm>
            <a:off x="1554480" y="1920240"/>
            <a:ext cx="10085832" cy="914400"/>
          </a:xfrm>
          <a:prstGeom prst="rect">
            <a:avLst/>
          </a:prstGeom>
          <a:noFill/>
          <a:ln/>
        </p:spPr>
        <p:txBody>
          <a:bodyPr wrap="square" lIns="0" tIns="0" rIns="0" bIns="0" rtlCol="0" anchor="t"/>
          <a:lstStyle/>
          <a:p>
            <a:pPr indent="0" marL="0">
              <a:buNone/>
            </a:pPr>
            <a:r>
              <a:rPr lang="en-US" sz="1500" dirty="0">
                <a:solidFill>
                  <a:srgbClr val="222222"/>
                </a:solidFill>
                <a:latin typeface="Calibri" pitchFamily="34" charset="0"/>
                <a:ea typeface="Calibri" pitchFamily="34" charset="-122"/>
                <a:cs typeface="Calibri" pitchFamily="34" charset="-120"/>
              </a:rPr>
              <a:t>Body length, mouth position, gill-raker density connect the species list to processes: feeding, swimming, growing, reproducing.</a:t>
            </a:r>
            <a:endParaRPr lang="en-US" sz="1500" dirty="0"/>
          </a:p>
        </p:txBody>
      </p:sp>
      <p:sp>
        <p:nvSpPr>
          <p:cNvPr id="9" name="Shape 7"/>
          <p:cNvSpPr/>
          <p:nvPr/>
        </p:nvSpPr>
        <p:spPr>
          <a:xfrm>
            <a:off x="548640" y="3108960"/>
            <a:ext cx="731520" cy="731520"/>
          </a:xfrm>
          <a:prstGeom prst="roundRect">
            <a:avLst>
              <a:gd name="adj" fmla="val 15000"/>
            </a:avLst>
          </a:prstGeom>
          <a:solidFill>
            <a:srgbClr val="D9822B"/>
          </a:solidFill>
          <a:ln w="12700">
            <a:solidFill>
              <a:srgbClr val="D9822B"/>
            </a:solidFill>
            <a:prstDash val="solid"/>
          </a:ln>
        </p:spPr>
      </p:sp>
      <p:sp>
        <p:nvSpPr>
          <p:cNvPr id="10" name="Text 8"/>
          <p:cNvSpPr txBox="1"/>
          <p:nvPr/>
        </p:nvSpPr>
        <p:spPr>
          <a:xfrm>
            <a:off x="548640" y="3108960"/>
            <a:ext cx="731520" cy="7315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1554480" y="3017520"/>
            <a:ext cx="10085832" cy="457200"/>
          </a:xfrm>
          <a:prstGeom prst="rect">
            <a:avLst/>
          </a:prstGeom>
          <a:noFill/>
          <a:ln/>
        </p:spPr>
        <p:txBody>
          <a:bodyPr wrap="square" lIns="0" tIns="0" rIns="0" bIns="0" rtlCol="0" anchor="ctr"/>
          <a:lstStyle/>
          <a:p>
            <a:pPr indent="0" marL="0">
              <a:buNone/>
            </a:pPr>
            <a:r>
              <a:rPr lang="en-US" sz="2000" b="1" dirty="0">
                <a:solidFill>
                  <a:srgbClr val="0B3C5D"/>
                </a:solidFill>
                <a:latin typeface="Calibri" pitchFamily="34" charset="0"/>
                <a:ea typeface="Calibri" pitchFamily="34" charset="-122"/>
                <a:cs typeface="Calibri" pitchFamily="34" charset="-120"/>
              </a:rPr>
              <a:t>Compare communities that share no species</a:t>
            </a:r>
            <a:endParaRPr lang="en-US" sz="2000" dirty="0"/>
          </a:p>
        </p:txBody>
      </p:sp>
      <p:sp>
        <p:nvSpPr>
          <p:cNvPr id="12" name="Text 10"/>
          <p:cNvSpPr txBox="1"/>
          <p:nvPr/>
        </p:nvSpPr>
        <p:spPr>
          <a:xfrm>
            <a:off x="1554480" y="3474720"/>
            <a:ext cx="10085832" cy="914400"/>
          </a:xfrm>
          <a:prstGeom prst="rect">
            <a:avLst/>
          </a:prstGeom>
          <a:noFill/>
          <a:ln/>
        </p:spPr>
        <p:txBody>
          <a:bodyPr wrap="square" lIns="0" tIns="0" rIns="0" bIns="0" rtlCol="0" anchor="t"/>
          <a:lstStyle/>
          <a:p>
            <a:pPr indent="0" marL="0">
              <a:buNone/>
            </a:pPr>
            <a:r>
              <a:rPr lang="en-US" sz="1500" dirty="0">
                <a:solidFill>
                  <a:srgbClr val="222222"/>
                </a:solidFill>
                <a:latin typeface="Calibri" pitchFamily="34" charset="0"/>
                <a:ea typeface="Calibri" pitchFamily="34" charset="-122"/>
                <a:cs typeface="Calibri" pitchFamily="34" charset="-120"/>
              </a:rPr>
              <a:t>An Amazonian and a Loire river share no species, but their distributions of body size, shape and trophic position can be compared — across regions, continents and taxa.</a:t>
            </a:r>
            <a:endParaRPr lang="en-US" sz="1500" dirty="0"/>
          </a:p>
        </p:txBody>
      </p:sp>
      <p:sp>
        <p:nvSpPr>
          <p:cNvPr id="13" name="Shape 11"/>
          <p:cNvSpPr/>
          <p:nvPr/>
        </p:nvSpPr>
        <p:spPr>
          <a:xfrm>
            <a:off x="548640" y="4663440"/>
            <a:ext cx="731520" cy="731520"/>
          </a:xfrm>
          <a:prstGeom prst="roundRect">
            <a:avLst>
              <a:gd name="adj" fmla="val 15000"/>
            </a:avLst>
          </a:prstGeom>
          <a:solidFill>
            <a:srgbClr val="D9822B"/>
          </a:solidFill>
          <a:ln w="12700">
            <a:solidFill>
              <a:srgbClr val="D9822B"/>
            </a:solidFill>
            <a:prstDash val="solid"/>
          </a:ln>
        </p:spPr>
      </p:sp>
      <p:sp>
        <p:nvSpPr>
          <p:cNvPr id="14" name="Text 12"/>
          <p:cNvSpPr txBox="1"/>
          <p:nvPr/>
        </p:nvSpPr>
        <p:spPr>
          <a:xfrm>
            <a:off x="548640" y="4663440"/>
            <a:ext cx="731520" cy="7315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5" name="Text 13"/>
          <p:cNvSpPr txBox="1"/>
          <p:nvPr/>
        </p:nvSpPr>
        <p:spPr>
          <a:xfrm>
            <a:off x="1554480" y="4572000"/>
            <a:ext cx="10085832" cy="457200"/>
          </a:xfrm>
          <a:prstGeom prst="rect">
            <a:avLst/>
          </a:prstGeom>
          <a:noFill/>
          <a:ln/>
        </p:spPr>
        <p:txBody>
          <a:bodyPr wrap="square" lIns="0" tIns="0" rIns="0" bIns="0" rtlCol="0" anchor="ctr"/>
          <a:lstStyle/>
          <a:p>
            <a:pPr indent="0" marL="0">
              <a:buNone/>
            </a:pPr>
            <a:r>
              <a:rPr lang="en-US" sz="2000" b="1" dirty="0">
                <a:solidFill>
                  <a:srgbClr val="0B3C5D"/>
                </a:solidFill>
                <a:latin typeface="Calibri" pitchFamily="34" charset="0"/>
                <a:ea typeface="Calibri" pitchFamily="34" charset="-122"/>
                <a:cs typeface="Calibri" pitchFamily="34" charset="-120"/>
              </a:rPr>
              <a:t>Link composition to environment and to functioning</a:t>
            </a:r>
            <a:endParaRPr lang="en-US" sz="2000" dirty="0"/>
          </a:p>
        </p:txBody>
      </p:sp>
      <p:sp>
        <p:nvSpPr>
          <p:cNvPr id="16" name="Text 14"/>
          <p:cNvSpPr txBox="1"/>
          <p:nvPr/>
        </p:nvSpPr>
        <p:spPr>
          <a:xfrm>
            <a:off x="1554480" y="5029200"/>
            <a:ext cx="10085832" cy="914400"/>
          </a:xfrm>
          <a:prstGeom prst="rect">
            <a:avLst/>
          </a:prstGeom>
          <a:noFill/>
          <a:ln/>
        </p:spPr>
        <p:txBody>
          <a:bodyPr wrap="square" lIns="0" tIns="0" rIns="0" bIns="0" rtlCol="0" anchor="t"/>
          <a:lstStyle/>
          <a:p>
            <a:pPr indent="0" marL="0">
              <a:buNone/>
            </a:pPr>
            <a:r>
              <a:rPr lang="en-US" sz="1500" dirty="0">
                <a:solidFill>
                  <a:srgbClr val="222222"/>
                </a:solidFill>
                <a:latin typeface="Calibri" pitchFamily="34" charset="0"/>
                <a:ea typeface="Calibri" pitchFamily="34" charset="-122"/>
                <a:cs typeface="Calibri" pitchFamily="34" charset="-120"/>
              </a:rPr>
              <a:t>Which traits let a species persist under a given temperature or flow? Which traits determine biomass production or nutrient cycling? The response–effect framework.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Why freshwater fishes?</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0 · Introduction</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1463040"/>
            <a:ext cx="5394960" cy="1691640"/>
          </a:xfrm>
          <a:prstGeom prst="roundRect">
            <a:avLst>
              <a:gd name="adj" fmla="val 5405"/>
            </a:avLst>
          </a:prstGeom>
          <a:solidFill>
            <a:srgbClr val="E8F1F7"/>
          </a:solidFill>
          <a:ln w="12700">
            <a:solidFill>
              <a:srgbClr val="E8F1F7"/>
            </a:solidFill>
            <a:prstDash val="solid"/>
          </a:ln>
        </p:spPr>
      </p:sp>
      <p:sp>
        <p:nvSpPr>
          <p:cNvPr id="6" name="Text 4"/>
          <p:cNvSpPr txBox="1"/>
          <p:nvPr/>
        </p:nvSpPr>
        <p:spPr>
          <a:xfrm>
            <a:off x="731520" y="1600200"/>
            <a:ext cx="5029200" cy="822960"/>
          </a:xfrm>
          <a:prstGeom prst="rect">
            <a:avLst/>
          </a:prstGeom>
          <a:noFill/>
          <a:ln/>
        </p:spPr>
        <p:txBody>
          <a:bodyPr wrap="square" lIns="0" tIns="0" rIns="0" bIns="0" rtlCol="0" anchor="ctr"/>
          <a:lstStyle/>
          <a:p>
            <a:pPr indent="0" marL="0">
              <a:buNone/>
            </a:pPr>
            <a:r>
              <a:rPr lang="en-US" sz="4000" b="1" dirty="0">
                <a:solidFill>
                  <a:srgbClr val="0B3C5D"/>
                </a:solidFill>
                <a:latin typeface="Cambria" pitchFamily="34" charset="0"/>
                <a:ea typeface="Cambria" pitchFamily="34" charset="-122"/>
                <a:cs typeface="Cambria" pitchFamily="34" charset="-120"/>
              </a:rPr>
              <a:t>~18,000</a:t>
            </a:r>
            <a:endParaRPr lang="en-US" sz="4000" dirty="0"/>
          </a:p>
        </p:txBody>
      </p:sp>
      <p:sp>
        <p:nvSpPr>
          <p:cNvPr id="7" name="Text 5"/>
          <p:cNvSpPr txBox="1"/>
          <p:nvPr/>
        </p:nvSpPr>
        <p:spPr>
          <a:xfrm>
            <a:off x="731520" y="2423160"/>
            <a:ext cx="5029200" cy="64008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freshwater species — about half of all fishes</a:t>
            </a:r>
            <a:endParaRPr lang="en-US" sz="1500" dirty="0"/>
          </a:p>
        </p:txBody>
      </p:sp>
      <p:sp>
        <p:nvSpPr>
          <p:cNvPr id="8" name="Shape 6"/>
          <p:cNvSpPr/>
          <p:nvPr/>
        </p:nvSpPr>
        <p:spPr>
          <a:xfrm>
            <a:off x="6217920" y="1463040"/>
            <a:ext cx="5394960" cy="1691640"/>
          </a:xfrm>
          <a:prstGeom prst="roundRect">
            <a:avLst>
              <a:gd name="adj" fmla="val 5405"/>
            </a:avLst>
          </a:prstGeom>
          <a:solidFill>
            <a:srgbClr val="E8F1F7"/>
          </a:solidFill>
          <a:ln w="12700">
            <a:solidFill>
              <a:srgbClr val="E8F1F7"/>
            </a:solidFill>
            <a:prstDash val="solid"/>
          </a:ln>
        </p:spPr>
      </p:sp>
      <p:sp>
        <p:nvSpPr>
          <p:cNvPr id="9" name="Text 7"/>
          <p:cNvSpPr txBox="1"/>
          <p:nvPr/>
        </p:nvSpPr>
        <p:spPr>
          <a:xfrm>
            <a:off x="6400800" y="1600200"/>
            <a:ext cx="5029200" cy="822960"/>
          </a:xfrm>
          <a:prstGeom prst="rect">
            <a:avLst/>
          </a:prstGeom>
          <a:noFill/>
          <a:ln/>
        </p:spPr>
        <p:txBody>
          <a:bodyPr wrap="square" lIns="0" tIns="0" rIns="0" bIns="0" rtlCol="0" anchor="ctr"/>
          <a:lstStyle/>
          <a:p>
            <a:pPr indent="0" marL="0">
              <a:buNone/>
            </a:pPr>
            <a:r>
              <a:rPr lang="en-US" sz="4000" b="1" dirty="0">
                <a:solidFill>
                  <a:srgbClr val="0B3C5D"/>
                </a:solidFill>
                <a:latin typeface="Cambria" pitchFamily="34" charset="0"/>
                <a:ea typeface="Cambria" pitchFamily="34" charset="-122"/>
                <a:cs typeface="Cambria" pitchFamily="34" charset="-120"/>
              </a:rPr>
              <a:t>&lt; 1 %</a:t>
            </a:r>
            <a:endParaRPr lang="en-US" sz="4000" dirty="0"/>
          </a:p>
        </p:txBody>
      </p:sp>
      <p:sp>
        <p:nvSpPr>
          <p:cNvPr id="10" name="Text 8"/>
          <p:cNvSpPr txBox="1"/>
          <p:nvPr/>
        </p:nvSpPr>
        <p:spPr>
          <a:xfrm>
            <a:off x="6400800" y="2423160"/>
            <a:ext cx="5029200" cy="64008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of the Earth’s surface</a:t>
            </a:r>
            <a:endParaRPr lang="en-US" sz="1500" dirty="0"/>
          </a:p>
        </p:txBody>
      </p:sp>
      <p:sp>
        <p:nvSpPr>
          <p:cNvPr id="11" name="Shape 9"/>
          <p:cNvSpPr/>
          <p:nvPr/>
        </p:nvSpPr>
        <p:spPr>
          <a:xfrm>
            <a:off x="548640" y="3383280"/>
            <a:ext cx="5394960" cy="1691640"/>
          </a:xfrm>
          <a:prstGeom prst="roundRect">
            <a:avLst>
              <a:gd name="adj" fmla="val 5405"/>
            </a:avLst>
          </a:prstGeom>
          <a:solidFill>
            <a:srgbClr val="E8F1F7"/>
          </a:solidFill>
          <a:ln w="12700">
            <a:solidFill>
              <a:srgbClr val="E8F1F7"/>
            </a:solidFill>
            <a:prstDash val="solid"/>
          </a:ln>
        </p:spPr>
      </p:sp>
      <p:sp>
        <p:nvSpPr>
          <p:cNvPr id="12" name="Text 10"/>
          <p:cNvSpPr txBox="1"/>
          <p:nvPr/>
        </p:nvSpPr>
        <p:spPr>
          <a:xfrm>
            <a:off x="731520" y="3520440"/>
            <a:ext cx="5029200" cy="822960"/>
          </a:xfrm>
          <a:prstGeom prst="rect">
            <a:avLst/>
          </a:prstGeom>
          <a:noFill/>
          <a:ln/>
        </p:spPr>
        <p:txBody>
          <a:bodyPr wrap="square" lIns="0" tIns="0" rIns="0" bIns="0" rtlCol="0" anchor="ctr"/>
          <a:lstStyle/>
          <a:p>
            <a:pPr indent="0" marL="0">
              <a:buNone/>
            </a:pPr>
            <a:r>
              <a:rPr lang="en-US" sz="4000" b="1" dirty="0">
                <a:solidFill>
                  <a:srgbClr val="0B3C5D"/>
                </a:solidFill>
                <a:latin typeface="Cambria" pitchFamily="34" charset="0"/>
                <a:ea typeface="Cambria" pitchFamily="34" charset="-122"/>
                <a:cs typeface="Cambria" pitchFamily="34" charset="-120"/>
              </a:rPr>
              <a:t>2 m → 1 cm</a:t>
            </a:r>
            <a:endParaRPr lang="en-US" sz="4000" dirty="0"/>
          </a:p>
        </p:txBody>
      </p:sp>
      <p:sp>
        <p:nvSpPr>
          <p:cNvPr id="13" name="Text 11"/>
          <p:cNvSpPr txBox="1"/>
          <p:nvPr/>
        </p:nvSpPr>
        <p:spPr>
          <a:xfrm>
            <a:off x="731520" y="4343400"/>
            <a:ext cx="5029200" cy="64008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from Arapaima to killifishes: an enormous morphological range</a:t>
            </a:r>
            <a:endParaRPr lang="en-US" sz="1500" dirty="0"/>
          </a:p>
        </p:txBody>
      </p:sp>
      <p:sp>
        <p:nvSpPr>
          <p:cNvPr id="14" name="Shape 12"/>
          <p:cNvSpPr/>
          <p:nvPr/>
        </p:nvSpPr>
        <p:spPr>
          <a:xfrm>
            <a:off x="6217920" y="3383280"/>
            <a:ext cx="5394960" cy="1691640"/>
          </a:xfrm>
          <a:prstGeom prst="roundRect">
            <a:avLst>
              <a:gd name="adj" fmla="val 5405"/>
            </a:avLst>
          </a:prstGeom>
          <a:solidFill>
            <a:srgbClr val="E8F1F7"/>
          </a:solidFill>
          <a:ln w="12700">
            <a:solidFill>
              <a:srgbClr val="E8F1F7"/>
            </a:solidFill>
            <a:prstDash val="solid"/>
          </a:ln>
        </p:spPr>
      </p:sp>
      <p:sp>
        <p:nvSpPr>
          <p:cNvPr id="15" name="Text 13"/>
          <p:cNvSpPr txBox="1"/>
          <p:nvPr/>
        </p:nvSpPr>
        <p:spPr>
          <a:xfrm>
            <a:off x="6400800" y="3520440"/>
            <a:ext cx="5029200" cy="822960"/>
          </a:xfrm>
          <a:prstGeom prst="rect">
            <a:avLst/>
          </a:prstGeom>
          <a:noFill/>
          <a:ln/>
        </p:spPr>
        <p:txBody>
          <a:bodyPr wrap="square" lIns="0" tIns="0" rIns="0" bIns="0" rtlCol="0" anchor="ctr"/>
          <a:lstStyle/>
          <a:p>
            <a:pPr indent="0" marL="0">
              <a:buNone/>
            </a:pPr>
            <a:r>
              <a:rPr lang="en-US" sz="4000" b="1" dirty="0">
                <a:solidFill>
                  <a:srgbClr val="0B3C5D"/>
                </a:solidFill>
                <a:latin typeface="Cambria" pitchFamily="34" charset="0"/>
                <a:ea typeface="Cambria" pitchFamily="34" charset="-122"/>
                <a:cs typeface="Cambria" pitchFamily="34" charset="-120"/>
              </a:rPr>
              <a:t>~1 in 4</a:t>
            </a:r>
            <a:endParaRPr lang="en-US" sz="4000" dirty="0"/>
          </a:p>
        </p:txBody>
      </p:sp>
      <p:sp>
        <p:nvSpPr>
          <p:cNvPr id="16" name="Text 14"/>
          <p:cNvSpPr txBox="1"/>
          <p:nvPr/>
        </p:nvSpPr>
        <p:spPr>
          <a:xfrm>
            <a:off x="6400800" y="4343400"/>
            <a:ext cx="5029200" cy="640080"/>
          </a:xfrm>
          <a:prstGeom prst="rect">
            <a:avLst/>
          </a:prstGeom>
          <a:noFill/>
          <a:ln/>
        </p:spPr>
        <p:txBody>
          <a:bodyPr wrap="square" lIns="0" tIns="0" rIns="0" bIns="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assessed freshwater fish species is threatened (IUCN Red List)</a:t>
            </a:r>
            <a:endParaRPr lang="en-US" sz="1500" dirty="0"/>
          </a:p>
        </p:txBody>
      </p:sp>
      <p:sp>
        <p:nvSpPr>
          <p:cNvPr id="17" name="Shape 15"/>
          <p:cNvSpPr/>
          <p:nvPr/>
        </p:nvSpPr>
        <p:spPr>
          <a:xfrm>
            <a:off x="548640" y="5440680"/>
            <a:ext cx="11091672" cy="777240"/>
          </a:xfrm>
          <a:prstGeom prst="roundRect">
            <a:avLst>
              <a:gd name="adj" fmla="val 9412"/>
            </a:avLst>
          </a:prstGeom>
          <a:solidFill>
            <a:srgbClr val="F3F4F6"/>
          </a:solidFill>
          <a:ln w="12700">
            <a:solidFill>
              <a:srgbClr val="F3F4F6"/>
            </a:solidFill>
            <a:prstDash val="solid"/>
          </a:ln>
        </p:spPr>
      </p:sp>
      <p:sp>
        <p:nvSpPr>
          <p:cNvPr id="18" name="Text 16"/>
          <p:cNvSpPr txBox="1"/>
          <p:nvPr/>
        </p:nvSpPr>
        <p:spPr>
          <a:xfrm>
            <a:off x="685800" y="5440680"/>
            <a:ext cx="10817352" cy="777240"/>
          </a:xfrm>
          <a:prstGeom prst="rect">
            <a:avLst/>
          </a:prstGeom>
          <a:noFill/>
          <a:ln/>
        </p:spPr>
        <p:txBody>
          <a:bodyPr wrap="square" lIns="50800" tIns="50800" rIns="50800" bIns="50800" rtlCol="0" anchor="ctr"/>
          <a:lstStyle/>
          <a:p>
            <a:pPr indent="0" marL="0">
              <a:buNone/>
            </a:pPr>
            <a:r>
              <a:rPr lang="en-US" sz="1500" dirty="0">
                <a:solidFill>
                  <a:srgbClr val="222222"/>
                </a:solidFill>
                <a:latin typeface="Calibri" pitchFamily="34" charset="0"/>
                <a:ea typeface="Calibri" pitchFamily="34" charset="-122"/>
                <a:cs typeface="Calibri" pitchFamily="34" charset="-120"/>
              </a:rPr>
              <a:t>Body shape constrains how a fish swims and where it feeds: morphology has a direct mechanistic meaning — and the question of what we lose when species go extinct is concrete.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The road map: three steps, three blocks, three groups</a:t>
            </a:r>
            <a:endParaRPr lang="en-US" sz="3000" dirty="0"/>
          </a:p>
        </p:txBody>
      </p:sp>
      <p:sp>
        <p:nvSpPr>
          <p:cNvPr id="3" name="Text 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B6B"/>
                </a:solidFill>
                <a:latin typeface="Calibri" pitchFamily="34" charset="0"/>
                <a:ea typeface="Calibri" pitchFamily="34" charset="-122"/>
                <a:cs typeface="Calibri" pitchFamily="34" charset="-120"/>
              </a:rPr>
              <a:t>Master FBE 2026 · Session 1 · Block 0 · Introduction</a:t>
            </a:r>
            <a:endParaRPr lang="en-US" sz="1000" dirty="0"/>
          </a:p>
        </p:txBody>
      </p:sp>
      <p:sp>
        <p:nvSpPr>
          <p:cNvPr id="4" name="Text 2"/>
          <p:cNvSpPr txBox="1"/>
          <p:nvPr/>
        </p:nvSpPr>
        <p:spPr>
          <a:xfrm>
            <a:off x="10725912" y="6446520"/>
            <a:ext cx="914400" cy="274320"/>
          </a:xfrm>
          <a:prstGeom prst="rect">
            <a:avLst/>
          </a:prstGeom>
          <a:noFill/>
          <a:ln/>
        </p:spPr>
        <p:txBody>
          <a:bodyPr wrap="square" lIns="0" tIns="0" rIns="0" bIns="0" rtlCol="0" anchor="ctr"/>
          <a:lstStyle/>
          <a:p>
            <a:pPr algn="r" indent="0" marL="0">
              <a:buNone/>
            </a:pPr>
            <a:r>
              <a:rPr lang="en-US" sz="1000" dirty="0">
                <a:solidFill>
                  <a:srgbClr val="6B6B6B"/>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813816" y="1828800"/>
            <a:ext cx="2331720" cy="960120"/>
          </a:xfrm>
          <a:prstGeom prst="roundRect">
            <a:avLst>
              <a:gd name="adj" fmla="val 11429"/>
            </a:avLst>
          </a:prstGeom>
          <a:solidFill>
            <a:srgbClr val="8A9BA8"/>
          </a:solidFill>
          <a:ln w="12700">
            <a:solidFill>
              <a:srgbClr val="8A9BA8"/>
            </a:solidFill>
            <a:prstDash val="solid"/>
          </a:ln>
        </p:spPr>
      </p:sp>
      <p:sp>
        <p:nvSpPr>
          <p:cNvPr id="6" name="Text 4"/>
          <p:cNvSpPr txBox="1"/>
          <p:nvPr/>
        </p:nvSpPr>
        <p:spPr>
          <a:xfrm>
            <a:off x="813816" y="1828800"/>
            <a:ext cx="2331720" cy="96012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Species × traits table</a:t>
            </a:r>
            <a:endParaRPr lang="en-US" sz="1300" dirty="0"/>
          </a:p>
        </p:txBody>
      </p:sp>
      <p:sp>
        <p:nvSpPr>
          <p:cNvPr id="7" name="Shape 5"/>
          <p:cNvSpPr/>
          <p:nvPr/>
        </p:nvSpPr>
        <p:spPr>
          <a:xfrm>
            <a:off x="3191256" y="2148840"/>
            <a:ext cx="320040" cy="320040"/>
          </a:xfrm>
          <a:prstGeom prst="rightArrow">
            <a:avLst/>
          </a:prstGeom>
          <a:solidFill>
            <a:srgbClr val="B8C4CE"/>
          </a:solidFill>
          <a:ln w="12700">
            <a:solidFill>
              <a:srgbClr val="B8C4CE"/>
            </a:solidFill>
            <a:prstDash val="solid"/>
          </a:ln>
        </p:spPr>
      </p:sp>
      <p:sp>
        <p:nvSpPr>
          <p:cNvPr id="8" name="Shape 6"/>
          <p:cNvSpPr/>
          <p:nvPr/>
        </p:nvSpPr>
        <p:spPr>
          <a:xfrm>
            <a:off x="3557016" y="1828800"/>
            <a:ext cx="2331720" cy="960120"/>
          </a:xfrm>
          <a:prstGeom prst="roundRect">
            <a:avLst>
              <a:gd name="adj" fmla="val 11429"/>
            </a:avLst>
          </a:prstGeom>
          <a:solidFill>
            <a:srgbClr val="1D6F9E"/>
          </a:solidFill>
          <a:ln w="12700">
            <a:solidFill>
              <a:srgbClr val="1D6F9E"/>
            </a:solidFill>
            <a:prstDash val="solid"/>
          </a:ln>
        </p:spPr>
      </p:sp>
      <p:sp>
        <p:nvSpPr>
          <p:cNvPr id="9" name="Text 7"/>
          <p:cNvSpPr txBox="1"/>
          <p:nvPr/>
        </p:nvSpPr>
        <p:spPr>
          <a:xfrm>
            <a:off x="3557016" y="1828800"/>
            <a:ext cx="2331720" cy="96012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Functional space</a:t>
            </a:r>
            <a:endParaRPr lang="en-US" sz="1300" dirty="0"/>
          </a:p>
        </p:txBody>
      </p:sp>
      <p:sp>
        <p:nvSpPr>
          <p:cNvPr id="10" name="Shape 8"/>
          <p:cNvSpPr/>
          <p:nvPr/>
        </p:nvSpPr>
        <p:spPr>
          <a:xfrm>
            <a:off x="5934456" y="2148840"/>
            <a:ext cx="320040" cy="320040"/>
          </a:xfrm>
          <a:prstGeom prst="rightArrow">
            <a:avLst/>
          </a:prstGeom>
          <a:solidFill>
            <a:srgbClr val="B8C4CE"/>
          </a:solidFill>
          <a:ln w="12700">
            <a:solidFill>
              <a:srgbClr val="B8C4CE"/>
            </a:solidFill>
            <a:prstDash val="solid"/>
          </a:ln>
        </p:spPr>
      </p:sp>
      <p:sp>
        <p:nvSpPr>
          <p:cNvPr id="11" name="Text 9"/>
          <p:cNvSpPr txBox="1"/>
          <p:nvPr/>
        </p:nvSpPr>
        <p:spPr>
          <a:xfrm>
            <a:off x="3557016" y="2880360"/>
            <a:ext cx="2331720" cy="320040"/>
          </a:xfrm>
          <a:prstGeom prst="rect">
            <a:avLst/>
          </a:prstGeom>
          <a:noFill/>
          <a:ln/>
        </p:spPr>
        <p:txBody>
          <a:bodyPr wrap="square" lIns="0" tIns="0" rIns="0" bIns="0" rtlCol="0" anchor="ctr"/>
          <a:lstStyle/>
          <a:p>
            <a:pPr algn="ctr" indent="0" marL="0">
              <a:buNone/>
            </a:pPr>
            <a:r>
              <a:rPr lang="en-US" sz="1200" dirty="0">
                <a:solidFill>
                  <a:srgbClr val="6B6B6B"/>
                </a:solidFill>
                <a:latin typeface="Calibri" pitchFamily="34" charset="0"/>
                <a:ea typeface="Calibri" pitchFamily="34" charset="-122"/>
                <a:cs typeface="Calibri" pitchFamily="34" charset="-120"/>
              </a:rPr>
              <a:t>Block 1  ·  Group A</a:t>
            </a:r>
            <a:endParaRPr lang="en-US" sz="1200" dirty="0"/>
          </a:p>
        </p:txBody>
      </p:sp>
      <p:sp>
        <p:nvSpPr>
          <p:cNvPr id="12" name="Shape 10"/>
          <p:cNvSpPr/>
          <p:nvPr/>
        </p:nvSpPr>
        <p:spPr>
          <a:xfrm>
            <a:off x="6300216" y="1828800"/>
            <a:ext cx="2331720" cy="960120"/>
          </a:xfrm>
          <a:prstGeom prst="roundRect">
            <a:avLst>
              <a:gd name="adj" fmla="val 11429"/>
            </a:avLst>
          </a:prstGeom>
          <a:solidFill>
            <a:srgbClr val="1D6F9E"/>
          </a:solidFill>
          <a:ln w="12700">
            <a:solidFill>
              <a:srgbClr val="1D6F9E"/>
            </a:solidFill>
            <a:prstDash val="solid"/>
          </a:ln>
        </p:spPr>
      </p:sp>
      <p:sp>
        <p:nvSpPr>
          <p:cNvPr id="13" name="Text 11"/>
          <p:cNvSpPr txBox="1"/>
          <p:nvPr/>
        </p:nvSpPr>
        <p:spPr>
          <a:xfrm>
            <a:off x="6300216" y="1828800"/>
            <a:ext cx="2331720" cy="96012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Community indices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(CWM · FRic · FEve · FDiv · FDis)</a:t>
            </a:r>
            <a:endParaRPr lang="en-US" sz="1300" dirty="0"/>
          </a:p>
        </p:txBody>
      </p:sp>
      <p:sp>
        <p:nvSpPr>
          <p:cNvPr id="14" name="Shape 12"/>
          <p:cNvSpPr/>
          <p:nvPr/>
        </p:nvSpPr>
        <p:spPr>
          <a:xfrm>
            <a:off x="8677656" y="2148840"/>
            <a:ext cx="320040" cy="320040"/>
          </a:xfrm>
          <a:prstGeom prst="rightArrow">
            <a:avLst/>
          </a:prstGeom>
          <a:solidFill>
            <a:srgbClr val="B8C4CE"/>
          </a:solidFill>
          <a:ln w="12700">
            <a:solidFill>
              <a:srgbClr val="B8C4CE"/>
            </a:solidFill>
            <a:prstDash val="solid"/>
          </a:ln>
        </p:spPr>
      </p:sp>
      <p:sp>
        <p:nvSpPr>
          <p:cNvPr id="15" name="Text 13"/>
          <p:cNvSpPr txBox="1"/>
          <p:nvPr/>
        </p:nvSpPr>
        <p:spPr>
          <a:xfrm>
            <a:off x="6300216" y="2880360"/>
            <a:ext cx="2331720" cy="320040"/>
          </a:xfrm>
          <a:prstGeom prst="rect">
            <a:avLst/>
          </a:prstGeom>
          <a:noFill/>
          <a:ln/>
        </p:spPr>
        <p:txBody>
          <a:bodyPr wrap="square" lIns="0" tIns="0" rIns="0" bIns="0" rtlCol="0" anchor="ctr"/>
          <a:lstStyle/>
          <a:p>
            <a:pPr algn="ctr" indent="0" marL="0">
              <a:buNone/>
            </a:pPr>
            <a:r>
              <a:rPr lang="en-US" sz="1200" dirty="0">
                <a:solidFill>
                  <a:srgbClr val="6B6B6B"/>
                </a:solidFill>
                <a:latin typeface="Calibri" pitchFamily="34" charset="0"/>
                <a:ea typeface="Calibri" pitchFamily="34" charset="-122"/>
                <a:cs typeface="Calibri" pitchFamily="34" charset="-120"/>
              </a:rPr>
              <a:t>Block 2  ·  Group B</a:t>
            </a:r>
            <a:endParaRPr lang="en-US" sz="1200" dirty="0"/>
          </a:p>
        </p:txBody>
      </p:sp>
      <p:sp>
        <p:nvSpPr>
          <p:cNvPr id="16" name="Shape 14"/>
          <p:cNvSpPr/>
          <p:nvPr/>
        </p:nvSpPr>
        <p:spPr>
          <a:xfrm>
            <a:off x="9043416" y="1828800"/>
            <a:ext cx="2331720" cy="960120"/>
          </a:xfrm>
          <a:prstGeom prst="roundRect">
            <a:avLst>
              <a:gd name="adj" fmla="val 11429"/>
            </a:avLst>
          </a:prstGeom>
          <a:solidFill>
            <a:srgbClr val="1D6F9E"/>
          </a:solidFill>
          <a:ln w="12700">
            <a:solidFill>
              <a:srgbClr val="1D6F9E"/>
            </a:solidFill>
            <a:prstDash val="solid"/>
          </a:ln>
        </p:spPr>
      </p:sp>
      <p:sp>
        <p:nvSpPr>
          <p:cNvPr id="17" name="Text 15"/>
          <p:cNvSpPr txBox="1"/>
          <p:nvPr/>
        </p:nvSpPr>
        <p:spPr>
          <a:xfrm>
            <a:off x="9043416" y="1828800"/>
            <a:ext cx="2331720" cy="960120"/>
          </a:xfrm>
          <a:prstGeom prst="rect">
            <a:avLst/>
          </a:prstGeom>
          <a:noFill/>
          <a:ln/>
        </p:spPr>
        <p:txBody>
          <a:bodyPr wrap="square" lIns="25400" tIns="25400" rIns="25400" bIns="254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Null models · assembly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extinction</a:t>
            </a:r>
            <a:endParaRPr lang="en-US" sz="1300" dirty="0"/>
          </a:p>
        </p:txBody>
      </p:sp>
      <p:sp>
        <p:nvSpPr>
          <p:cNvPr id="18" name="Text 16"/>
          <p:cNvSpPr txBox="1"/>
          <p:nvPr/>
        </p:nvSpPr>
        <p:spPr>
          <a:xfrm>
            <a:off x="9043416" y="2880360"/>
            <a:ext cx="2331720" cy="320040"/>
          </a:xfrm>
          <a:prstGeom prst="rect">
            <a:avLst/>
          </a:prstGeom>
          <a:noFill/>
          <a:ln/>
        </p:spPr>
        <p:txBody>
          <a:bodyPr wrap="square" lIns="0" tIns="0" rIns="0" bIns="0" rtlCol="0" anchor="ctr"/>
          <a:lstStyle/>
          <a:p>
            <a:pPr algn="ctr" indent="0" marL="0">
              <a:buNone/>
            </a:pPr>
            <a:r>
              <a:rPr lang="en-US" sz="1200" dirty="0">
                <a:solidFill>
                  <a:srgbClr val="6B6B6B"/>
                </a:solidFill>
                <a:latin typeface="Calibri" pitchFamily="34" charset="0"/>
                <a:ea typeface="Calibri" pitchFamily="34" charset="-122"/>
                <a:cs typeface="Calibri" pitchFamily="34" charset="-120"/>
              </a:rPr>
              <a:t>Block 2  ·  Group C</a:t>
            </a:r>
            <a:endParaRPr lang="en-US" sz="1200" dirty="0"/>
          </a:p>
        </p:txBody>
      </p:sp>
      <p:sp>
        <p:nvSpPr>
          <p:cNvPr id="19" name="Text 17"/>
          <p:cNvSpPr txBox="1"/>
          <p:nvPr/>
        </p:nvSpPr>
        <p:spPr>
          <a:xfrm>
            <a:off x="548640" y="3657600"/>
            <a:ext cx="11091672" cy="2011680"/>
          </a:xfrm>
          <a:prstGeom prst="rect">
            <a:avLst/>
          </a:prstGeom>
          <a:noFill/>
          <a:ln/>
        </p:spPr>
        <p:txBody>
          <a:bodyPr wrap="square" lIns="50800" tIns="50800" rIns="50800" bIns="50800" rtlCol="0" anchor="t"/>
          <a:lstStyle/>
          <a:p>
            <a:pPr marL="342900" indent="-342900">
              <a:spcAft>
                <a:spcPts val="800"/>
              </a:spcAft>
              <a:buSzPct val="100000"/>
              <a:buChar char="•"/>
            </a:pPr>
            <a:r>
              <a:rPr lang="en-US" sz="1800" dirty="0">
                <a:solidFill>
                  <a:srgbClr val="222222"/>
                </a:solidFill>
                <a:latin typeface="Calibri" pitchFamily="34" charset="0"/>
                <a:ea typeface="Calibri" pitchFamily="34" charset="-122"/>
                <a:cs typeface="Calibri" pitchFamily="34" charset="-120"/>
              </a:rPr>
              <a:t>Step 1 — build a functional space from a species × traits table (Block 1, Group A)</a:t>
            </a:r>
            <a:endParaRPr lang="en-US" sz="1800" dirty="0"/>
          </a:p>
          <a:p>
            <a:pPr marL="342900" indent="-342900">
              <a:spcAft>
                <a:spcPts val="800"/>
              </a:spcAft>
              <a:buSzPct val="100000"/>
              <a:buChar char="•"/>
            </a:pPr>
            <a:r>
              <a:rPr lang="en-US" sz="1800" dirty="0">
                <a:solidFill>
                  <a:srgbClr val="222222"/>
                </a:solidFill>
                <a:latin typeface="Calibri" pitchFamily="34" charset="0"/>
                <a:ea typeface="Calibri" pitchFamily="34" charset="-122"/>
                <a:cs typeface="Calibri" pitchFamily="34" charset="-120"/>
              </a:rPr>
              <a:t>Step 2 — place communities in the space, summarise them (CWM, FD indices), compare with chance (null models) and simulate species loss (Block 2, Groups B and C)</a:t>
            </a:r>
            <a:endParaRPr lang="en-US" sz="1800" dirty="0"/>
          </a:p>
          <a:p>
            <a:pPr marL="342900" indent="-342900">
              <a:spcAft>
                <a:spcPts val="800"/>
              </a:spcAft>
              <a:buSzPct val="100000"/>
              <a:buChar char="•"/>
            </a:pPr>
            <a:r>
              <a:rPr lang="en-US" sz="1800" dirty="0">
                <a:solidFill>
                  <a:srgbClr val="222222"/>
                </a:solidFill>
                <a:latin typeface="Calibri" pitchFamily="34" charset="0"/>
                <a:ea typeface="Calibri" pitchFamily="34" charset="-122"/>
                <a:cs typeface="Calibri" pitchFamily="34" charset="-120"/>
              </a:rPr>
              <a:t>Step 3 — put back what steps 1–2 set aside: the variation among individuals within species (Block 3)</a:t>
            </a:r>
            <a:endParaRPr lang="en-US" sz="1800" dirty="0"/>
          </a:p>
        </p:txBody>
      </p:sp>
      <p:sp>
        <p:nvSpPr>
          <p:cNvPr id="20" name="Shape 18"/>
          <p:cNvSpPr/>
          <p:nvPr/>
        </p:nvSpPr>
        <p:spPr>
          <a:xfrm>
            <a:off x="548640" y="5669280"/>
            <a:ext cx="11091672" cy="548640"/>
          </a:xfrm>
          <a:prstGeom prst="roundRect">
            <a:avLst>
              <a:gd name="adj" fmla="val 13333"/>
            </a:avLst>
          </a:prstGeom>
          <a:solidFill>
            <a:srgbClr val="E8F1F7"/>
          </a:solidFill>
          <a:ln w="12700">
            <a:solidFill>
              <a:srgbClr val="E8F1F7"/>
            </a:solidFill>
            <a:prstDash val="solid"/>
          </a:ln>
        </p:spPr>
      </p:sp>
      <p:sp>
        <p:nvSpPr>
          <p:cNvPr id="21" name="Text 19"/>
          <p:cNvSpPr txBox="1"/>
          <p:nvPr/>
        </p:nvSpPr>
        <p:spPr>
          <a:xfrm>
            <a:off x="685800" y="5669280"/>
            <a:ext cx="10817352" cy="548640"/>
          </a:xfrm>
          <a:prstGeom prst="rect">
            <a:avLst/>
          </a:prstGeom>
          <a:noFill/>
          <a:ln/>
        </p:spPr>
        <p:txBody>
          <a:bodyPr wrap="square" lIns="50800" tIns="50800" rIns="50800" bIns="50800" rtlCol="0" anchor="ctr"/>
          <a:lstStyle/>
          <a:p>
            <a:pPr indent="0" marL="0">
              <a:buNone/>
            </a:pPr>
            <a:r>
              <a:rPr lang="en-US" sz="1600" dirty="0">
                <a:solidFill>
                  <a:srgbClr val="0B3C5D"/>
                </a:solidFill>
                <a:latin typeface="Calibri" pitchFamily="34" charset="0"/>
                <a:ea typeface="Calibri" pitchFamily="34" charset="-122"/>
                <a:cs typeface="Calibri" pitchFamily="34" charset="-120"/>
              </a:rPr>
              <a:t>This diagram is also the structure of any trait-based analysis you will ever run.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FBE 2026 · Block 0 · Introduction</dc:title>
  <dc:subject>PptxGenJS Presentation</dc:subject>
  <dc:creator>Aurèle Toussaint</dc:creator>
  <cp:lastModifiedBy>Aurèle Toussaint</cp:lastModifiedBy>
  <cp:revision>1</cp:revision>
  <dcterms:created xsi:type="dcterms:W3CDTF">2026-09-11T09:13:12Z</dcterms:created>
  <dcterms:modified xsi:type="dcterms:W3CDTF">2026-09-11T09:13:12Z</dcterms:modified>
</cp:coreProperties>
</file>
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Arial"/>
              </a:defRPr>
            </a:pPr>
            <a:r>
              <a:rPr sz="1300" b="0" i="0" u="none" strike="noStrike">
                <a:solidFill>
                  <a:srgbClr val="0B3C5D"/>
                </a:solidFill>
                <a:latin typeface="Arial"/>
              </a:rPr>
              <a:t>Distortion of distances vs. number of axes (illustrative)</a:t>
            </a:r>
          </a:p>
        </c:rich>
      </c:tx>
      <c:layout/>
      <c:overlay val="0"/>
    </c:title>
    <c:autoTitleDeleted val="0"/>
    <c:plotArea>
      <c:layout/>
      <c:lineChart>
        <c:varyColors val="0"/>
        <c:ser>
          <c:idx val="0"/>
          <c:order val="0"/>
          <c:tx>
            <c:strRef>
              <c:f>Sheet1!$B$1</c:f>
              <c:strCache>
                <c:ptCount val="1"/>
                <c:pt idx="0">
                  <c:v>mean squared deviation</c:v>
                </c:pt>
              </c:strCache>
            </c:strRef>
          </c:tx>
          <c:spPr>
            <a:solidFill>
              <a:srgbClr val="1D6F9E"/>
            </a:solidFill>
            <a:ln w="38100" cap="flat">
              <a:solidFill>
                <a:srgbClr val="1D6F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D6F9E"/>
              </a:solidFill>
              <a:ln w="9525" cap="flat">
                <a:solidFill>
                  <a:srgbClr val="1D6F9E"/>
                </a:solidFill>
                <a:prstDash val="solid"/>
                <a:round/>
              </a:ln>
              <a:effectLst/>
            </c:spPr>
          </c:marker>
          <c:cat>
            <c:multiLvlStrRef>
              <c:f>Sheet1!$A$2:$A$8</c:f>
              <c:multiLvlStrCache>
                <c:ptCount val="7"/>
                <c:lvl>
                  <c:pt idx="0">
                    <c:v>1</c:v>
                  </c:pt>
                  <c:pt idx="1">
                    <c:v>2</c:v>
                  </c:pt>
                  <c:pt idx="2">
                    <c:v>3</c:v>
                  </c:pt>
                  <c:pt idx="3">
                    <c:v>4</c:v>
                  </c:pt>
                  <c:pt idx="4">
                    <c:v>5</c:v>
                  </c:pt>
                  <c:pt idx="5">
                    <c:v>6</c:v>
                  </c:pt>
                  <c:pt idx="6">
                    <c:v>7</c:v>
                  </c:pt>
                </c:lvl>
              </c:multiLvlStrCache>
            </c:multiLvlStrRef>
          </c:cat>
          <c:val>
            <c:numRef>
              <c:f>Sheet1!$B$2:$B$8</c:f>
              <c:numCache>
                <c:formatCode>General</c:formatCode>
                <c:ptCount val="7"/>
                <c:pt idx="0">
                  <c:v>0.058</c:v>
                </c:pt>
                <c:pt idx="1">
                  <c:v>0.026</c:v>
                </c:pt>
                <c:pt idx="2">
                  <c:v>0.012</c:v>
                </c:pt>
                <c:pt idx="3">
                  <c:v>0.005</c:v>
                </c:pt>
                <c:pt idx="4">
                  <c:v>0.003</c:v>
                </c:pt>
                <c:pt idx="5">
                  <c:v>0.002</c:v>
                </c:pt>
                <c:pt idx="6">
                  <c:v>0.001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6B6B6B"/>
                    </a:solidFill>
                    <a:latin typeface="Arial"/>
                  </a:defRPr>
                </a:pPr>
                <a:r>
                  <a:rPr b="0" i="0" u="none" strike="noStrike">
                    <a:solidFill>
                      <a:srgbClr val="6B6B6B"/>
                    </a:solidFill>
                    <a:latin typeface="Arial"/>
                  </a:rPr>
                  <a:t>Number of axes retained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b="0" i="0" u="none" strike="noStrike">
                    <a:solidFill>
                      <a:srgbClr val="6B6B6B"/>
                    </a:solidFill>
                    <a:latin typeface="Arial"/>
                  </a:defRPr>
                </a:pPr>
                <a:r>
                  <a:rPr b="0" i="0" u="none" strike="noStrike">
                    <a:solidFill>
                      <a:srgbClr val="6B6B6B"/>
                    </a:solidFill>
                    <a:latin typeface="Arial"/>
                  </a:rPr>
                  <a:t>mSD (original vs. space distances)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the definition, because a lot of confusion in the literature comes from an imprecise use of the word "trait". The reference definition is that of Violle and colleagues, published in Oikos in 2007. A trait is any morphological, physiological or phenological feature measurable at the individual level, from the cell to the whole organism, without reference to the environment or to any other level of organisation. And a trait becomes a functional trait when it affects the fitness of the individual, indirectly, through its effects on performance: growth, reproduction, survival.
Three consequences of this definition. First, a trait is measured on individuals, not on populations or species: a species mean is a summary of individual measurements, which already tells you that intraspecific variability exists and that we are choosing to ignore it when we use species means — we will come back to that. Second, a trait is not a response: "abundance", "presence in warm rivers" or "trophic level estimated from where the species lives" are not traits, because they are defined with reference to the environment. Third, a trait is functional only through a mechanism: if you cannot say how the feature affects performance, you have a descriptor, not a functional trait. For fishes this last point is fortunately easy: body shape, fin shape, mouth position and eye size have direct biomechanical links to locomotion and feeding.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framework that organises everything: response and effect traits, formalised by Lavorel and Garnier in 2002 for plants, and valid for any organism.
Response traits are those that determine how a species responds to environmental conditions — abiotic filters like temperature, oxygen, current velocity, but also biotic ones like predation and competition. A fish with a streamlined body and a narrow caudal peduncle is a sustained swimmer: it can hold position in fast current; that is a response trait to the flow regime.
Effect traits are those through which a species affects ecosystem processes. A large-bodied detritivore that stirs the sediment while feeding — think of Prochilodus in South American rivers — modifies nutrient cycling and the turbidity of the whole reach; body size and feeding mode are effect traits here.
The important point is that many traits are both. Body size responds to temperature and to fishing pressure, and body size determines metabolic demand, prey size, and nutrient excretion. This overlap is what makes it possible to predict, from a change in the environment, a change in community composition and then a change in functioning. That chain — environment, response traits, community, effect traits, functioning — is the "Holy Grail" of Lavorel and Garnier, and we will follow it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trait data come in several types, and the type determines what you can do with them downstream.
Quantitative traits are the most convenient: a length, a ratio, a rate. Ordinal traits have ordered categories — position in the water column, for instance. Nominal traits are unordered categories — a diet category, a reproductive guild. Binary traits — migratory or not. And fuzzy-coded traits describe a species by proportions across categories — sixty per cent invertebrates, forty per cent plant material — which is often the most honest way to code a diet.
Why does this matter? Because the first thing we will do with these traits is compute distances between species, and Euclidean distance only makes sense for quantitative traits. Mixed data require a distance that handles each type appropriately — the Gower distance, which you will meet in ten minutes. And it matters for a second reason: the more categorical traits you include, the coarser the resolution of your functional space. This is why, for fishes, we have invested so much in continuous morphological traits.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trait data come from? Over the last fifteen years the community has built large open databases, and it is worth knowing them because you will probably use one of them in your own work.
For plants, TRY, coordinated from Jena, gathers millions of trait records for more than a hundred thousand species. For birds, AVONET provides morphological measurements — beak, wing, tail, tarsus — for essentially all bird species. EltonTraits gives diet and foraging traits for birds and mammals. COMPADRE and COMADRE compile demographic matrices for plants and animals.
For fishes, two resources. FishBase, which you all know, contains life-history and ecological information — maximum length, trophic level, habitat — but with very uneven coverage and quality. And FISHMORPH, which we published in 2021 with Sébastien Brosse and Sébastien Villéger, which contains ten standardised morphological traits for more than eight thousand freshwater fish species, measured on photographs with a single protocol. The traits you will use on Thursday are a simplified version of the FISHMORPH traits.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these ten traits, because they are a good example of how to design a trait set. The logic, described by Villéger and colleagues in 2017, is to measure, on a standardised lateral photograph, a small number of distances between anatomical landmarks, and to convert them into dimensionless ratios that have a known link to function.
Six traits describe locomotion. Body elongation, the ratio of standard length to body depth, separates eel-like from disc-like bodies. Lateral compression separates flat, benthic fishes from laterally compressed, manoeuvrable ones. The aspect ratio and the position of the pectoral fin tell us about manoeuvring versus cruising. Caudal peduncle throttling — the ratio of caudal fin depth to peduncle depth — is a good predictor of sustained swimming ability. And the aspect ratio of the caudal fin distinguishes fast cruisers from accelerators.
Four traits describe feeding. Body size, which scales with everything. Mouth position — terminal, superior, inferior — indicates where in the water column the fish feeds. Oral gape sets the maximum prey size. Eye size relates to visual acuity and to the light environment.
Notice the design principles: each trait is a ratio, so that it is independent of the absolute size of the specimen; each has a mechanistic interpretation; and the whole set is measurable on any species from a photograph, which is what made a global database possible. On Thursday you will have seven of them, slightly renamed.
--- INSTRUCTOR NOTE ---
~12 min elapsed in Block 1. If you have a photograph of a real specimen with the landmarks, spend one extra minute on it; students remember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three questions about the data.
Completeness. Trait databases are full of holes: a species will have a body length but no diet, or a diet but no morphology. You must quantify this — per trait and per species — and decide on a rule. A common one, and the one used in the exercises, is to drop species with more than thirty per cent of traits missing, and to impute the remaining gaps if the analysis requires a complete matrix. Imputation can be as simple as a genus mean, or as sophisticated as phylogenetic imputation, but whatever you do, report it.
Plausibility. A ratio of caudal fin depth to peduncle depth below one is not possible; a maximum length of three metres for a tetra is a typo. Check distributions, check units, check ratios against their anatomical limits.
Resolution. Most analyses use a species mean. Ask how many individuals that mean is based on, and whether the trait varies a lot within species. For body size in fishes, the within-species variation can be enormous — a juvenile and an adult of the same species are functionally different animals. We will see in Block 3 a framework that can handle this; for now, remember that the species mean is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turn the table into a functional space, and the first step is to compute distances between species.
If all traits are quantitative, the natural choice is the Euclidean distance on standardised traits. Standardisation — subtracting the mean and dividing by the standard deviation — is not optional: without it, body length in centimetres would dominate every ratio, simply because its numbers are bigger. After standardisation each trait contributes equally.
If traits are mixed, we use the Gower distance, proposed in 1971. For each trait, the Gower distance between two species is the absolute difference divided by the range of the trait for quantitative traits, zero or one for categorical traits, and it is averaged over traits; missing values are simply skipped in the average. It is bounded between zero and one, handles any mixture of types, and tolerates gaps — which is why it is the default in the FD package, through the function gowdis. You can also weight traits, for instance to give a set of five locomotion traits the same total weight as one diet 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distances we go to coordinates: a space in which each species is a point.
Two routes. Principal component analysis, PCA, works directly on the standardised quantitative traits and produces axes that are linear combinations of the traits. Its great advantage is interpretability: each axis has loadings, and you can say "axis one is a gradient from elongated, narrow-peduncled cruisers to deep-bodied manoeuvrers". Its limitation is that it only takes quantitative traits.
Principal coordinates analysis, PCoA, works on any distance matrix — typically a Gower distance — and finds coordinates such that Euclidean distances in the new space reproduce the input distances as well as possible. It accepts any trait type, but the axes have no loadings: to interpret them you correlate them a posteriori with the traits. And when the input distance is not Euclidean, some eigenvalues are negative, which is a signal that a perfect embedding is impossible; there are corrections for this, and dbFD applies one by default.
In both cases the output is the same object: a matrix of species coordinates on a few axes. Everything downstream — indices, null models, extinction simulations — works on that matrix, regardless of how you obtained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you will face on Thursday: how many axes should I keep? Two or three axes are convenient to plot, but they may misrepresent the distances between species.
The rule of thumb you will see everywhere is "enough axes to explain seventy per cent of the variance". It is not wrong, but it is not a quality criterion. Maire and colleagues, in 2015, proposed a better one: compute, for each number of axes, the mean squared deviation between the original distances between species and the distances in the reduced space. This quantity decreases as you add axes; you pick the number beyond which the improvement is negligible. In their global fish dataset, four axes were needed for a reliable space, and two axes gave a distorted picture.
Two practical consequences. If you compute indices like FRic, which are convex-hull volumes, the number of species must exceed the number of axes, and the volume gets numerically unstable in high dimension — so four to five axes is a reasonable upper limit. And the choice must be reported and, ideally, tested for sensitivity: do my conclusions change if I use three instead of four axes? That is a cheap and convincing robustness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a functional space looks like when it is built on the global fish fauna. This is the space of morphological traits for several thousand freshwater fish species. Each point is a species. The first axis mainly opposes elongated bodies with small fins to deep, compressed bodies with large fins — a swimming-mode gradient. The second axis is largely trophic: mouth position and eye size, separating bottom feeders with inferior mouths from surface and mid-water feeders.
Three things to notice. First, most species are concentrated in the centre: a generalist, fusiform, terminal-mouthed morphology is by far the most common. Second, the edges of the space are occupied by very few species, often from a handful of lineages: electric eels and knifefishes, the elongated catfishes, the discus-shaped cichlids, the armoured loricariids. Third, when we draw the convex hull of each biogeographic realm, the Neotropics cover the largest volume — by far — a result we published in 2016: the Neotropical fauna concentrates the largest share of the world's functional diversity, roughly three quarters, because it contains both a huge number of species and these unusual lineages.
This figure contains, implicitly, the three descriptors we will use to read any functional space: volume, overlap and uniqueness.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the convex hull enclosing a set of species — the smallest convex polygon, or polyhedron in more dimensions, containing all the points. Its volume is functional richness, FRic, the first index of Block 2. It is a measure of the range of strategies present, and it is sensitive to extreme species: one unusual species can double the volume.
Overlap: given two groups — two realms, two periods, native and non-native species — what fraction of one hull lies inside the other? This is the natural way to ask whether two faunas do "the same things". In our 2016 paper, the overlap between realms was high in the centre of the space and the differences were all at the edges: every realm has the generalist core, and what distinguishes them is which extreme morphologies they have.
Uniqueness: for a species, the distance to its nearest neighbour in the space. A species with a large nearest-neighbour distance does something no other species does — think of the arapaima, the electric eel, the freshwater stingray. Uniqueness is a property of a species relative to a pool: the same species may be unique in its river and ordinary in a global space. This is a point Group A will test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visualisation, because the picture you draw shapes the reading. Convex hulls are simple but treat all points as equal: one outlier makes the hull look huge while the bulk of the species sit in a small area. Kernel density estimates weigh the space by where species actually are: they show the dense core and the sparse periphery, and they can be thresholded — for instance the region containing fifty per cent of the probability, or ninety-nine per cent. The funspace package, developed by Carlos Carmona and colleagues, does this in two lines and can also incorporate abundances or intraspecific data. On Thursday you will draw ellipses and hulls with ggplot2; if you have time, try funspace as the optional extension in exercise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promised plant examples, and here are the two that everyone should know, because they show what a functional space can tell us at the scale of the whole tree of life.
In 2004, Wright and colleagues assembled leaf traits for more than two thousand species and showed that they align along a single axis — the leaf economics spectrum — from cheap, short-lived, nitrogen-rich, fast-photosynthesising leaves to expensive, long-lived, well-defended, slow leaves. One axis summarises a fundamental trade-off between acquisition and conservation of resources.
In 2016, Díaz and colleagues extended this to whole plants, with six traits for forty-six thousand species, and found that two axes captured most of the variation: a size axis — plant height, seed mass — and the leaf economics axis. And, just as with fishes, the space is not filled uniformly: species concentrate in a few regions and large parts of the theoretically possible space are empty. Empty regions mean either physical impossibility or strong selection against those combinations.
The lesson for us is that a well-chosen set of traits reveals structure that is not visible in the species list, and that this structure — a few major axes, a dense core, empty corners — appears again and again across groups, fishes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this block, the practical question everyone asks: which traits should I use? There is no universal answer, but there is a universal procedure.
Start from the question, not from the database. If you study the response to flow regime, you need locomotion traits; if you study nutrient cycling, you need body size, diet and excretion-related traits. Then verify that the link between each trait and performance is established or at least plausible. Then check measurability on your whole species set — a trait known for half of your species will force you to drop or impute half of your data. Then look at redundancy: two traits with a correlation of 0.9 are one trait counted twice; either drop one or accept that the corresponding dimension is over-weighted. Finally, balance: if you have six locomotion traits and one trophic trait, the space will be a locomotion space, whatever you call it. Group A will look at trait correlations tomorrow, and I would like each of you to be able to justify a trait set in one sentence per 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first block. A functional trait is a feature measured at the individual level and linked to performance through a mechanism, and it can be a response trait, an effect trait or both. To build a space we standardise the traits, compute a distance — Euclidean or Gower — and reduce it by PCA or PCoA, keeping a number of axes that we justify and test. And we read the space with three descriptors: how much volume a group fills, how much two groups overlap, and how unique a species is.
Ten minutes' break. When we come back, we put communities in this space.
--- INSTRUCTOR NOTE ---
Break 14:35–14:45. Block 1 script ≈ 5,000 words ≈ 40 min at lecture pace; the rest is figure reading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011680"/>
            <a:ext cx="11091672" cy="146304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Block 1 — Functional traits and functional space</a:t>
            </a:r>
            <a:endParaRPr lang="en-US" sz="4000" dirty="0"/>
          </a:p>
        </p:txBody>
      </p:sp>
      <p:sp>
        <p:nvSpPr>
          <p:cNvPr id="3" name="Text 1"/>
          <p:cNvSpPr txBox="1"/>
          <p:nvPr/>
        </p:nvSpPr>
        <p:spPr>
          <a:xfrm>
            <a:off x="548640" y="3566160"/>
            <a:ext cx="11091672" cy="109728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13:45–14:35 · What is a functional trait? · Trait data and databases · From a trait table to a functional space · Reading a space: volume, overlap, uniqueness</a:t>
            </a:r>
            <a:endParaRPr lang="en-US" sz="2000" dirty="0"/>
          </a:p>
        </p:txBody>
      </p:sp>
      <p:sp>
        <p:nvSpPr>
          <p:cNvPr id="4" name="Text 2"/>
          <p:cNvSpPr txBox="1"/>
          <p:nvPr/>
        </p:nvSpPr>
        <p:spPr>
          <a:xfrm>
            <a:off x="548640" y="6309360"/>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Block 1 · Functional traits and functional space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What is a functional trait?</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371600"/>
            <a:ext cx="11091672" cy="1737360"/>
          </a:xfrm>
          <a:prstGeom prst="roundRect">
            <a:avLst>
              <a:gd name="adj" fmla="val 5263"/>
            </a:avLst>
          </a:prstGeom>
          <a:solidFill>
            <a:srgbClr val="E8F1F7"/>
          </a:solidFill>
          <a:ln w="12700">
            <a:solidFill>
              <a:srgbClr val="E8F1F7"/>
            </a:solidFill>
            <a:prstDash val="solid"/>
          </a:ln>
        </p:spPr>
      </p:sp>
      <p:sp>
        <p:nvSpPr>
          <p:cNvPr id="6" name="Text 4"/>
          <p:cNvSpPr txBox="1"/>
          <p:nvPr/>
        </p:nvSpPr>
        <p:spPr>
          <a:xfrm>
            <a:off x="777240" y="1417320"/>
            <a:ext cx="10634472" cy="1371600"/>
          </a:xfrm>
          <a:prstGeom prst="rect">
            <a:avLst/>
          </a:prstGeom>
          <a:noFill/>
          <a:ln/>
        </p:spPr>
        <p:txBody>
          <a:bodyPr wrap="square" lIns="0" tIns="0" rIns="0" bIns="0" rtlCol="0" anchor="ctr"/>
          <a:lstStyle/>
          <a:p>
            <a:pPr indent="0" marL="0">
              <a:buNone/>
            </a:pPr>
            <a:r>
              <a:rPr lang="en-US" sz="1800" i="1" dirty="0">
                <a:solidFill>
                  <a:srgbClr val="0B3C5D"/>
                </a:solidFill>
                <a:latin typeface="Cambria" pitchFamily="34" charset="0"/>
                <a:ea typeface="Cambria" pitchFamily="34" charset="-122"/>
                <a:cs typeface="Cambria" pitchFamily="34" charset="-120"/>
              </a:rPr>
              <a:t>“Any morphological, physiological or phenological feature </a:t>
            </a:r>
            <a:pPr indent="0" marL="0">
              <a:buNone/>
            </a:pPr>
            <a:r>
              <a:rPr lang="en-US" sz="1800" b="1" i="1" dirty="0">
                <a:solidFill>
                  <a:srgbClr val="D9822B"/>
                </a:solidFill>
                <a:latin typeface="Cambria" pitchFamily="34" charset="0"/>
                <a:ea typeface="Cambria" pitchFamily="34" charset="-122"/>
                <a:cs typeface="Cambria" pitchFamily="34" charset="-120"/>
              </a:rPr>
              <a:t>measurable at the individual level</a:t>
            </a:r>
            <a:pPr indent="0" marL="0">
              <a:buNone/>
            </a:pPr>
            <a:r>
              <a:rPr lang="en-US" sz="1800" i="1" dirty="0">
                <a:solidFill>
                  <a:srgbClr val="0B3C5D"/>
                </a:solidFill>
                <a:latin typeface="Cambria" pitchFamily="34" charset="0"/>
                <a:ea typeface="Cambria" pitchFamily="34" charset="-122"/>
                <a:cs typeface="Cambria" pitchFamily="34" charset="-120"/>
              </a:rPr>
              <a:t>, from the cell to the whole-organism level, </a:t>
            </a:r>
            <a:pPr indent="0" marL="0">
              <a:buNone/>
            </a:pPr>
            <a:r>
              <a:rPr lang="en-US" sz="1800" b="1" i="1" dirty="0">
                <a:solidFill>
                  <a:srgbClr val="D9822B"/>
                </a:solidFill>
                <a:latin typeface="Cambria" pitchFamily="34" charset="0"/>
                <a:ea typeface="Cambria" pitchFamily="34" charset="-122"/>
                <a:cs typeface="Cambria" pitchFamily="34" charset="-120"/>
              </a:rPr>
              <a:t>without reference to the environment</a:t>
            </a:r>
            <a:pPr indent="0" marL="0">
              <a:buNone/>
            </a:pPr>
            <a:r>
              <a:rPr lang="en-US" sz="1800" i="1" dirty="0">
                <a:solidFill>
                  <a:srgbClr val="0B3C5D"/>
                </a:solidFill>
                <a:latin typeface="Cambria" pitchFamily="34" charset="0"/>
                <a:ea typeface="Cambria" pitchFamily="34" charset="-122"/>
                <a:cs typeface="Cambria" pitchFamily="34" charset="-120"/>
              </a:rPr>
              <a:t> or any other level of organisation.” A trait is </a:t>
            </a:r>
            <a:pPr indent="0" marL="0">
              <a:buNone/>
            </a:pPr>
            <a:r>
              <a:rPr lang="en-US" sz="1800" b="1" i="1" dirty="0">
                <a:solidFill>
                  <a:srgbClr val="D9822B"/>
                </a:solidFill>
                <a:latin typeface="Cambria" pitchFamily="34" charset="0"/>
                <a:ea typeface="Cambria" pitchFamily="34" charset="-122"/>
                <a:cs typeface="Cambria" pitchFamily="34" charset="-120"/>
              </a:rPr>
              <a:t>functional</a:t>
            </a:r>
            <a:pPr indent="0" marL="0">
              <a:buNone/>
            </a:pPr>
            <a:r>
              <a:rPr lang="en-US" sz="1800" i="1" dirty="0">
                <a:solidFill>
                  <a:srgbClr val="0B3C5D"/>
                </a:solidFill>
                <a:latin typeface="Cambria" pitchFamily="34" charset="0"/>
                <a:ea typeface="Cambria" pitchFamily="34" charset="-122"/>
                <a:cs typeface="Cambria" pitchFamily="34" charset="-120"/>
              </a:rPr>
              <a:t> when it affects fitness indirectly via its effects on </a:t>
            </a:r>
            <a:pPr indent="0" marL="0">
              <a:buNone/>
            </a:pPr>
            <a:r>
              <a:rPr lang="en-US" sz="1800" b="1" i="1" dirty="0">
                <a:solidFill>
                  <a:srgbClr val="D9822B"/>
                </a:solidFill>
                <a:latin typeface="Cambria" pitchFamily="34" charset="0"/>
                <a:ea typeface="Cambria" pitchFamily="34" charset="-122"/>
                <a:cs typeface="Cambria" pitchFamily="34" charset="-120"/>
              </a:rPr>
              <a:t>performance</a:t>
            </a:r>
            <a:pPr indent="0" marL="0">
              <a:buNone/>
            </a:pPr>
            <a:r>
              <a:rPr lang="en-US" sz="1800" i="1" dirty="0">
                <a:solidFill>
                  <a:srgbClr val="0B3C5D"/>
                </a:solidFill>
                <a:latin typeface="Cambria" pitchFamily="34" charset="0"/>
                <a:ea typeface="Cambria" pitchFamily="34" charset="-122"/>
                <a:cs typeface="Cambria" pitchFamily="34" charset="-120"/>
              </a:rPr>
              <a:t> (growth, reproduction, survival).</a:t>
            </a:r>
            <a:endParaRPr lang="en-US" sz="1800" dirty="0"/>
          </a:p>
        </p:txBody>
      </p:sp>
      <p:sp>
        <p:nvSpPr>
          <p:cNvPr id="7" name="Text 5"/>
          <p:cNvSpPr txBox="1"/>
          <p:nvPr/>
        </p:nvSpPr>
        <p:spPr>
          <a:xfrm>
            <a:off x="777240" y="2743200"/>
            <a:ext cx="7315200" cy="3200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Violle et al. (2007) Oikos 116: 882–892</a:t>
            </a:r>
            <a:endParaRPr lang="en-US" sz="1200" dirty="0"/>
          </a:p>
        </p:txBody>
      </p:sp>
      <p:sp>
        <p:nvSpPr>
          <p:cNvPr id="8" name="Text 6"/>
          <p:cNvSpPr txBox="1"/>
          <p:nvPr/>
        </p:nvSpPr>
        <p:spPr>
          <a:xfrm>
            <a:off x="548640" y="3291840"/>
            <a:ext cx="11091672" cy="2377440"/>
          </a:xfrm>
          <a:prstGeom prst="rect">
            <a:avLst/>
          </a:prstGeom>
          <a:noFill/>
          <a:ln/>
        </p:spPr>
        <p:txBody>
          <a:bodyPr wrap="square" lIns="50800" tIns="50800" rIns="50800" bIns="50800" rtlCol="0" anchor="t"/>
          <a:lstStyle/>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Measured on individuals — a species mean is a summary, and a choice (intraspecific variability is set aside)</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Not a response — “abundance” or “presence in warm rivers” are defined with reference to the environment</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Functional only through a mechanism — for fishes: body shape → locomotion, mouth position → feeding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Response traits, effect traits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333756" y="1828800"/>
            <a:ext cx="2011680" cy="1005840"/>
          </a:xfrm>
          <a:prstGeom prst="roundRect">
            <a:avLst>
              <a:gd name="adj" fmla="val 10909"/>
            </a:avLst>
          </a:prstGeom>
          <a:solidFill>
            <a:srgbClr val="8A9BA8"/>
          </a:solidFill>
          <a:ln w="12700">
            <a:solidFill>
              <a:srgbClr val="8A9BA8"/>
            </a:solidFill>
            <a:prstDash val="solid"/>
          </a:ln>
        </p:spPr>
      </p:sp>
      <p:sp>
        <p:nvSpPr>
          <p:cNvPr id="6" name="Text 4"/>
          <p:cNvSpPr txBox="1"/>
          <p:nvPr/>
        </p:nvSpPr>
        <p:spPr>
          <a:xfrm>
            <a:off x="333756" y="1828800"/>
            <a:ext cx="2011680" cy="10058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Environment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(temperature, flow, O₂, fishing)</a:t>
            </a:r>
            <a:endParaRPr lang="en-US" sz="1300" dirty="0"/>
          </a:p>
        </p:txBody>
      </p:sp>
      <p:sp>
        <p:nvSpPr>
          <p:cNvPr id="7" name="Shape 5"/>
          <p:cNvSpPr/>
          <p:nvPr/>
        </p:nvSpPr>
        <p:spPr>
          <a:xfrm>
            <a:off x="2391156" y="2176272"/>
            <a:ext cx="274320" cy="320040"/>
          </a:xfrm>
          <a:prstGeom prst="rightArrow">
            <a:avLst/>
          </a:prstGeom>
          <a:solidFill>
            <a:srgbClr val="B8C4CE"/>
          </a:solidFill>
          <a:ln w="12700">
            <a:solidFill>
              <a:srgbClr val="B8C4CE"/>
            </a:solidFill>
            <a:prstDash val="solid"/>
          </a:ln>
        </p:spPr>
      </p:sp>
      <p:sp>
        <p:nvSpPr>
          <p:cNvPr id="8" name="Shape 6"/>
          <p:cNvSpPr/>
          <p:nvPr/>
        </p:nvSpPr>
        <p:spPr>
          <a:xfrm>
            <a:off x="2711196" y="1828800"/>
            <a:ext cx="2011680" cy="1005840"/>
          </a:xfrm>
          <a:prstGeom prst="roundRect">
            <a:avLst>
              <a:gd name="adj" fmla="val 10909"/>
            </a:avLst>
          </a:prstGeom>
          <a:solidFill>
            <a:srgbClr val="1D6F9E"/>
          </a:solidFill>
          <a:ln w="12700">
            <a:solidFill>
              <a:srgbClr val="1D6F9E"/>
            </a:solidFill>
            <a:prstDash val="solid"/>
          </a:ln>
        </p:spPr>
      </p:sp>
      <p:sp>
        <p:nvSpPr>
          <p:cNvPr id="9" name="Text 7"/>
          <p:cNvSpPr txBox="1"/>
          <p:nvPr/>
        </p:nvSpPr>
        <p:spPr>
          <a:xfrm>
            <a:off x="2711196" y="1828800"/>
            <a:ext cx="2011680" cy="10058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Response traits</a:t>
            </a:r>
            <a:endParaRPr lang="en-US" sz="1300" dirty="0"/>
          </a:p>
        </p:txBody>
      </p:sp>
      <p:sp>
        <p:nvSpPr>
          <p:cNvPr id="10" name="Shape 8"/>
          <p:cNvSpPr/>
          <p:nvPr/>
        </p:nvSpPr>
        <p:spPr>
          <a:xfrm>
            <a:off x="4768596" y="2176272"/>
            <a:ext cx="274320" cy="320040"/>
          </a:xfrm>
          <a:prstGeom prst="rightArrow">
            <a:avLst/>
          </a:prstGeom>
          <a:solidFill>
            <a:srgbClr val="B8C4CE"/>
          </a:solidFill>
          <a:ln w="12700">
            <a:solidFill>
              <a:srgbClr val="B8C4CE"/>
            </a:solidFill>
            <a:prstDash val="solid"/>
          </a:ln>
        </p:spPr>
      </p:sp>
      <p:sp>
        <p:nvSpPr>
          <p:cNvPr id="11" name="Shape 9"/>
          <p:cNvSpPr/>
          <p:nvPr/>
        </p:nvSpPr>
        <p:spPr>
          <a:xfrm>
            <a:off x="5088636" y="1828800"/>
            <a:ext cx="2011680" cy="1005840"/>
          </a:xfrm>
          <a:prstGeom prst="roundRect">
            <a:avLst>
              <a:gd name="adj" fmla="val 10909"/>
            </a:avLst>
          </a:prstGeom>
          <a:solidFill>
            <a:srgbClr val="0B3C5D"/>
          </a:solidFill>
          <a:ln w="12700">
            <a:solidFill>
              <a:srgbClr val="0B3C5D"/>
            </a:solidFill>
            <a:prstDash val="solid"/>
          </a:ln>
        </p:spPr>
      </p:sp>
      <p:sp>
        <p:nvSpPr>
          <p:cNvPr id="12" name="Text 10"/>
          <p:cNvSpPr txBox="1"/>
          <p:nvPr/>
        </p:nvSpPr>
        <p:spPr>
          <a:xfrm>
            <a:off x="5088636" y="1828800"/>
            <a:ext cx="2011680" cy="10058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Community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composition</a:t>
            </a:r>
            <a:endParaRPr lang="en-US" sz="1300" dirty="0"/>
          </a:p>
        </p:txBody>
      </p:sp>
      <p:sp>
        <p:nvSpPr>
          <p:cNvPr id="13" name="Shape 11"/>
          <p:cNvSpPr/>
          <p:nvPr/>
        </p:nvSpPr>
        <p:spPr>
          <a:xfrm>
            <a:off x="7146036" y="2176272"/>
            <a:ext cx="274320" cy="320040"/>
          </a:xfrm>
          <a:prstGeom prst="rightArrow">
            <a:avLst/>
          </a:prstGeom>
          <a:solidFill>
            <a:srgbClr val="B8C4CE"/>
          </a:solidFill>
          <a:ln w="12700">
            <a:solidFill>
              <a:srgbClr val="B8C4CE"/>
            </a:solidFill>
            <a:prstDash val="solid"/>
          </a:ln>
        </p:spPr>
      </p:sp>
      <p:sp>
        <p:nvSpPr>
          <p:cNvPr id="14" name="Shape 12"/>
          <p:cNvSpPr/>
          <p:nvPr/>
        </p:nvSpPr>
        <p:spPr>
          <a:xfrm>
            <a:off x="7466076" y="1828800"/>
            <a:ext cx="2011680" cy="1005840"/>
          </a:xfrm>
          <a:prstGeom prst="roundRect">
            <a:avLst>
              <a:gd name="adj" fmla="val 10909"/>
            </a:avLst>
          </a:prstGeom>
          <a:solidFill>
            <a:srgbClr val="1D6F9E"/>
          </a:solidFill>
          <a:ln w="12700">
            <a:solidFill>
              <a:srgbClr val="1D6F9E"/>
            </a:solidFill>
            <a:prstDash val="solid"/>
          </a:ln>
        </p:spPr>
      </p:sp>
      <p:sp>
        <p:nvSpPr>
          <p:cNvPr id="15" name="Text 13"/>
          <p:cNvSpPr txBox="1"/>
          <p:nvPr/>
        </p:nvSpPr>
        <p:spPr>
          <a:xfrm>
            <a:off x="7466076" y="1828800"/>
            <a:ext cx="2011680" cy="10058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Effect traits</a:t>
            </a:r>
            <a:endParaRPr lang="en-US" sz="1300" dirty="0"/>
          </a:p>
        </p:txBody>
      </p:sp>
      <p:sp>
        <p:nvSpPr>
          <p:cNvPr id="16" name="Shape 14"/>
          <p:cNvSpPr/>
          <p:nvPr/>
        </p:nvSpPr>
        <p:spPr>
          <a:xfrm>
            <a:off x="9523476" y="2176272"/>
            <a:ext cx="274320" cy="320040"/>
          </a:xfrm>
          <a:prstGeom prst="rightArrow">
            <a:avLst/>
          </a:prstGeom>
          <a:solidFill>
            <a:srgbClr val="B8C4CE"/>
          </a:solidFill>
          <a:ln w="12700">
            <a:solidFill>
              <a:srgbClr val="B8C4CE"/>
            </a:solidFill>
            <a:prstDash val="solid"/>
          </a:ln>
        </p:spPr>
      </p:sp>
      <p:sp>
        <p:nvSpPr>
          <p:cNvPr id="17" name="Shape 15"/>
          <p:cNvSpPr/>
          <p:nvPr/>
        </p:nvSpPr>
        <p:spPr>
          <a:xfrm>
            <a:off x="9843516" y="1828800"/>
            <a:ext cx="2011680" cy="1005840"/>
          </a:xfrm>
          <a:prstGeom prst="roundRect">
            <a:avLst>
              <a:gd name="adj" fmla="val 10909"/>
            </a:avLst>
          </a:prstGeom>
          <a:solidFill>
            <a:srgbClr val="8A9BA8"/>
          </a:solidFill>
          <a:ln w="12700">
            <a:solidFill>
              <a:srgbClr val="8A9BA8"/>
            </a:solidFill>
            <a:prstDash val="solid"/>
          </a:ln>
        </p:spPr>
      </p:sp>
      <p:sp>
        <p:nvSpPr>
          <p:cNvPr id="18" name="Text 16"/>
          <p:cNvSpPr txBox="1"/>
          <p:nvPr/>
        </p:nvSpPr>
        <p:spPr>
          <a:xfrm>
            <a:off x="9843516" y="1828800"/>
            <a:ext cx="2011680" cy="100584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Ecosystem processes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(production, nutrient cycling)</a:t>
            </a:r>
            <a:endParaRPr lang="en-US" sz="1300" dirty="0"/>
          </a:p>
        </p:txBody>
      </p:sp>
      <p:sp>
        <p:nvSpPr>
          <p:cNvPr id="19" name="Text 17"/>
          <p:cNvSpPr txBox="1"/>
          <p:nvPr/>
        </p:nvSpPr>
        <p:spPr>
          <a:xfrm>
            <a:off x="548640" y="3017520"/>
            <a:ext cx="73152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Lavorel &amp; Garnier (2002) Functional Ecology 16: 545–556</a:t>
            </a:r>
            <a:endParaRPr lang="en-US" sz="1200" dirty="0"/>
          </a:p>
        </p:txBody>
      </p:sp>
      <p:sp>
        <p:nvSpPr>
          <p:cNvPr id="20" name="Text 18"/>
          <p:cNvSpPr txBox="1"/>
          <p:nvPr/>
        </p:nvSpPr>
        <p:spPr>
          <a:xfrm>
            <a:off x="548640" y="3474720"/>
            <a:ext cx="11091672" cy="2377440"/>
          </a:xfrm>
          <a:prstGeom prst="rect">
            <a:avLst/>
          </a:prstGeom>
          <a:noFill/>
          <a:ln/>
        </p:spPr>
        <p:txBody>
          <a:bodyPr wrap="square" lIns="50800" tIns="50800" rIns="50800" bIns="50800" rtlCol="0" anchor="t"/>
          <a:lstStyle/>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Response trait — determines how a species responds to abiotic and biotic filters (streamlined body + narrow peduncle → sustained swimming in fast current)</a:t>
            </a:r>
            <a:endParaRPr lang="en-US" sz="1700" dirty="0"/>
          </a:p>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Effect trait — determines how a species affects processes (a large sediment-stirring detritivore such as Prochilodus changes nutrient cycling and turbidity)</a:t>
            </a:r>
            <a:endParaRPr lang="en-US" sz="1700" dirty="0"/>
          </a:p>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Many traits are both (body size responds to temperature and fishing; body size drives metabolic demand and prey size) — this overlap is what makes prediction possible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Kinds of traits, kinds of data</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645920"/>
                <a:gridCol w="3840480"/>
                <a:gridCol w="2377440"/>
                <a:gridCol w="322783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 (fish)</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Coding</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Distance later on</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Quantitative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Body length (cm), fin aspect ratio</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continuous number</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Euclidean (after standardisation) or Gower</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Ordinal</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Position in water column: benthic &lt; demersal &lt; pelagic</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ordered categories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Gower (ranks)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Nominal</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Reproductive guild, diet category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unordered categories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Gower (0/1)</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Binary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Migratory: yes / no</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0 / 1</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Gower</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Fuzzy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Diet: 60 % invertebrates, 40 % plants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proportions across categories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Gower on proportions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029200"/>
            <a:ext cx="11091672" cy="822960"/>
          </a:xfrm>
          <a:prstGeom prst="roundRect">
            <a:avLst>
              <a:gd name="adj" fmla="val 8889"/>
            </a:avLst>
          </a:prstGeom>
          <a:solidFill>
            <a:srgbClr val="E8F1F7"/>
          </a:solidFill>
          <a:ln w="12700">
            <a:solidFill>
              <a:srgbClr val="E8F1F7"/>
            </a:solidFill>
            <a:prstDash val="solid"/>
          </a:ln>
        </p:spPr>
      </p:sp>
      <p:sp>
        <p:nvSpPr>
          <p:cNvPr id="7" name="Text 4"/>
          <p:cNvSpPr txBox="1"/>
          <p:nvPr/>
        </p:nvSpPr>
        <p:spPr>
          <a:xfrm>
            <a:off x="685800" y="5029200"/>
            <a:ext cx="10817352" cy="82296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The data type decides the distance you can compute — and the more categorical traits, the coarser the functional space. Hence the investment in continuous morphological traits for fishes.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Where traits come from: databases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94560"/>
                <a:gridCol w="1828800"/>
                <a:gridCol w="4480560"/>
                <a:gridCol w="258775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Database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Group</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Content</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Reference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Plants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Millions of records, &gt; 100,000 species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Kattge et al. 2020</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AVONET</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Birds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Beak, wing, tail, tarsus for ~all species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Tobias et al. 2022</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EltonTraits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Birds, mammals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Diet and foraging traits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Wilman et al. 2014</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COMPADRE / COMADRE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Plants / animals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Demographic matrices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Salguero-Gómez et al. 2015–2016</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FishBase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Fishes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Life history, ecology; uneven coverage</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Froese &amp; Pauly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FISHMORPH</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Freshwater fishes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10 standardised morphological traits, &gt; 8,000 species, one protocol</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Brosse et al. 2021 GEB</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bl>
          </a:graphicData>
        </a:graphic>
      </p:graphicFrame>
      <p:sp>
        <p:nvSpPr>
          <p:cNvPr id="6" name="Shape 3"/>
          <p:cNvSpPr/>
          <p:nvPr/>
        </p:nvSpPr>
        <p:spPr>
          <a:xfrm>
            <a:off x="548640" y="5212080"/>
            <a:ext cx="11091672" cy="548640"/>
          </a:xfrm>
          <a:prstGeom prst="roundRect">
            <a:avLst>
              <a:gd name="adj" fmla="val 13333"/>
            </a:avLst>
          </a:prstGeom>
          <a:solidFill>
            <a:srgbClr val="E8F1F7"/>
          </a:solidFill>
          <a:ln w="12700">
            <a:solidFill>
              <a:srgbClr val="E8F1F7"/>
            </a:solidFill>
            <a:prstDash val="solid"/>
          </a:ln>
        </p:spPr>
      </p:sp>
      <p:sp>
        <p:nvSpPr>
          <p:cNvPr id="7" name="Text 4"/>
          <p:cNvSpPr txBox="1"/>
          <p:nvPr/>
        </p:nvSpPr>
        <p:spPr>
          <a:xfrm>
            <a:off x="685800" y="5212080"/>
            <a:ext cx="10817352" cy="54864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Thursday’s traits are a simplified version of the FISHMORPH traits.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The fish morphological trait framework (Villéger et al. 2017)</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371600"/>
            <a:ext cx="5486400" cy="4206240"/>
          </a:xfrm>
          <a:prstGeom prst="rect">
            <a:avLst/>
          </a:prstGeom>
          <a:solidFill>
            <a:srgbClr val="F3F4F6"/>
          </a:solidFill>
          <a:ln w="12700">
            <a:solidFill>
              <a:srgbClr val="BBBBBB"/>
            </a:solidFill>
            <a:prstDash val="dash"/>
          </a:ln>
        </p:spPr>
      </p:sp>
      <p:sp>
        <p:nvSpPr>
          <p:cNvPr id="6" name="Text 4"/>
          <p:cNvSpPr txBox="1"/>
          <p:nvPr/>
        </p:nvSpPr>
        <p:spPr>
          <a:xfrm>
            <a:off x="731520" y="1371600"/>
            <a:ext cx="5120640" cy="420624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Lateral view of a fish with the anatomical landmarks and the 10 traits (Villéger et al. 2017, Aquatic Sciences)</a:t>
            </a:r>
            <a:endParaRPr lang="en-US" sz="1200" dirty="0"/>
          </a:p>
        </p:txBody>
      </p:sp>
      <p:sp>
        <p:nvSpPr>
          <p:cNvPr id="7" name="Text 5"/>
          <p:cNvSpPr txBox="1"/>
          <p:nvPr/>
        </p:nvSpPr>
        <p:spPr>
          <a:xfrm>
            <a:off x="6400800" y="1371600"/>
            <a:ext cx="5212080" cy="365760"/>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Locomotion (6)</a:t>
            </a:r>
            <a:endParaRPr lang="en-US" sz="1700" dirty="0"/>
          </a:p>
        </p:txBody>
      </p:sp>
      <p:sp>
        <p:nvSpPr>
          <p:cNvPr id="8" name="Text 6"/>
          <p:cNvSpPr txBox="1"/>
          <p:nvPr/>
        </p:nvSpPr>
        <p:spPr>
          <a:xfrm>
            <a:off x="6400800" y="1737360"/>
            <a:ext cx="5212080" cy="2011680"/>
          </a:xfrm>
          <a:prstGeom prst="rect">
            <a:avLst/>
          </a:prstGeom>
          <a:noFill/>
          <a:ln/>
        </p:spPr>
        <p:txBody>
          <a:bodyPr wrap="square" lIns="50800" tIns="50800" rIns="50800" bIns="50800" rtlCol="0" anchor="t"/>
          <a:lstStyle/>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Body elongation</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Lateral compression</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Pectoral fin aspect ratio</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Pectoral fin position</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Caudal peduncle throttling</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Caudal fin aspect ratio</a:t>
            </a:r>
            <a:endParaRPr lang="en-US" sz="1500" dirty="0"/>
          </a:p>
        </p:txBody>
      </p:sp>
      <p:sp>
        <p:nvSpPr>
          <p:cNvPr id="9" name="Text 7"/>
          <p:cNvSpPr txBox="1"/>
          <p:nvPr/>
        </p:nvSpPr>
        <p:spPr>
          <a:xfrm>
            <a:off x="6400800" y="3749040"/>
            <a:ext cx="5212080" cy="365760"/>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Feeding (4)</a:t>
            </a:r>
            <a:endParaRPr lang="en-US" sz="1700" dirty="0"/>
          </a:p>
        </p:txBody>
      </p:sp>
      <p:sp>
        <p:nvSpPr>
          <p:cNvPr id="10" name="Text 8"/>
          <p:cNvSpPr txBox="1"/>
          <p:nvPr/>
        </p:nvSpPr>
        <p:spPr>
          <a:xfrm>
            <a:off x="6400800" y="4114800"/>
            <a:ext cx="5212080" cy="1463040"/>
          </a:xfrm>
          <a:prstGeom prst="rect">
            <a:avLst/>
          </a:prstGeom>
          <a:noFill/>
          <a:ln/>
        </p:spPr>
        <p:txBody>
          <a:bodyPr wrap="square" lIns="50800" tIns="50800" rIns="50800" bIns="50800" rtlCol="0" anchor="t"/>
          <a:lstStyle/>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Body size</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Mouth position (inferior / terminal / superior)</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Oral gape</a:t>
            </a:r>
            <a:endParaRPr lang="en-US" sz="1500" dirty="0"/>
          </a:p>
          <a:p>
            <a:pPr marL="342900" indent="-342900">
              <a:spcAft>
                <a:spcPts val="200"/>
              </a:spcAft>
              <a:buSzPct val="100000"/>
              <a:buChar char="•"/>
            </a:pPr>
            <a:r>
              <a:rPr lang="en-US" sz="1500" dirty="0">
                <a:solidFill>
                  <a:srgbClr val="222222"/>
                </a:solidFill>
                <a:latin typeface="Calibri" pitchFamily="34" charset="0"/>
                <a:ea typeface="Calibri" pitchFamily="34" charset="-122"/>
                <a:cs typeface="Calibri" pitchFamily="34" charset="-120"/>
              </a:rPr>
              <a:t>Eye size</a:t>
            </a:r>
            <a:endParaRPr lang="en-US" sz="1500" dirty="0"/>
          </a:p>
        </p:txBody>
      </p:sp>
      <p:sp>
        <p:nvSpPr>
          <p:cNvPr id="11" name="Shape 9"/>
          <p:cNvSpPr/>
          <p:nvPr/>
        </p:nvSpPr>
        <p:spPr>
          <a:xfrm>
            <a:off x="548640" y="5715000"/>
            <a:ext cx="11091672" cy="548640"/>
          </a:xfrm>
          <a:prstGeom prst="roundRect">
            <a:avLst>
              <a:gd name="adj" fmla="val 13333"/>
            </a:avLst>
          </a:prstGeom>
          <a:solidFill>
            <a:srgbClr val="E8F1F7"/>
          </a:solidFill>
          <a:ln w="12700">
            <a:solidFill>
              <a:srgbClr val="E8F1F7"/>
            </a:solidFill>
            <a:prstDash val="solid"/>
          </a:ln>
        </p:spPr>
      </p:sp>
      <p:sp>
        <p:nvSpPr>
          <p:cNvPr id="12" name="Text 10"/>
          <p:cNvSpPr txBox="1"/>
          <p:nvPr/>
        </p:nvSpPr>
        <p:spPr>
          <a:xfrm>
            <a:off x="685800" y="5715000"/>
            <a:ext cx="10817352" cy="54864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Design principles: ratios (size-free) · a mechanistic meaning for each · measurable on any species from a photograph.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Data quality: three questions before any analysis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554480"/>
            <a:ext cx="3520440" cy="3291840"/>
          </a:xfrm>
          <a:prstGeom prst="roundRect">
            <a:avLst>
              <a:gd name="adj" fmla="val 2778"/>
            </a:avLst>
          </a:prstGeom>
          <a:solidFill>
            <a:srgbClr val="E8F1F7"/>
          </a:solidFill>
          <a:ln w="12700">
            <a:solidFill>
              <a:srgbClr val="E8F1F7"/>
            </a:solidFill>
            <a:prstDash val="solid"/>
          </a:ln>
        </p:spPr>
      </p:sp>
      <p:sp>
        <p:nvSpPr>
          <p:cNvPr id="6" name="Text 4"/>
          <p:cNvSpPr txBox="1"/>
          <p:nvPr/>
        </p:nvSpPr>
        <p:spPr>
          <a:xfrm>
            <a:off x="777240" y="1691640"/>
            <a:ext cx="3108960" cy="548640"/>
          </a:xfrm>
          <a:prstGeom prst="rect">
            <a:avLst/>
          </a:prstGeom>
          <a:noFill/>
          <a:ln/>
        </p:spPr>
        <p:txBody>
          <a:bodyPr wrap="square" lIns="0" tIns="0" rIns="0" bIns="0" rtlCol="0" anchor="ctr"/>
          <a:lstStyle/>
          <a:p>
            <a:pPr indent="0" marL="0">
              <a:buNone/>
            </a:pPr>
            <a:r>
              <a:rPr lang="en-US" sz="2200" b="1" dirty="0">
                <a:solidFill>
                  <a:srgbClr val="0B3C5D"/>
                </a:solidFill>
                <a:latin typeface="Cambria" pitchFamily="34" charset="0"/>
                <a:ea typeface="Cambria" pitchFamily="34" charset="-122"/>
                <a:cs typeface="Cambria" pitchFamily="34" charset="-120"/>
              </a:rPr>
              <a:t>Completeness</a:t>
            </a:r>
            <a:endParaRPr lang="en-US" sz="2200" dirty="0"/>
          </a:p>
        </p:txBody>
      </p:sp>
      <p:sp>
        <p:nvSpPr>
          <p:cNvPr id="7" name="Text 5"/>
          <p:cNvSpPr txBox="1"/>
          <p:nvPr/>
        </p:nvSpPr>
        <p:spPr>
          <a:xfrm>
            <a:off x="777240" y="2286000"/>
            <a:ext cx="3108960" cy="237744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 missing per trait and per species. Rule used here: drop species with &gt; 30 % missing traits; impute the rest if needed — and report it.</a:t>
            </a:r>
            <a:endParaRPr lang="en-US" sz="1500" dirty="0"/>
          </a:p>
        </p:txBody>
      </p:sp>
      <p:sp>
        <p:nvSpPr>
          <p:cNvPr id="8" name="Shape 6"/>
          <p:cNvSpPr/>
          <p:nvPr/>
        </p:nvSpPr>
        <p:spPr>
          <a:xfrm>
            <a:off x="4297680" y="1554480"/>
            <a:ext cx="3520440" cy="3291840"/>
          </a:xfrm>
          <a:prstGeom prst="roundRect">
            <a:avLst>
              <a:gd name="adj" fmla="val 2778"/>
            </a:avLst>
          </a:prstGeom>
          <a:solidFill>
            <a:srgbClr val="E8F1F7"/>
          </a:solidFill>
          <a:ln w="12700">
            <a:solidFill>
              <a:srgbClr val="E8F1F7"/>
            </a:solidFill>
            <a:prstDash val="solid"/>
          </a:ln>
        </p:spPr>
      </p:sp>
      <p:sp>
        <p:nvSpPr>
          <p:cNvPr id="9" name="Text 7"/>
          <p:cNvSpPr txBox="1"/>
          <p:nvPr/>
        </p:nvSpPr>
        <p:spPr>
          <a:xfrm>
            <a:off x="4526280" y="1691640"/>
            <a:ext cx="3108960" cy="548640"/>
          </a:xfrm>
          <a:prstGeom prst="rect">
            <a:avLst/>
          </a:prstGeom>
          <a:noFill/>
          <a:ln/>
        </p:spPr>
        <p:txBody>
          <a:bodyPr wrap="square" lIns="0" tIns="0" rIns="0" bIns="0" rtlCol="0" anchor="ctr"/>
          <a:lstStyle/>
          <a:p>
            <a:pPr indent="0" marL="0">
              <a:buNone/>
            </a:pPr>
            <a:r>
              <a:rPr lang="en-US" sz="2200" b="1" dirty="0">
                <a:solidFill>
                  <a:srgbClr val="0B3C5D"/>
                </a:solidFill>
                <a:latin typeface="Cambria" pitchFamily="34" charset="0"/>
                <a:ea typeface="Cambria" pitchFamily="34" charset="-122"/>
                <a:cs typeface="Cambria" pitchFamily="34" charset="-120"/>
              </a:rPr>
              <a:t>Plausibility</a:t>
            </a:r>
            <a:endParaRPr lang="en-US" sz="2200" dirty="0"/>
          </a:p>
        </p:txBody>
      </p:sp>
      <p:sp>
        <p:nvSpPr>
          <p:cNvPr id="10" name="Text 8"/>
          <p:cNvSpPr txBox="1"/>
          <p:nvPr/>
        </p:nvSpPr>
        <p:spPr>
          <a:xfrm>
            <a:off x="4526280" y="2286000"/>
            <a:ext cx="3108960" cy="237744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Outliers, units, ratios outside anatomical limits (a peduncle ratio &lt; 1, a 3-m tetra). Check distributions.</a:t>
            </a:r>
            <a:endParaRPr lang="en-US" sz="1500" dirty="0"/>
          </a:p>
        </p:txBody>
      </p:sp>
      <p:sp>
        <p:nvSpPr>
          <p:cNvPr id="11" name="Shape 9"/>
          <p:cNvSpPr/>
          <p:nvPr/>
        </p:nvSpPr>
        <p:spPr>
          <a:xfrm>
            <a:off x="8046720" y="1554480"/>
            <a:ext cx="3520440" cy="3291840"/>
          </a:xfrm>
          <a:prstGeom prst="roundRect">
            <a:avLst>
              <a:gd name="adj" fmla="val 2778"/>
            </a:avLst>
          </a:prstGeom>
          <a:solidFill>
            <a:srgbClr val="E8F1F7"/>
          </a:solidFill>
          <a:ln w="12700">
            <a:solidFill>
              <a:srgbClr val="E8F1F7"/>
            </a:solidFill>
            <a:prstDash val="solid"/>
          </a:ln>
        </p:spPr>
      </p:sp>
      <p:sp>
        <p:nvSpPr>
          <p:cNvPr id="12" name="Text 10"/>
          <p:cNvSpPr txBox="1"/>
          <p:nvPr/>
        </p:nvSpPr>
        <p:spPr>
          <a:xfrm>
            <a:off x="8275320" y="1691640"/>
            <a:ext cx="3108960" cy="548640"/>
          </a:xfrm>
          <a:prstGeom prst="rect">
            <a:avLst/>
          </a:prstGeom>
          <a:noFill/>
          <a:ln/>
        </p:spPr>
        <p:txBody>
          <a:bodyPr wrap="square" lIns="0" tIns="0" rIns="0" bIns="0" rtlCol="0" anchor="ctr"/>
          <a:lstStyle/>
          <a:p>
            <a:pPr indent="0" marL="0">
              <a:buNone/>
            </a:pPr>
            <a:r>
              <a:rPr lang="en-US" sz="2200" b="1" dirty="0">
                <a:solidFill>
                  <a:srgbClr val="0B3C5D"/>
                </a:solidFill>
                <a:latin typeface="Cambria" pitchFamily="34" charset="0"/>
                <a:ea typeface="Cambria" pitchFamily="34" charset="-122"/>
                <a:cs typeface="Cambria" pitchFamily="34" charset="-120"/>
              </a:rPr>
              <a:t>Resolution</a:t>
            </a:r>
            <a:endParaRPr lang="en-US" sz="2200" dirty="0"/>
          </a:p>
        </p:txBody>
      </p:sp>
      <p:sp>
        <p:nvSpPr>
          <p:cNvPr id="13" name="Text 11"/>
          <p:cNvSpPr txBox="1"/>
          <p:nvPr/>
        </p:nvSpPr>
        <p:spPr>
          <a:xfrm>
            <a:off x="8275320" y="2286000"/>
            <a:ext cx="3108960" cy="237744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Species means: how many individuals? How variable within species? Body size in fishes: juvenile and adult are different animals.</a:t>
            </a:r>
            <a:endParaRPr lang="en-US" sz="1500" dirty="0"/>
          </a:p>
        </p:txBody>
      </p:sp>
      <p:sp>
        <p:nvSpPr>
          <p:cNvPr id="14" name="Shape 12"/>
          <p:cNvSpPr/>
          <p:nvPr/>
        </p:nvSpPr>
        <p:spPr>
          <a:xfrm>
            <a:off x="548640" y="5212080"/>
            <a:ext cx="11091672" cy="548640"/>
          </a:xfrm>
          <a:prstGeom prst="roundRect">
            <a:avLst>
              <a:gd name="adj" fmla="val 13333"/>
            </a:avLst>
          </a:prstGeom>
          <a:solidFill>
            <a:srgbClr val="E8F1F7"/>
          </a:solidFill>
          <a:ln w="12700">
            <a:solidFill>
              <a:srgbClr val="E8F1F7"/>
            </a:solidFill>
            <a:prstDash val="solid"/>
          </a:ln>
        </p:spPr>
      </p:sp>
      <p:sp>
        <p:nvSpPr>
          <p:cNvPr id="15" name="Text 13"/>
          <p:cNvSpPr txBox="1"/>
          <p:nvPr/>
        </p:nvSpPr>
        <p:spPr>
          <a:xfrm>
            <a:off x="685800" y="5212080"/>
            <a:ext cx="10817352" cy="54864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On Thursday, Step 1 of every exercise is exactly this check.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From a trait table to distances between species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737360"/>
                <a:gridCol w="1097280"/>
                <a:gridCol w="1097280"/>
                <a:gridCol w="10972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Species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BL (cm)</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BD ratio</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Mouth pos.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Hoplias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53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0.13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0.74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Prochilodus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0.26</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0.51</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Cichla</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Arapaima</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0.14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0.62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bl>
          </a:graphicData>
        </a:graphic>
      </p:graphicFrame>
      <p:sp>
        <p:nvSpPr>
          <p:cNvPr id="6" name="Shape 3"/>
          <p:cNvSpPr/>
          <p:nvPr/>
        </p:nvSpPr>
        <p:spPr>
          <a:xfrm>
            <a:off x="5760720" y="2194560"/>
            <a:ext cx="548640" cy="320040"/>
          </a:xfrm>
          <a:prstGeom prst="rightArrow">
            <a:avLst/>
          </a:prstGeom>
          <a:solidFill>
            <a:srgbClr val="B8C4CE"/>
          </a:solidFill>
          <a:ln w="12700">
            <a:solidFill>
              <a:srgbClr val="B8C4CE"/>
            </a:solidFill>
            <a:prstDash val="solid"/>
          </a:ln>
        </p:spPr>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92240" y="1463040"/>
          <a:ext cx="5120640" cy="914400"/>
        </p:xfrm>
        <a:graphic>
          <a:graphicData uri="http://schemas.openxmlformats.org/drawingml/2006/table">
            <a:tbl>
              <a:tblPr/>
              <a:tblGrid>
                <a:gridCol w="1097280"/>
                <a:gridCol w="1005840"/>
                <a:gridCol w="1005840"/>
                <a:gridCol w="1005840"/>
                <a:gridCol w="1005840"/>
              </a:tblGrid>
              <a:tr h="384048">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Hop</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Cic</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Ara</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Hop</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Pro</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Cic</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Ara</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4"/>
          <p:cNvSpPr txBox="1"/>
          <p:nvPr/>
        </p:nvSpPr>
        <p:spPr>
          <a:xfrm>
            <a:off x="548640" y="3840480"/>
            <a:ext cx="11091672" cy="2194560"/>
          </a:xfrm>
          <a:prstGeom prst="rect">
            <a:avLst/>
          </a:prstGeom>
          <a:noFill/>
          <a:ln/>
        </p:spPr>
        <p:txBody>
          <a:bodyPr wrap="square" lIns="50800" tIns="50800" rIns="50800" bIns="50800" rtlCol="0" anchor="t"/>
          <a:lstStyle/>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All traits quantitative → Euclidean distance on standardised traits (centre, divide by SD): otherwise body length in cm dominates every ratio</a:t>
            </a:r>
            <a:endParaRPr lang="en-US" sz="1700" dirty="0"/>
          </a:p>
          <a:p>
            <a:pPr marL="342900" indent="-342900">
              <a:spcAft>
                <a:spcPts val="800"/>
              </a:spcAft>
              <a:buSzPct val="100000"/>
              <a:buChar char="•"/>
            </a:pPr>
            <a:r>
              <a:rPr lang="en-US" sz="1700" dirty="0">
                <a:solidFill>
                  <a:srgbClr val="222222"/>
                </a:solidFill>
                <a:latin typeface="Calibri" pitchFamily="34" charset="0"/>
                <a:ea typeface="Calibri" pitchFamily="34" charset="-122"/>
                <a:cs typeface="Calibri" pitchFamily="34" charset="-120"/>
              </a:rPr>
              <a:t>Mixed traits → Gower distance (Gower 1971): per-trait |difference| / range, 0/1 for categories, averaged over traits; bounded 0–1; skips missing values; traits can be weighted — FD::gowdis()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From distances to a space: PCA and PCoA</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011680"/>
                <a:gridCol w="4480560"/>
                <a:gridCol w="4599432"/>
              </a:tblGrid>
              <a:tr h="457200">
                <a:tc>
                  <a:txBody>
                    <a:bodyPr/>
                    <a:lstStyle/>
                    <a:p>
                      <a:pPr indent="0" marL="0">
                        <a:buNone/>
                      </a:pP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PCA</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PCoA</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Standardised quantitative traits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Any distance matrix (e.g. Gower)</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Axes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Linear combinations of traits, with loadings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Coordinates that reproduce the distances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Interpretation</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Direct (loadings)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 posteriori (correlate axes with traits)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Trait types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Quantitative only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Any</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Caveat</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Sensitive to outliers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Negative eigenvalues if the distance is not Euclidean → correction (Cailliez, Lingoes)</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prcomp()</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cmdscale(), ape::pcoa(), inside FD::dbFD()</a:t>
                      </a:r>
                      <a:endParaRPr lang="en-US" sz="14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bl>
          </a:graphicData>
        </a:graphic>
      </p:graphicFrame>
      <p:sp>
        <p:nvSpPr>
          <p:cNvPr id="6" name="Shape 3"/>
          <p:cNvSpPr/>
          <p:nvPr/>
        </p:nvSpPr>
        <p:spPr>
          <a:xfrm>
            <a:off x="548640" y="5120640"/>
            <a:ext cx="11091672" cy="640080"/>
          </a:xfrm>
          <a:prstGeom prst="roundRect">
            <a:avLst>
              <a:gd name="adj" fmla="val 11429"/>
            </a:avLst>
          </a:prstGeom>
          <a:solidFill>
            <a:srgbClr val="E8F1F7"/>
          </a:solidFill>
          <a:ln w="12700">
            <a:solidFill>
              <a:srgbClr val="E8F1F7"/>
            </a:solidFill>
            <a:prstDash val="solid"/>
          </a:ln>
        </p:spPr>
      </p:sp>
      <p:sp>
        <p:nvSpPr>
          <p:cNvPr id="7" name="Text 4"/>
          <p:cNvSpPr txBox="1"/>
          <p:nvPr/>
        </p:nvSpPr>
        <p:spPr>
          <a:xfrm>
            <a:off x="685800" y="5120640"/>
            <a:ext cx="10817352" cy="64008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Same output in both cases: a matrix of species coordinates on a few axes. Everything downstream works on that matrix.</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How many axes? The quality of the functional space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graphicFrame>
        <p:nvGraphicFramePr>
          <p:cNvPr id="5" name="Chart 0" descr=""/>
          <p:cNvGraphicFramePr/>
          <p:nvPr/>
        </p:nvGraphicFramePr>
        <p:xfrm>
          <a:off x="548640" y="137160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675120" y="1371600"/>
            <a:ext cx="4965192" cy="4389120"/>
          </a:xfrm>
          <a:prstGeom prst="rect">
            <a:avLst/>
          </a:prstGeom>
          <a:noFill/>
          <a:ln/>
        </p:spPr>
        <p:txBody>
          <a:bodyPr wrap="square" lIns="50800" tIns="50800" rIns="50800" bIns="50800" rtlCol="0" anchor="t"/>
          <a:lstStyle/>
          <a:p>
            <a:pPr marL="342900" indent="-3429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“70 % of variance” is a habit, not a quality criterion</a:t>
            </a:r>
            <a:endParaRPr lang="en-US" sz="1600" dirty="0"/>
          </a:p>
          <a:p>
            <a:pPr marL="342900" indent="-3429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Maire et al. (2015): mean squared deviation between original and reduced-space distances; stop where improvement becomes negligible — 4 axes for global fish morphology, 2 axes distort</a:t>
            </a:r>
            <a:endParaRPr lang="en-US" sz="1600" dirty="0"/>
          </a:p>
          <a:p>
            <a:pPr marL="342900" indent="-3429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Convex hulls need more species than axes and get unstable in high dimension → 4–5 axes max</a:t>
            </a:r>
            <a:endParaRPr lang="en-US" sz="1600" dirty="0"/>
          </a:p>
          <a:p>
            <a:pPr marL="342900" indent="-3429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Report the choice; test sensitivity (3 vs 4 axes)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Reading a functional space: the global freshwater fish fauna</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548640" y="1371600"/>
            <a:ext cx="6583680" cy="4480560"/>
          </a:xfrm>
          <a:prstGeom prst="rect">
            <a:avLst/>
          </a:prstGeom>
          <a:solidFill>
            <a:srgbClr val="F3F4F6"/>
          </a:solidFill>
          <a:ln w="12700">
            <a:solidFill>
              <a:srgbClr val="BBBBBB"/>
            </a:solidFill>
            <a:prstDash val="dash"/>
          </a:ln>
        </p:spPr>
      </p:sp>
      <p:sp>
        <p:nvSpPr>
          <p:cNvPr id="6" name="Text 4"/>
          <p:cNvSpPr txBox="1"/>
          <p:nvPr/>
        </p:nvSpPr>
        <p:spPr>
          <a:xfrm>
            <a:off x="731520" y="1371600"/>
            <a:ext cx="6217920" cy="448056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PCoA of freshwater fish morphology (Toussaint et al. 2016 Sci. Rep.; FISHMORPH) — species density, extreme morphologies, hulls of the six realms</a:t>
            </a:r>
            <a:endParaRPr lang="en-US" sz="1200" dirty="0"/>
          </a:p>
        </p:txBody>
      </p:sp>
      <p:sp>
        <p:nvSpPr>
          <p:cNvPr id="7" name="Text 5"/>
          <p:cNvSpPr txBox="1"/>
          <p:nvPr/>
        </p:nvSpPr>
        <p:spPr>
          <a:xfrm>
            <a:off x="7406640" y="1371600"/>
            <a:ext cx="4233672" cy="4480560"/>
          </a:xfrm>
          <a:prstGeom prst="rect">
            <a:avLst/>
          </a:prstGeom>
          <a:noFill/>
          <a:ln/>
        </p:spPr>
        <p:txBody>
          <a:bodyPr wrap="square" lIns="50800" tIns="50800" rIns="50800" bIns="50800"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Axis 1: elongated, small-finned bodies ↔ deep, compressed, large-finned bodies (swimming mode)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Axis 2: mouth position and eye size (bottom ↔ surface feeding)</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 dense generalist core; edges held by few species from few lineages (knifefishes, loricariids, discus-shaped cichlids)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Neotropics: by far the largest hull — roughly three quarters of global fish functional diversity (Toussaint et al. 2016)</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Three descriptors of a space: volume, overlap, uniqueness</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48640" y="1463040"/>
            <a:ext cx="3566160" cy="2743200"/>
          </a:xfrm>
          <a:prstGeom prst="rect">
            <a:avLst/>
          </a:prstGeom>
          <a:solidFill>
            <a:srgbClr val="FFFFFF"/>
          </a:solidFill>
          <a:ln w="12700">
            <a:solidFill>
              <a:srgbClr val="BBBBBB"/>
            </a:solidFill>
            <a:prstDash val="solid"/>
          </a:ln>
        </p:spPr>
      </p:sp>
      <p:sp>
        <p:nvSpPr>
          <p:cNvPr id="6" name="Shape 4"/>
          <p:cNvSpPr/>
          <p:nvPr/>
        </p:nvSpPr>
        <p:spPr>
          <a:xfrm>
            <a:off x="914400" y="1828800"/>
            <a:ext cx="2834640" cy="2011680"/>
          </a:xfrm>
          <a:prstGeom prst="hexagon">
            <a:avLst/>
          </a:prstGeom>
          <a:solidFill>
            <a:srgbClr val="E8F1F7"/>
          </a:solidFill>
          <a:ln w="19050">
            <a:solidFill>
              <a:srgbClr val="1D6F9E"/>
            </a:solidFill>
            <a:prstDash val="solid"/>
          </a:ln>
        </p:spPr>
      </p:sp>
      <p:sp>
        <p:nvSpPr>
          <p:cNvPr id="7" name="Shape 5"/>
          <p:cNvSpPr/>
          <p:nvPr/>
        </p:nvSpPr>
        <p:spPr>
          <a:xfrm>
            <a:off x="914400" y="1828800"/>
            <a:ext cx="2834640" cy="2011680"/>
          </a:xfrm>
          <a:prstGeom prst="rect">
            <a:avLst/>
          </a:prstGeom>
          <a:solidFill>
            <a:srgbClr val="FFFFFF"/>
          </a:solidFill>
          <a:ln w="12700">
            <a:solidFill>
              <a:srgbClr val="BBBBBB"/>
            </a:solidFill>
            <a:prstDash val="solid"/>
          </a:ln>
        </p:spPr>
      </p:sp>
      <p:sp>
        <p:nvSpPr>
          <p:cNvPr id="8" name="Shape 6"/>
          <p:cNvSpPr/>
          <p:nvPr/>
        </p:nvSpPr>
        <p:spPr>
          <a:xfrm>
            <a:off x="1572768" y="1778508"/>
            <a:ext cx="100584" cy="100584"/>
          </a:xfrm>
          <a:prstGeom prst="ellipse">
            <a:avLst/>
          </a:prstGeom>
          <a:solidFill>
            <a:srgbClr val="0B3C5D"/>
          </a:solidFill>
          <a:ln w="12700">
            <a:solidFill>
              <a:srgbClr val="0B3C5D"/>
            </a:solidFill>
            <a:prstDash val="solid"/>
          </a:ln>
        </p:spPr>
      </p:sp>
      <p:sp>
        <p:nvSpPr>
          <p:cNvPr id="9" name="Shape 7"/>
          <p:cNvSpPr/>
          <p:nvPr/>
        </p:nvSpPr>
        <p:spPr>
          <a:xfrm>
            <a:off x="2990088" y="1778508"/>
            <a:ext cx="100584" cy="100584"/>
          </a:xfrm>
          <a:prstGeom prst="ellipse">
            <a:avLst/>
          </a:prstGeom>
          <a:solidFill>
            <a:srgbClr val="0B3C5D"/>
          </a:solidFill>
          <a:ln w="12700">
            <a:solidFill>
              <a:srgbClr val="0B3C5D"/>
            </a:solidFill>
            <a:prstDash val="solid"/>
          </a:ln>
        </p:spPr>
      </p:sp>
      <p:sp>
        <p:nvSpPr>
          <p:cNvPr id="10" name="Shape 8"/>
          <p:cNvSpPr/>
          <p:nvPr/>
        </p:nvSpPr>
        <p:spPr>
          <a:xfrm>
            <a:off x="3698748" y="2784348"/>
            <a:ext cx="100584" cy="100584"/>
          </a:xfrm>
          <a:prstGeom prst="ellipse">
            <a:avLst/>
          </a:prstGeom>
          <a:solidFill>
            <a:srgbClr val="0B3C5D"/>
          </a:solidFill>
          <a:ln w="12700">
            <a:solidFill>
              <a:srgbClr val="0B3C5D"/>
            </a:solidFill>
            <a:prstDash val="solid"/>
          </a:ln>
        </p:spPr>
      </p:sp>
      <p:sp>
        <p:nvSpPr>
          <p:cNvPr id="11" name="Shape 9"/>
          <p:cNvSpPr/>
          <p:nvPr/>
        </p:nvSpPr>
        <p:spPr>
          <a:xfrm>
            <a:off x="2990088" y="3790188"/>
            <a:ext cx="100584" cy="100584"/>
          </a:xfrm>
          <a:prstGeom prst="ellipse">
            <a:avLst/>
          </a:prstGeom>
          <a:solidFill>
            <a:srgbClr val="0B3C5D"/>
          </a:solidFill>
          <a:ln w="12700">
            <a:solidFill>
              <a:srgbClr val="0B3C5D"/>
            </a:solidFill>
            <a:prstDash val="solid"/>
          </a:ln>
        </p:spPr>
      </p:sp>
      <p:sp>
        <p:nvSpPr>
          <p:cNvPr id="12" name="Shape 10"/>
          <p:cNvSpPr/>
          <p:nvPr/>
        </p:nvSpPr>
        <p:spPr>
          <a:xfrm>
            <a:off x="1572768" y="3790188"/>
            <a:ext cx="100584" cy="100584"/>
          </a:xfrm>
          <a:prstGeom prst="ellipse">
            <a:avLst/>
          </a:prstGeom>
          <a:solidFill>
            <a:srgbClr val="0B3C5D"/>
          </a:solidFill>
          <a:ln w="12700">
            <a:solidFill>
              <a:srgbClr val="0B3C5D"/>
            </a:solidFill>
            <a:prstDash val="solid"/>
          </a:ln>
        </p:spPr>
      </p:sp>
      <p:sp>
        <p:nvSpPr>
          <p:cNvPr id="13" name="Shape 11"/>
          <p:cNvSpPr/>
          <p:nvPr/>
        </p:nvSpPr>
        <p:spPr>
          <a:xfrm>
            <a:off x="864108" y="2784348"/>
            <a:ext cx="100584" cy="100584"/>
          </a:xfrm>
          <a:prstGeom prst="ellipse">
            <a:avLst/>
          </a:prstGeom>
          <a:solidFill>
            <a:srgbClr val="0B3C5D"/>
          </a:solidFill>
          <a:ln w="12700">
            <a:solidFill>
              <a:srgbClr val="0B3C5D"/>
            </a:solidFill>
            <a:prstDash val="solid"/>
          </a:ln>
        </p:spPr>
      </p:sp>
      <p:sp>
        <p:nvSpPr>
          <p:cNvPr id="14" name="Shape 12"/>
          <p:cNvSpPr/>
          <p:nvPr/>
        </p:nvSpPr>
        <p:spPr>
          <a:xfrm>
            <a:off x="2281428" y="2784348"/>
            <a:ext cx="100584" cy="100584"/>
          </a:xfrm>
          <a:prstGeom prst="ellipse">
            <a:avLst/>
          </a:prstGeom>
          <a:solidFill>
            <a:srgbClr val="0B3C5D"/>
          </a:solidFill>
          <a:ln w="12700">
            <a:solidFill>
              <a:srgbClr val="0B3C5D"/>
            </a:solidFill>
            <a:prstDash val="solid"/>
          </a:ln>
        </p:spPr>
      </p:sp>
      <p:sp>
        <p:nvSpPr>
          <p:cNvPr id="15" name="Shape 13"/>
          <p:cNvSpPr/>
          <p:nvPr/>
        </p:nvSpPr>
        <p:spPr>
          <a:xfrm>
            <a:off x="1997964" y="3086100"/>
            <a:ext cx="100584" cy="100584"/>
          </a:xfrm>
          <a:prstGeom prst="ellipse">
            <a:avLst/>
          </a:prstGeom>
          <a:solidFill>
            <a:srgbClr val="0B3C5D"/>
          </a:solidFill>
          <a:ln w="12700">
            <a:solidFill>
              <a:srgbClr val="0B3C5D"/>
            </a:solidFill>
            <a:prstDash val="solid"/>
          </a:ln>
        </p:spPr>
      </p:sp>
      <p:sp>
        <p:nvSpPr>
          <p:cNvPr id="16" name="Shape 14"/>
          <p:cNvSpPr/>
          <p:nvPr/>
        </p:nvSpPr>
        <p:spPr>
          <a:xfrm>
            <a:off x="2564892" y="2482596"/>
            <a:ext cx="100584" cy="100584"/>
          </a:xfrm>
          <a:prstGeom prst="ellipse">
            <a:avLst/>
          </a:prstGeom>
          <a:solidFill>
            <a:srgbClr val="0B3C5D"/>
          </a:solidFill>
          <a:ln w="12700">
            <a:solidFill>
              <a:srgbClr val="0B3C5D"/>
            </a:solidFill>
            <a:prstDash val="solid"/>
          </a:ln>
        </p:spPr>
      </p:sp>
      <p:sp>
        <p:nvSpPr>
          <p:cNvPr id="17" name="Shape 15"/>
          <p:cNvSpPr/>
          <p:nvPr/>
        </p:nvSpPr>
        <p:spPr>
          <a:xfrm>
            <a:off x="4343400" y="1463040"/>
            <a:ext cx="3566160" cy="2743200"/>
          </a:xfrm>
          <a:prstGeom prst="rect">
            <a:avLst/>
          </a:prstGeom>
          <a:solidFill>
            <a:srgbClr val="FFFFFF"/>
          </a:solidFill>
          <a:ln w="12700">
            <a:solidFill>
              <a:srgbClr val="BBBBBB"/>
            </a:solidFill>
            <a:prstDash val="solid"/>
          </a:ln>
        </p:spPr>
      </p:sp>
      <p:sp>
        <p:nvSpPr>
          <p:cNvPr id="18" name="Shape 16"/>
          <p:cNvSpPr/>
          <p:nvPr/>
        </p:nvSpPr>
        <p:spPr>
          <a:xfrm>
            <a:off x="4617720" y="1920240"/>
            <a:ext cx="2103120" cy="1828800"/>
          </a:xfrm>
          <a:prstGeom prst="ellipse">
            <a:avLst/>
          </a:prstGeom>
          <a:solidFill>
            <a:srgbClr val="1D6F9E">
              <a:alpha val="40000"/>
            </a:srgbClr>
          </a:solidFill>
          <a:ln w="12700">
            <a:solidFill>
              <a:srgbClr val="1D6F9E"/>
            </a:solidFill>
            <a:prstDash val="solid"/>
          </a:ln>
        </p:spPr>
      </p:sp>
      <p:sp>
        <p:nvSpPr>
          <p:cNvPr id="19" name="Shape 17"/>
          <p:cNvSpPr/>
          <p:nvPr/>
        </p:nvSpPr>
        <p:spPr>
          <a:xfrm>
            <a:off x="5623560" y="2103120"/>
            <a:ext cx="2011680" cy="1737360"/>
          </a:xfrm>
          <a:prstGeom prst="ellipse">
            <a:avLst/>
          </a:prstGeom>
          <a:solidFill>
            <a:srgbClr val="D9822B">
              <a:alpha val="40000"/>
            </a:srgbClr>
          </a:solidFill>
          <a:ln w="12700">
            <a:solidFill>
              <a:srgbClr val="D9822B"/>
            </a:solidFill>
            <a:prstDash val="solid"/>
          </a:ln>
        </p:spPr>
      </p:sp>
      <p:sp>
        <p:nvSpPr>
          <p:cNvPr id="20" name="Shape 18"/>
          <p:cNvSpPr/>
          <p:nvPr/>
        </p:nvSpPr>
        <p:spPr>
          <a:xfrm>
            <a:off x="8138160" y="1463040"/>
            <a:ext cx="3502152" cy="2743200"/>
          </a:xfrm>
          <a:prstGeom prst="rect">
            <a:avLst/>
          </a:prstGeom>
          <a:solidFill>
            <a:srgbClr val="FFFFFF"/>
          </a:solidFill>
          <a:ln w="12700">
            <a:solidFill>
              <a:srgbClr val="BBBBBB"/>
            </a:solidFill>
            <a:prstDash val="solid"/>
          </a:ln>
        </p:spPr>
      </p:sp>
      <p:sp>
        <p:nvSpPr>
          <p:cNvPr id="21" name="Shape 19"/>
          <p:cNvSpPr/>
          <p:nvPr/>
        </p:nvSpPr>
        <p:spPr>
          <a:xfrm>
            <a:off x="9134730" y="2593121"/>
            <a:ext cx="100584" cy="100584"/>
          </a:xfrm>
          <a:prstGeom prst="ellipse">
            <a:avLst/>
          </a:prstGeom>
          <a:solidFill>
            <a:srgbClr val="0B3C5D"/>
          </a:solidFill>
          <a:ln w="12700">
            <a:solidFill>
              <a:srgbClr val="0B3C5D"/>
            </a:solidFill>
            <a:prstDash val="solid"/>
          </a:ln>
        </p:spPr>
      </p:sp>
      <p:sp>
        <p:nvSpPr>
          <p:cNvPr id="22" name="Shape 20"/>
          <p:cNvSpPr/>
          <p:nvPr/>
        </p:nvSpPr>
        <p:spPr>
          <a:xfrm>
            <a:off x="10084135" y="2867540"/>
            <a:ext cx="100584" cy="100584"/>
          </a:xfrm>
          <a:prstGeom prst="ellipse">
            <a:avLst/>
          </a:prstGeom>
          <a:solidFill>
            <a:srgbClr val="0B3C5D"/>
          </a:solidFill>
          <a:ln w="12700">
            <a:solidFill>
              <a:srgbClr val="0B3C5D"/>
            </a:solidFill>
            <a:prstDash val="solid"/>
          </a:ln>
        </p:spPr>
      </p:sp>
      <p:sp>
        <p:nvSpPr>
          <p:cNvPr id="23" name="Shape 21"/>
          <p:cNvSpPr/>
          <p:nvPr/>
        </p:nvSpPr>
        <p:spPr>
          <a:xfrm>
            <a:off x="9650514" y="2652586"/>
            <a:ext cx="100584" cy="100584"/>
          </a:xfrm>
          <a:prstGeom prst="ellipse">
            <a:avLst/>
          </a:prstGeom>
          <a:solidFill>
            <a:srgbClr val="0B3C5D"/>
          </a:solidFill>
          <a:ln w="12700">
            <a:solidFill>
              <a:srgbClr val="0B3C5D"/>
            </a:solidFill>
            <a:prstDash val="solid"/>
          </a:ln>
        </p:spPr>
      </p:sp>
      <p:sp>
        <p:nvSpPr>
          <p:cNvPr id="24" name="Shape 22"/>
          <p:cNvSpPr/>
          <p:nvPr/>
        </p:nvSpPr>
        <p:spPr>
          <a:xfrm>
            <a:off x="10129723" y="2943938"/>
            <a:ext cx="100584" cy="100584"/>
          </a:xfrm>
          <a:prstGeom prst="ellipse">
            <a:avLst/>
          </a:prstGeom>
          <a:solidFill>
            <a:srgbClr val="0B3C5D"/>
          </a:solidFill>
          <a:ln w="12700">
            <a:solidFill>
              <a:srgbClr val="0B3C5D"/>
            </a:solidFill>
            <a:prstDash val="solid"/>
          </a:ln>
        </p:spPr>
      </p:sp>
      <p:sp>
        <p:nvSpPr>
          <p:cNvPr id="25" name="Shape 23"/>
          <p:cNvSpPr/>
          <p:nvPr/>
        </p:nvSpPr>
        <p:spPr>
          <a:xfrm>
            <a:off x="9206449" y="3030396"/>
            <a:ext cx="100584" cy="100584"/>
          </a:xfrm>
          <a:prstGeom prst="ellipse">
            <a:avLst/>
          </a:prstGeom>
          <a:solidFill>
            <a:srgbClr val="0B3C5D"/>
          </a:solidFill>
          <a:ln w="12700">
            <a:solidFill>
              <a:srgbClr val="0B3C5D"/>
            </a:solidFill>
            <a:prstDash val="solid"/>
          </a:ln>
        </p:spPr>
      </p:sp>
      <p:sp>
        <p:nvSpPr>
          <p:cNvPr id="26" name="Shape 24"/>
          <p:cNvSpPr/>
          <p:nvPr/>
        </p:nvSpPr>
        <p:spPr>
          <a:xfrm>
            <a:off x="10110455" y="3419962"/>
            <a:ext cx="100584" cy="100584"/>
          </a:xfrm>
          <a:prstGeom prst="ellipse">
            <a:avLst/>
          </a:prstGeom>
          <a:solidFill>
            <a:srgbClr val="0B3C5D"/>
          </a:solidFill>
          <a:ln w="12700">
            <a:solidFill>
              <a:srgbClr val="0B3C5D"/>
            </a:solidFill>
            <a:prstDash val="solid"/>
          </a:ln>
        </p:spPr>
      </p:sp>
      <p:sp>
        <p:nvSpPr>
          <p:cNvPr id="27" name="Shape 25"/>
          <p:cNvSpPr/>
          <p:nvPr/>
        </p:nvSpPr>
        <p:spPr>
          <a:xfrm>
            <a:off x="9183939" y="3279514"/>
            <a:ext cx="100584" cy="100584"/>
          </a:xfrm>
          <a:prstGeom prst="ellipse">
            <a:avLst/>
          </a:prstGeom>
          <a:solidFill>
            <a:srgbClr val="0B3C5D"/>
          </a:solidFill>
          <a:ln w="12700">
            <a:solidFill>
              <a:srgbClr val="0B3C5D"/>
            </a:solidFill>
            <a:prstDash val="solid"/>
          </a:ln>
        </p:spPr>
      </p:sp>
      <p:sp>
        <p:nvSpPr>
          <p:cNvPr id="28" name="Shape 26"/>
          <p:cNvSpPr/>
          <p:nvPr/>
        </p:nvSpPr>
        <p:spPr>
          <a:xfrm>
            <a:off x="9715031" y="2263613"/>
            <a:ext cx="100584" cy="100584"/>
          </a:xfrm>
          <a:prstGeom prst="ellipse">
            <a:avLst/>
          </a:prstGeom>
          <a:solidFill>
            <a:srgbClr val="0B3C5D"/>
          </a:solidFill>
          <a:ln w="12700">
            <a:solidFill>
              <a:srgbClr val="0B3C5D"/>
            </a:solidFill>
            <a:prstDash val="solid"/>
          </a:ln>
        </p:spPr>
      </p:sp>
      <p:sp>
        <p:nvSpPr>
          <p:cNvPr id="29" name="Shape 27"/>
          <p:cNvSpPr/>
          <p:nvPr/>
        </p:nvSpPr>
        <p:spPr>
          <a:xfrm>
            <a:off x="10030481" y="3440578"/>
            <a:ext cx="100584" cy="100584"/>
          </a:xfrm>
          <a:prstGeom prst="ellipse">
            <a:avLst/>
          </a:prstGeom>
          <a:solidFill>
            <a:srgbClr val="0B3C5D"/>
          </a:solidFill>
          <a:ln w="12700">
            <a:solidFill>
              <a:srgbClr val="0B3C5D"/>
            </a:solidFill>
            <a:prstDash val="solid"/>
          </a:ln>
        </p:spPr>
      </p:sp>
      <p:sp>
        <p:nvSpPr>
          <p:cNvPr id="30" name="Shape 28"/>
          <p:cNvSpPr/>
          <p:nvPr/>
        </p:nvSpPr>
        <p:spPr>
          <a:xfrm>
            <a:off x="9974639" y="2502570"/>
            <a:ext cx="100584" cy="100584"/>
          </a:xfrm>
          <a:prstGeom prst="ellipse">
            <a:avLst/>
          </a:prstGeom>
          <a:solidFill>
            <a:srgbClr val="0B3C5D"/>
          </a:solidFill>
          <a:ln w="12700">
            <a:solidFill>
              <a:srgbClr val="0B3C5D"/>
            </a:solidFill>
            <a:prstDash val="solid"/>
          </a:ln>
        </p:spPr>
      </p:sp>
      <p:sp>
        <p:nvSpPr>
          <p:cNvPr id="31" name="Shape 29"/>
          <p:cNvSpPr/>
          <p:nvPr/>
        </p:nvSpPr>
        <p:spPr>
          <a:xfrm>
            <a:off x="8983268" y="2761749"/>
            <a:ext cx="100584" cy="100584"/>
          </a:xfrm>
          <a:prstGeom prst="ellipse">
            <a:avLst/>
          </a:prstGeom>
          <a:solidFill>
            <a:srgbClr val="0B3C5D"/>
          </a:solidFill>
          <a:ln w="12700">
            <a:solidFill>
              <a:srgbClr val="0B3C5D"/>
            </a:solidFill>
            <a:prstDash val="solid"/>
          </a:ln>
        </p:spPr>
      </p:sp>
      <p:sp>
        <p:nvSpPr>
          <p:cNvPr id="32" name="Shape 30"/>
          <p:cNvSpPr/>
          <p:nvPr/>
        </p:nvSpPr>
        <p:spPr>
          <a:xfrm>
            <a:off x="9935915" y="3263075"/>
            <a:ext cx="100584" cy="100584"/>
          </a:xfrm>
          <a:prstGeom prst="ellipse">
            <a:avLst/>
          </a:prstGeom>
          <a:solidFill>
            <a:srgbClr val="0B3C5D"/>
          </a:solidFill>
          <a:ln w="12700">
            <a:solidFill>
              <a:srgbClr val="0B3C5D"/>
            </a:solidFill>
            <a:prstDash val="solid"/>
          </a:ln>
        </p:spPr>
      </p:sp>
      <p:sp>
        <p:nvSpPr>
          <p:cNvPr id="33" name="Shape 31"/>
          <p:cNvSpPr/>
          <p:nvPr/>
        </p:nvSpPr>
        <p:spPr>
          <a:xfrm>
            <a:off x="9875209" y="2807667"/>
            <a:ext cx="100584" cy="100584"/>
          </a:xfrm>
          <a:prstGeom prst="ellipse">
            <a:avLst/>
          </a:prstGeom>
          <a:solidFill>
            <a:srgbClr val="0B3C5D"/>
          </a:solidFill>
          <a:ln w="12700">
            <a:solidFill>
              <a:srgbClr val="0B3C5D"/>
            </a:solidFill>
            <a:prstDash val="solid"/>
          </a:ln>
        </p:spPr>
      </p:sp>
      <p:sp>
        <p:nvSpPr>
          <p:cNvPr id="34" name="Shape 32"/>
          <p:cNvSpPr/>
          <p:nvPr/>
        </p:nvSpPr>
        <p:spPr>
          <a:xfrm>
            <a:off x="9112450" y="3427525"/>
            <a:ext cx="100584" cy="100584"/>
          </a:xfrm>
          <a:prstGeom prst="ellipse">
            <a:avLst/>
          </a:prstGeom>
          <a:solidFill>
            <a:srgbClr val="0B3C5D"/>
          </a:solidFill>
          <a:ln w="12700">
            <a:solidFill>
              <a:srgbClr val="0B3C5D"/>
            </a:solidFill>
            <a:prstDash val="solid"/>
          </a:ln>
        </p:spPr>
      </p:sp>
      <p:sp>
        <p:nvSpPr>
          <p:cNvPr id="35" name="Shape 33"/>
          <p:cNvSpPr/>
          <p:nvPr/>
        </p:nvSpPr>
        <p:spPr>
          <a:xfrm>
            <a:off x="11239805" y="1824228"/>
            <a:ext cx="100584" cy="100584"/>
          </a:xfrm>
          <a:prstGeom prst="ellipse">
            <a:avLst/>
          </a:prstGeom>
          <a:solidFill>
            <a:srgbClr val="D9822B"/>
          </a:solidFill>
          <a:ln w="12700">
            <a:solidFill>
              <a:srgbClr val="D9822B"/>
            </a:solidFill>
            <a:prstDash val="solid"/>
          </a:ln>
        </p:spPr>
      </p:sp>
      <p:sp>
        <p:nvSpPr>
          <p:cNvPr id="36" name="Shape 34"/>
          <p:cNvSpPr/>
          <p:nvPr/>
        </p:nvSpPr>
        <p:spPr>
          <a:xfrm flipV="1">
            <a:off x="10239451" y="1874520"/>
            <a:ext cx="1050646" cy="411480"/>
          </a:xfrm>
          <a:prstGeom prst="line">
            <a:avLst/>
          </a:prstGeom>
          <a:noFill/>
          <a:ln w="19050">
            <a:solidFill>
              <a:srgbClr val="D9822B"/>
            </a:solidFill>
            <a:prstDash val="dash"/>
          </a:ln>
        </p:spPr>
      </p:sp>
      <p:sp>
        <p:nvSpPr>
          <p:cNvPr id="37" name="Text 35"/>
          <p:cNvSpPr txBox="1"/>
          <p:nvPr/>
        </p:nvSpPr>
        <p:spPr>
          <a:xfrm>
            <a:off x="548640" y="4343400"/>
            <a:ext cx="3566160" cy="365760"/>
          </a:xfrm>
          <a:prstGeom prst="rect">
            <a:avLst/>
          </a:prstGeom>
          <a:noFill/>
          <a:ln/>
        </p:spPr>
        <p:txBody>
          <a:bodyPr wrap="square" lIns="0" tIns="0" rIns="0" bIns="0" rtlCol="0" anchor="ctr"/>
          <a:lstStyle/>
          <a:p>
            <a:pPr indent="0" marL="0">
              <a:buNone/>
            </a:pPr>
            <a:r>
              <a:rPr lang="en-US" sz="1800" b="1" dirty="0">
                <a:solidFill>
                  <a:srgbClr val="0B3C5D"/>
                </a:solidFill>
                <a:latin typeface="Calibri" pitchFamily="34" charset="0"/>
                <a:ea typeface="Calibri" pitchFamily="34" charset="-122"/>
                <a:cs typeface="Calibri" pitchFamily="34" charset="-120"/>
              </a:rPr>
              <a:t>Volume (FRic)</a:t>
            </a:r>
            <a:endParaRPr lang="en-US" sz="1800" dirty="0"/>
          </a:p>
        </p:txBody>
      </p:sp>
      <p:sp>
        <p:nvSpPr>
          <p:cNvPr id="38" name="Text 36"/>
          <p:cNvSpPr txBox="1"/>
          <p:nvPr/>
        </p:nvSpPr>
        <p:spPr>
          <a:xfrm>
            <a:off x="548640" y="4709160"/>
            <a:ext cx="3566160" cy="11887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Convex hull of the species: the range of strategies. Sensitive to extremes.</a:t>
            </a:r>
            <a:endParaRPr lang="en-US" sz="1400" dirty="0"/>
          </a:p>
        </p:txBody>
      </p:sp>
      <p:sp>
        <p:nvSpPr>
          <p:cNvPr id="39" name="Text 37"/>
          <p:cNvSpPr txBox="1"/>
          <p:nvPr/>
        </p:nvSpPr>
        <p:spPr>
          <a:xfrm>
            <a:off x="4343400" y="4343400"/>
            <a:ext cx="3566160" cy="365760"/>
          </a:xfrm>
          <a:prstGeom prst="rect">
            <a:avLst/>
          </a:prstGeom>
          <a:noFill/>
          <a:ln/>
        </p:spPr>
        <p:txBody>
          <a:bodyPr wrap="square" lIns="0" tIns="0" rIns="0" bIns="0" rtlCol="0" anchor="ctr"/>
          <a:lstStyle/>
          <a:p>
            <a:pPr indent="0" marL="0">
              <a:buNone/>
            </a:pPr>
            <a:r>
              <a:rPr lang="en-US" sz="1800" b="1" dirty="0">
                <a:solidFill>
                  <a:srgbClr val="0B3C5D"/>
                </a:solidFill>
                <a:latin typeface="Calibri" pitchFamily="34" charset="0"/>
                <a:ea typeface="Calibri" pitchFamily="34" charset="-122"/>
                <a:cs typeface="Calibri" pitchFamily="34" charset="-120"/>
              </a:rPr>
              <a:t>Overlap</a:t>
            </a:r>
            <a:endParaRPr lang="en-US" sz="1800" dirty="0"/>
          </a:p>
        </p:txBody>
      </p:sp>
      <p:sp>
        <p:nvSpPr>
          <p:cNvPr id="40" name="Text 38"/>
          <p:cNvSpPr txBox="1"/>
          <p:nvPr/>
        </p:nvSpPr>
        <p:spPr>
          <a:xfrm>
            <a:off x="4343400" y="4709160"/>
            <a:ext cx="3566160" cy="11887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Fraction of one hull inside the other: do two faunas “do the same things”?</a:t>
            </a:r>
            <a:endParaRPr lang="en-US" sz="1400" dirty="0"/>
          </a:p>
        </p:txBody>
      </p:sp>
      <p:sp>
        <p:nvSpPr>
          <p:cNvPr id="41" name="Text 39"/>
          <p:cNvSpPr txBox="1"/>
          <p:nvPr/>
        </p:nvSpPr>
        <p:spPr>
          <a:xfrm>
            <a:off x="8138160" y="4343400"/>
            <a:ext cx="3502152" cy="365760"/>
          </a:xfrm>
          <a:prstGeom prst="rect">
            <a:avLst/>
          </a:prstGeom>
          <a:noFill/>
          <a:ln/>
        </p:spPr>
        <p:txBody>
          <a:bodyPr wrap="square" lIns="0" tIns="0" rIns="0" bIns="0" rtlCol="0" anchor="ctr"/>
          <a:lstStyle/>
          <a:p>
            <a:pPr indent="0" marL="0">
              <a:buNone/>
            </a:pPr>
            <a:r>
              <a:rPr lang="en-US" sz="1800" b="1" dirty="0">
                <a:solidFill>
                  <a:srgbClr val="0B3C5D"/>
                </a:solidFill>
                <a:latin typeface="Calibri" pitchFamily="34" charset="0"/>
                <a:ea typeface="Calibri" pitchFamily="34" charset="-122"/>
                <a:cs typeface="Calibri" pitchFamily="34" charset="-120"/>
              </a:rPr>
              <a:t>Uniqueness</a:t>
            </a:r>
            <a:endParaRPr lang="en-US" sz="1800" dirty="0"/>
          </a:p>
        </p:txBody>
      </p:sp>
      <p:sp>
        <p:nvSpPr>
          <p:cNvPr id="42" name="Text 40"/>
          <p:cNvSpPr txBox="1"/>
          <p:nvPr/>
        </p:nvSpPr>
        <p:spPr>
          <a:xfrm>
            <a:off x="8138160" y="4709160"/>
            <a:ext cx="3502152" cy="1188720"/>
          </a:xfrm>
          <a:prstGeom prst="rect">
            <a:avLst/>
          </a:prstGeom>
          <a:noFill/>
          <a:ln/>
        </p:spPr>
        <p:txBody>
          <a:bodyPr wrap="square" lIns="0" tIns="0" rIns="0" bIns="0" rtlCol="0" anchor="t"/>
          <a:lstStyle/>
          <a:p>
            <a:pPr indent="0" marL="0">
              <a:buNone/>
            </a:pPr>
            <a:r>
              <a:rPr lang="en-US" sz="1400" dirty="0">
                <a:solidFill>
                  <a:srgbClr val="222222"/>
                </a:solidFill>
                <a:latin typeface="Calibri" pitchFamily="34" charset="0"/>
                <a:ea typeface="Calibri" pitchFamily="34" charset="-122"/>
                <a:cs typeface="Calibri" pitchFamily="34" charset="-120"/>
              </a:rPr>
              <a:t>Distance to the nearest neighbour: what no other species does. Relative to the pool!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Visualising the space: hulls, kernels, funspace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48640" y="1371600"/>
            <a:ext cx="6766560" cy="4206240"/>
          </a:xfrm>
          <a:prstGeom prst="rect">
            <a:avLst/>
          </a:prstGeom>
          <a:solidFill>
            <a:srgbClr val="F3F4F6"/>
          </a:solidFill>
          <a:ln w="12700">
            <a:solidFill>
              <a:srgbClr val="BBBBBB"/>
            </a:solidFill>
            <a:prstDash val="dash"/>
          </a:ln>
        </p:spPr>
      </p:sp>
      <p:sp>
        <p:nvSpPr>
          <p:cNvPr id="6" name="Text 4"/>
          <p:cNvSpPr txBox="1"/>
          <p:nvPr/>
        </p:nvSpPr>
        <p:spPr>
          <a:xfrm>
            <a:off x="731520" y="1371600"/>
            <a:ext cx="6400800" cy="420624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Same species drawn as convex hulls (left) and kernel density estimates with 50 % / 99 % contours (right) — e.g. funspace output</a:t>
            </a:r>
            <a:endParaRPr lang="en-US" sz="1200" dirty="0"/>
          </a:p>
        </p:txBody>
      </p:sp>
      <p:sp>
        <p:nvSpPr>
          <p:cNvPr id="7" name="Text 5"/>
          <p:cNvSpPr txBox="1"/>
          <p:nvPr/>
        </p:nvSpPr>
        <p:spPr>
          <a:xfrm>
            <a:off x="7589520" y="1371600"/>
            <a:ext cx="4050792" cy="4206240"/>
          </a:xfrm>
          <a:prstGeom prst="rect">
            <a:avLst/>
          </a:prstGeom>
          <a:noFill/>
          <a:ln/>
        </p:spPr>
        <p:txBody>
          <a:bodyPr wrap="square" lIns="50800" tIns="50800" rIns="50800" bIns="50800"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Convex hulls: simple, but one outlier makes the hull look huge</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Kernel densities: show the dense core and the sparse periphery; thresholds at 50 % / 99 %</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funspace (Carmona et al.): two lines of code; can use abundances and intraspecific data</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Thursday: ellipses and hulls in ggplot2; funspace as optional extension (Group 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400" b="1" dirty="0">
                <a:solidFill>
                  <a:srgbClr val="0B3C5D"/>
                </a:solidFill>
                <a:latin typeface="Cambria" pitchFamily="34" charset="0"/>
                <a:ea typeface="Cambria" pitchFamily="34" charset="-122"/>
                <a:cs typeface="Cambria" pitchFamily="34" charset="-120"/>
              </a:rPr>
              <a:t>The plant precedent: leaf economics and the global spectrum of form and function</a:t>
            </a:r>
            <a:endParaRPr lang="en-US" sz="24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48640" y="1371600"/>
            <a:ext cx="5394960" cy="3017520"/>
          </a:xfrm>
          <a:prstGeom prst="rect">
            <a:avLst/>
          </a:prstGeom>
          <a:solidFill>
            <a:srgbClr val="F3F4F6"/>
          </a:solidFill>
          <a:ln w="12700">
            <a:solidFill>
              <a:srgbClr val="BBBBBB"/>
            </a:solidFill>
            <a:prstDash val="dash"/>
          </a:ln>
        </p:spPr>
      </p:sp>
      <p:sp>
        <p:nvSpPr>
          <p:cNvPr id="6" name="Text 4"/>
          <p:cNvSpPr txBox="1"/>
          <p:nvPr/>
        </p:nvSpPr>
        <p:spPr>
          <a:xfrm>
            <a:off x="731520" y="1371600"/>
            <a:ext cx="5029200" cy="301752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Wright et al. (2004) Nature — leaf economics spectrum (LMA vs leaf lifespan / photosynthetic rate)</a:t>
            </a:r>
            <a:endParaRPr lang="en-US" sz="1200" dirty="0"/>
          </a:p>
        </p:txBody>
      </p:sp>
      <p:sp>
        <p:nvSpPr>
          <p:cNvPr id="7" name="Shape 5"/>
          <p:cNvSpPr/>
          <p:nvPr/>
        </p:nvSpPr>
        <p:spPr>
          <a:xfrm>
            <a:off x="6263640" y="1371600"/>
            <a:ext cx="5394960" cy="3017520"/>
          </a:xfrm>
          <a:prstGeom prst="rect">
            <a:avLst/>
          </a:prstGeom>
          <a:solidFill>
            <a:srgbClr val="F3F4F6"/>
          </a:solidFill>
          <a:ln w="12700">
            <a:solidFill>
              <a:srgbClr val="BBBBBB"/>
            </a:solidFill>
            <a:prstDash val="dash"/>
          </a:ln>
        </p:spPr>
      </p:sp>
      <p:sp>
        <p:nvSpPr>
          <p:cNvPr id="8" name="Text 6"/>
          <p:cNvSpPr txBox="1"/>
          <p:nvPr/>
        </p:nvSpPr>
        <p:spPr>
          <a:xfrm>
            <a:off x="6446520" y="1371600"/>
            <a:ext cx="5029200" cy="301752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Díaz et al. (2016) Nature — global spectrum: size axis × leaf economics axis, 46,000 species, uneven occupancy</a:t>
            </a:r>
            <a:endParaRPr lang="en-US" sz="1200" dirty="0"/>
          </a:p>
        </p:txBody>
      </p:sp>
      <p:sp>
        <p:nvSpPr>
          <p:cNvPr id="9" name="Text 7"/>
          <p:cNvSpPr txBox="1"/>
          <p:nvPr/>
        </p:nvSpPr>
        <p:spPr>
          <a:xfrm>
            <a:off x="548640" y="4572000"/>
            <a:ext cx="11091672" cy="1737360"/>
          </a:xfrm>
          <a:prstGeom prst="rect">
            <a:avLst/>
          </a:prstGeom>
          <a:noFill/>
          <a:ln/>
        </p:spPr>
        <p:txBody>
          <a:bodyPr wrap="square" lIns="50800" tIns="50800" rIns="50800" bIns="50800" rtlCol="0" anchor="t"/>
          <a:lstStyle/>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One axis (2,500 species): cheap, short-lived, fast leaves ↔ expensive, long-lived, slow leaves — an acquisition/conservation trade-off</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Two axes for whole plants (46,000 species): size and leaf economics; a dense core and large empty regions of the possible space</a:t>
            </a:r>
            <a:endParaRPr lang="en-US" sz="1500" dirty="0"/>
          </a:p>
          <a:p>
            <a:pPr marL="342900" indent="-342900">
              <a:spcAft>
                <a:spcPts val="400"/>
              </a:spcAft>
              <a:buSzPct val="100000"/>
              <a:buChar char="•"/>
            </a:pPr>
            <a:r>
              <a:rPr lang="en-US" sz="1500" dirty="0">
                <a:solidFill>
                  <a:srgbClr val="222222"/>
                </a:solidFill>
                <a:latin typeface="Calibri" pitchFamily="34" charset="0"/>
                <a:ea typeface="Calibri" pitchFamily="34" charset="-122"/>
                <a:cs typeface="Calibri" pitchFamily="34" charset="-120"/>
              </a:rPr>
              <a:t>Lesson: a few major axes, a dense core, empty corners — the same structure appears in fishes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Choosing traits: the questions to ask yourself</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1371600"/>
            <a:ext cx="11091672" cy="4114800"/>
          </a:xfrm>
          <a:prstGeom prst="rect">
            <a:avLst/>
          </a:prstGeom>
          <a:noFill/>
          <a:ln/>
        </p:spPr>
        <p:txBody>
          <a:bodyPr wrap="square" lIns="50800" tIns="50800" rIns="50800" bIns="50800" rtlCol="0" anchor="t"/>
          <a:lstStyle/>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What process am I interested in? Response to what? Effect on what? — start from the question, not from the database</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Is the link trait → performance established, or at least plausible?</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Is the trait measurable for all my species? (a trait known for half the species forces dropping or imputing half the data)</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Are my traits redundant? r = 0.9 is one trait counted twice</a:t>
            </a:r>
            <a:endParaRPr lang="en-US" sz="1800" dirty="0"/>
          </a:p>
          <a:p>
            <a:pPr marL="342900" indent="-342900">
              <a:spcAft>
                <a:spcPts val="800"/>
              </a:spcAft>
              <a:buSzPct val="100000"/>
              <a:buChar char="•"/>
            </a:pPr>
            <a:r>
              <a:rPr lang="en-US" sz="1800" dirty="0">
                <a:solidFill>
                  <a:srgbClr val="222222"/>
                </a:solidFill>
                <a:latin typeface="Calibri" pitchFamily="34" charset="0"/>
                <a:ea typeface="Calibri" pitchFamily="34" charset="-122"/>
                <a:cs typeface="Calibri" pitchFamily="34" charset="-120"/>
              </a:rPr>
              <a:t>Is the trait set balanced? Six locomotion traits + one trophic trait = a locomotion space</a:t>
            </a:r>
            <a:endParaRPr lang="en-US" sz="1800" dirty="0"/>
          </a:p>
        </p:txBody>
      </p:sp>
      <p:sp>
        <p:nvSpPr>
          <p:cNvPr id="6" name="Shape 4"/>
          <p:cNvSpPr/>
          <p:nvPr/>
        </p:nvSpPr>
        <p:spPr>
          <a:xfrm>
            <a:off x="548640" y="5623560"/>
            <a:ext cx="11091672" cy="640080"/>
          </a:xfrm>
          <a:prstGeom prst="roundRect">
            <a:avLst>
              <a:gd name="adj" fmla="val 11429"/>
            </a:avLst>
          </a:prstGeom>
          <a:solidFill>
            <a:srgbClr val="E8F1F7"/>
          </a:solidFill>
          <a:ln w="12700">
            <a:solidFill>
              <a:srgbClr val="E8F1F7"/>
            </a:solidFill>
            <a:prstDash val="solid"/>
          </a:ln>
        </p:spPr>
      </p:sp>
      <p:sp>
        <p:nvSpPr>
          <p:cNvPr id="7" name="Text 5"/>
          <p:cNvSpPr txBox="1"/>
          <p:nvPr/>
        </p:nvSpPr>
        <p:spPr>
          <a:xfrm>
            <a:off x="685800" y="5623560"/>
            <a:ext cx="10817352" cy="64008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Be able to justify a trait set in one sentence per trait — Group A will check trait correlations on Thursday.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Block 1 — take-home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1 · Functional traits and functional space</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48640" y="1600200"/>
            <a:ext cx="640080" cy="640080"/>
          </a:xfrm>
          <a:prstGeom prst="roundRect">
            <a:avLst>
              <a:gd name="adj" fmla="val 17143"/>
            </a:avLst>
          </a:prstGeom>
          <a:solidFill>
            <a:srgbClr val="D9822B"/>
          </a:solidFill>
          <a:ln w="12700">
            <a:solidFill>
              <a:srgbClr val="D9822B"/>
            </a:solidFill>
            <a:prstDash val="solid"/>
          </a:ln>
        </p:spPr>
      </p:sp>
      <p:sp>
        <p:nvSpPr>
          <p:cNvPr id="6" name="Text 4"/>
          <p:cNvSpPr txBox="1"/>
          <p:nvPr/>
        </p:nvSpPr>
        <p:spPr>
          <a:xfrm>
            <a:off x="548640" y="160020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463040" y="146304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A functional trait is measured on individuals and linked to performance through a mechanism; response, effect, or both</a:t>
            </a:r>
            <a:endParaRPr lang="en-US" sz="1800" dirty="0"/>
          </a:p>
        </p:txBody>
      </p:sp>
      <p:sp>
        <p:nvSpPr>
          <p:cNvPr id="8" name="Shape 6"/>
          <p:cNvSpPr/>
          <p:nvPr/>
        </p:nvSpPr>
        <p:spPr>
          <a:xfrm>
            <a:off x="548640" y="2651760"/>
            <a:ext cx="640080" cy="640080"/>
          </a:xfrm>
          <a:prstGeom prst="roundRect">
            <a:avLst>
              <a:gd name="adj" fmla="val 17143"/>
            </a:avLst>
          </a:prstGeom>
          <a:solidFill>
            <a:srgbClr val="D9822B"/>
          </a:solidFill>
          <a:ln w="12700">
            <a:solidFill>
              <a:srgbClr val="D9822B"/>
            </a:solidFill>
            <a:prstDash val="solid"/>
          </a:ln>
        </p:spPr>
      </p:sp>
      <p:sp>
        <p:nvSpPr>
          <p:cNvPr id="9" name="Text 7"/>
          <p:cNvSpPr txBox="1"/>
          <p:nvPr/>
        </p:nvSpPr>
        <p:spPr>
          <a:xfrm>
            <a:off x="548640" y="265176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463040" y="251460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Standardise; Euclidean or Gower distance; PCA or PCoA → species coordinates</a:t>
            </a:r>
            <a:endParaRPr lang="en-US" sz="1800" dirty="0"/>
          </a:p>
        </p:txBody>
      </p:sp>
      <p:sp>
        <p:nvSpPr>
          <p:cNvPr id="11" name="Shape 9"/>
          <p:cNvSpPr/>
          <p:nvPr/>
        </p:nvSpPr>
        <p:spPr>
          <a:xfrm>
            <a:off x="548640" y="3703320"/>
            <a:ext cx="640080" cy="640080"/>
          </a:xfrm>
          <a:prstGeom prst="roundRect">
            <a:avLst>
              <a:gd name="adj" fmla="val 17143"/>
            </a:avLst>
          </a:prstGeom>
          <a:solidFill>
            <a:srgbClr val="D9822B"/>
          </a:solidFill>
          <a:ln w="12700">
            <a:solidFill>
              <a:srgbClr val="D9822B"/>
            </a:solidFill>
            <a:prstDash val="solid"/>
          </a:ln>
        </p:spPr>
      </p:sp>
      <p:sp>
        <p:nvSpPr>
          <p:cNvPr id="12" name="Text 10"/>
          <p:cNvSpPr txBox="1"/>
          <p:nvPr/>
        </p:nvSpPr>
        <p:spPr>
          <a:xfrm>
            <a:off x="548640" y="370332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463040" y="356616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Choose, report and test the number of axes (quality of the space)</a:t>
            </a:r>
            <a:endParaRPr lang="en-US" sz="1800" dirty="0"/>
          </a:p>
        </p:txBody>
      </p:sp>
      <p:sp>
        <p:nvSpPr>
          <p:cNvPr id="14" name="Shape 12"/>
          <p:cNvSpPr/>
          <p:nvPr/>
        </p:nvSpPr>
        <p:spPr>
          <a:xfrm>
            <a:off x="548640" y="4754880"/>
            <a:ext cx="640080" cy="640080"/>
          </a:xfrm>
          <a:prstGeom prst="roundRect">
            <a:avLst>
              <a:gd name="adj" fmla="val 17143"/>
            </a:avLst>
          </a:prstGeom>
          <a:solidFill>
            <a:srgbClr val="D9822B"/>
          </a:solidFill>
          <a:ln w="12700">
            <a:solidFill>
              <a:srgbClr val="D9822B"/>
            </a:solidFill>
            <a:prstDash val="solid"/>
          </a:ln>
        </p:spPr>
      </p:sp>
      <p:sp>
        <p:nvSpPr>
          <p:cNvPr id="15" name="Text 13"/>
          <p:cNvSpPr txBox="1"/>
          <p:nvPr/>
        </p:nvSpPr>
        <p:spPr>
          <a:xfrm>
            <a:off x="548640" y="475488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txBox="1"/>
          <p:nvPr/>
        </p:nvSpPr>
        <p:spPr>
          <a:xfrm>
            <a:off x="1463040" y="461772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Read a space with volume, overlap and uniqueness — all relative to a species pool</a:t>
            </a:r>
            <a:endParaRPr lang="en-US" sz="1800" dirty="0"/>
          </a:p>
        </p:txBody>
      </p:sp>
      <p:sp>
        <p:nvSpPr>
          <p:cNvPr id="17" name="Shape 15"/>
          <p:cNvSpPr/>
          <p:nvPr/>
        </p:nvSpPr>
        <p:spPr>
          <a:xfrm>
            <a:off x="548640" y="5760720"/>
            <a:ext cx="11091672" cy="502920"/>
          </a:xfrm>
          <a:prstGeom prst="roundRect">
            <a:avLst>
              <a:gd name="adj" fmla="val 14545"/>
            </a:avLst>
          </a:prstGeom>
          <a:solidFill>
            <a:srgbClr val="E8F1F7"/>
          </a:solidFill>
          <a:ln w="12700">
            <a:solidFill>
              <a:srgbClr val="E8F1F7"/>
            </a:solidFill>
            <a:prstDash val="solid"/>
          </a:ln>
        </p:spPr>
      </p:sp>
      <p:sp>
        <p:nvSpPr>
          <p:cNvPr id="18" name="Text 16"/>
          <p:cNvSpPr txBox="1"/>
          <p:nvPr/>
        </p:nvSpPr>
        <p:spPr>
          <a:xfrm>
            <a:off x="685800" y="5760720"/>
            <a:ext cx="10817352" cy="50292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Break — 10 min. Next: communities in the space.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FBE 2026 · Block 1</dc:title>
  <dc:subject>PptxGenJS Presentation</dc:subject>
  <dc:creator>Aurèle Toussaint</dc:creator>
  <cp:lastModifiedBy>Aurèle Toussaint</cp:lastModifiedBy>
  <cp:revision>1</cp:revision>
  <dcterms:created xsi:type="dcterms:W3CDTF">2026-09-11T08:41:41Z</dcterms:created>
  <dcterms:modified xsi:type="dcterms:W3CDTF">2026-09-11T08:41:41Z</dcterms:modified>
</cp:coreProperties>
</file>